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2"/>
  </p:notesMasterIdLst>
  <p:sldIdLst>
    <p:sldId id="27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5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2416"/>
  </p:normalViewPr>
  <p:slideViewPr>
    <p:cSldViewPr snapToGrid="0" snapToObjects="1" showGuides="1">
      <p:cViewPr varScale="1">
        <p:scale>
          <a:sx n="114" d="100"/>
          <a:sy n="114" d="100"/>
        </p:scale>
        <p:origin x="664" y="176"/>
      </p:cViewPr>
      <p:guideLst>
        <p:guide orient="horz" pos="2160"/>
        <p:guide pos="287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2026/6/20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各位老师好，我们小组带来的期末项目是「旅序——多 Agent 旅游规划系统」，基于 .NET 10 进行 AI Agent 开发。小组成员是任泓臻、虞澍、黄彦炜、黄迪。下面由我来介绍这个项目。（约 20 秒）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今天的汇报分六个部分：先讲问题背景与项目目标，再到系统架构与 Agent 设计，接着重点讲 ReAct 核心循环与工具调用，然后是系统演示与关键代码，之后是测试验证与边界说明，最后做总结。（约 25 秒）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旅行规划本质上是一个多约束决策问题：信息分散在各处、普通聊天模型缺乏工具核验容易给出不可靠答案、一次性攻略也难以真正落地。比如用户只给出「上海到日本、7 天、12000 元」这样简单的需求，我们希望系统能让多个 Agent 协作，产出结构化、可解释的方案。（约 50 秒）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整体目标是把旅行需求转化为结构化方案。输入是出发地、目的地、天数、人数、预算和偏好；处理环节由主控 Agent 加五个专业 Agent，通过 ReAct 循环调用九个工具完成；最终输出每日行程、酒店交通、预算明细、风险提醒，以及可观测的执行轨迹。（约 45 秒）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先对照课程的核心必做要求：LLM 集成用的是 DeepSeek HTTP 接口；Agent Loop 是我们手写的 ReAct 循环；工具要求至少三个，我们实现了九个；记忆方面短期用消息上下文、长期用 JSON 持久化；Web 界面是响应式加 SSE。此外还做了多 Agent、MCP、流式输出、可观测性和 17 个 xUnit 测试等加分项。需要如实说明的是，RAG 部分目前是本地知识库检索，并非完整向量检索。（约 55 秒）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系统是清晰的四层架构：表现层是 Web、API 与 MCP；应用层是主控 Agent、专业 Agent 与 AgentLoop；领域层是 TravelRequest、TravelPlan、执行轨迹等强类型模型；基础设施层是 ResilientLlm、工具、知识库与记忆。一句话概括四个关键点：LLM 是大脑、Loop 是控制器、Registry 是安全边界、C# 强类型负责把它们整合起来。（约 55 秒）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应用层采用主控加五类专业 Agent 的协作模式。主控负责拆解任务、并行调度和整合方案；行程、酒店、交通、预算、风险五个专业 Agent 各司其职。它们之间有依赖顺序：行程和风险先并行，确定核心城市后并行查酒店和交通，再算预算；如果预算超过 110%，会触发二轮重规划。（约 50 秒）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这一页是答辩核心。ReAct 循环也就是 Agent 与普通聊天的本质区别：模型先 Thought 思考，再 Action 调工具，工具返回 Observation，结果回灌后继续推理，形成闭环，直到给出 FinalAnswer 或触达 MaxSteps 退出。几个关键点：每轮都带完整历史和工具 Schema；工具结果以 role=tool 回传；MaxSteps 防止死循环；轨迹是系统对真实调用的摘要，而非伪造的思维链。（约 60 秒）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我们实现了九个自定义工具，都经 ToolRegistry 注册：偏好记忆、景点检索、路线排序、酒店检索、交通估算、天气查询、风险检查、预算计算、联网检索。数据来源分三类——本地知识库、规则计算、Bing RSS 联网检索。设计原则是每个工具都提供名称、描述和 JSON Schema，模型只能按白名单调用；参数错误或异常统一转为失败 Observation，由循环继续处理，不中断整体规划。（约 55 秒）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记忆分两类。短期记忆是单次规划内的工作记忆，包括消息列表、Observation 字典和主控共享上下文，请求结束即释放，用于支撑多轮推理。长期记忆是跨会话持久化，把完整 TravelPlan 和用户偏好写入 App_Data 下的 JSON，用 SemaphoreSlim 串行写入并以 UTF-8 直接保存中文；启动时还会自动迁移旧的 Unicode 转义。（约 50 秒）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为保证课堂演示稳定，我们做了在线和离线双模式。ResilientLlmClient 负责判定并路由：配置了 API Key 且可用时走 DeepSeek 在线，模型自主多轮调用工具；没有 Key 或调用失败时自动降级到离线模式，由确定性引擎按白名单顺序执行。两种模式复用同一套 Agent Loop 和九个工具，区别只在「决策来源」。（约 50 秒）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前端采用聊天式界面，通过 SSE 实时展示执行过程。事件分五类：progress 表示系统阶段、trace 是 Thought/Action/Observation 摘要、delta 是文本增量、completed 下发完整方案、error 报告错误。前端通过 fetch 的 body reader 持续读取事件流，让多 Agent 的交错输出和工具调用全程可见。（约 45 秒）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作为加分项，我们用官方 SDK 实现了 MCP Server，通过 Streamable HTTP 在 /mcp 端点暴露 initialize、tools/list、tools/call。它直接复用内部 ToolRegistry，内外不维护两套逻辑；并遵循无状态、只读、幂等、非破坏性约束，默认只面向本机客户端。这样外部 MCP 客户端也能复用我们这套工具能力。（约 45 秒）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下面进行系统演示。流程是：一键填入示例需求，确认在线或离线模式，提交后观察 SSE 实时轨迹，看到多 Agent 交错输出和工具调用；当预算超 110% 时触发二轮重规划；最后查看方案总览、每日行程、预算交通明细和风险提醒，历史方案与偏好都已持久化。推荐输入是「上海到日本、7 天、1 人、12000 元、轻松节奏、美食人文夜景」。（约 60 秒，含切换演示）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为便于抽查，这里列出关键代码位置：AgentLoop.cs 是 ReAct 主循环；TravelCoordinatorAgent.cs 是主控 Agent；DeepSeekLlmClient.cs 负责在线调用与解析；ResilientLlmClient.cs 负责降级；ToolRegistry.cs 是工具注册与安全边界；TravelMcpTools.cs 暴露 MCP；PlanningMemoryStore.cs 负责长期记忆持久化。如果要抽查，建议看 AgentLoop 和 ToolRegistry 这两个文件。（约 40 秒）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测试方面共 17 个 xUnit 测试，覆盖四类关键路径：预算边界与超限二次规划、输入校验与离线工具顺序、本地知识库与中文 JSON 持久化、MCP 工具发现与 DeepSeek 流式解析。这些测试都聚焦确定性逻辑，不依赖外网 API，dotnet build 和 dotnet test 可一键运行通过。（约 40 秒）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我们有三个关键取舍。一是自写 ReAct Loop 而非套框架，为的是逐行可解释、消息关系清晰、控制权在自己手里。二是 C# 强类型整合，因为 LLM 输出的 JSON 不稳定，强类型 TravelPlan 能保证结构、编译期发现契约错误。三是本地 JSON 知识库，演示稳定、断网可跑，且工具层接口可平滑替换为真实 API。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如实说明当前边界：本地知识库是静态数据、非实时；未实现完整向量 RAG；单机 JSON 存储无认证和多用户隔离。对应的扩展方向是：接入实时景点酒店天气 API、把 JSON 升级到 SQLite 或 PostgreSQL、引入向量 RAG 和 Reviewer Agent 复核、给 MCP 加认证与限流。分层架构让数据源和存储能独立升级，而 Agent 逻辑保持稳定。（约 50 秒）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最后总结。一句话理解 Agent：Agent 等于 LLM 决策、控制循环、工具执行、记忆和确定性程序的组合。三点收获：第一，理解了 ReAct 与普通聊天的本质区别；第二，实践了多 Agent 编排与 Tool Registry 安全边界；第三，用 .NET 10 的依赖注入、Options、日志、异步串起了一个结构清晰的完整 AI 应用。（约 40 秒）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各位老师好，我们小组带来的期末项目是「旅序——多 Agent 旅游规划系统」，基于 .NET 10 进行 AI Agent 开发。小组成员是任泓臻、虞澍、黄彦炜、黄迪。下面由我来介绍这个项目。（约 20 秒）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2563EB">
                    <a:alpha val="12000"/>
                  </a:srgbClr>
                </a:gs>
                <a:gs pos="100000">
                  <a:srgbClr val="2563E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7239000" y="1047750"/>
              <a:ext cx="4762500" cy="4762500"/>
            </a:xfrm>
            <a:prstGeom prst="ellipse">
              <a:avLst/>
            </a:prstGeom>
            <a:noFill/>
            <a:ln w="14288">
              <a:solidFill>
                <a:srgbClr val="E2E8F0"/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7905750" y="1714500"/>
              <a:ext cx="3429000" cy="3429000"/>
            </a:xfrm>
            <a:prstGeom prst="ellipse">
              <a:avLst/>
            </a:prstGeom>
            <a:noFill/>
            <a:ln w="14288">
              <a:solidFill>
                <a:srgbClr val="E2E8F0"/>
              </a:solidFill>
              <a:custDash>
                <a:ds d="400000" sp="533333"/>
              </a:custDash>
            </a:ln>
          </p:spPr>
        </p:sp>
        <p:sp>
          <p:nvSpPr>
            <p:cNvPr id="6" name="Ellipse 6"/>
            <p:cNvSpPr/>
            <p:nvPr/>
          </p:nvSpPr>
          <p:spPr>
            <a:xfrm>
              <a:off x="8572500" y="2381250"/>
              <a:ext cx="2095500" cy="2095500"/>
            </a:xfrm>
            <a:prstGeom prst="ellipse">
              <a:avLst/>
            </a:prstGeom>
            <a:noFill/>
            <a:ln w="14288">
              <a:solidFill>
                <a:srgbClr val="E2E8F0"/>
              </a:solidFill>
              <a:custDash>
                <a:ds d="133333" sp="400000"/>
              </a:custDash>
            </a:ln>
          </p:spPr>
        </p:sp>
        <p:sp>
          <p:nvSpPr>
            <p:cNvPr id="7" name="Line 7"/>
            <p:cNvSpPr/>
            <p:nvPr/>
          </p:nvSpPr>
          <p:spPr>
            <a:xfrm>
              <a:off x="9620250" y="1428750"/>
              <a:ext cx="9525" cy="2000250"/>
            </a:xfrm>
            <a:custGeom>
              <a:avLst/>
              <a:gdLst/>
              <a:ahLst/>
              <a:cxnLst/>
              <a:rect l="l" t="t" r="r" b="b"/>
              <a:pathLst>
                <a:path w="9525" h="2000250">
                  <a:moveTo>
                    <a:pt x="0" y="20002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EA5E9">
                  <a:alpha val="50000"/>
                </a:srgbClr>
              </a:solidFill>
              <a:custDash>
                <a:ds d="300000" sp="400000"/>
              </a:custDash>
            </a:ln>
          </p:spPr>
        </p:sp>
        <p:sp>
          <p:nvSpPr>
            <p:cNvPr id="8" name="Line 8"/>
            <p:cNvSpPr/>
            <p:nvPr/>
          </p:nvSpPr>
          <p:spPr>
            <a:xfrm>
              <a:off x="9620250" y="3429000"/>
              <a:ext cx="1619250" cy="1047750"/>
            </a:xfrm>
            <a:custGeom>
              <a:avLst/>
              <a:gdLst/>
              <a:ahLst/>
              <a:cxnLst/>
              <a:rect l="l" t="t" r="r" b="b"/>
              <a:pathLst>
                <a:path w="1619250" h="1047750">
                  <a:moveTo>
                    <a:pt x="0" y="0"/>
                  </a:moveTo>
                  <a:lnTo>
                    <a:pt x="1619250" y="1047750"/>
                  </a:lnTo>
                </a:path>
              </a:pathLst>
            </a:custGeom>
            <a:noFill/>
            <a:ln w="19050">
              <a:solidFill>
                <a:srgbClr val="2563EB">
                  <a:alpha val="50000"/>
                </a:srgbClr>
              </a:solidFill>
              <a:custDash>
                <a:ds d="300000" sp="400000"/>
              </a:custDash>
            </a:ln>
          </p:spPr>
        </p:sp>
        <p:sp>
          <p:nvSpPr>
            <p:cNvPr id="9" name="Line 9"/>
            <p:cNvSpPr/>
            <p:nvPr/>
          </p:nvSpPr>
          <p:spPr>
            <a:xfrm>
              <a:off x="8001000" y="3429000"/>
              <a:ext cx="1619250" cy="1047750"/>
            </a:xfrm>
            <a:custGeom>
              <a:avLst/>
              <a:gdLst/>
              <a:ahLst/>
              <a:cxnLst/>
              <a:rect l="l" t="t" r="r" b="b"/>
              <a:pathLst>
                <a:path w="1619250" h="1047750">
                  <a:moveTo>
                    <a:pt x="1619250" y="0"/>
                  </a:moveTo>
                  <a:lnTo>
                    <a:pt x="0" y="1047750"/>
                  </a:lnTo>
                </a:path>
              </a:pathLst>
            </a:custGeom>
            <a:noFill/>
            <a:ln w="19050">
              <a:solidFill>
                <a:srgbClr val="059669">
                  <a:alpha val="50000"/>
                </a:srgbClr>
              </a:solidFill>
              <a:custDash>
                <a:ds d="300000" sp="400000"/>
              </a:custDash>
            </a:ln>
          </p:spPr>
        </p:sp>
        <p:sp>
          <p:nvSpPr>
            <p:cNvPr id="10" name="Ellipse 10"/>
            <p:cNvSpPr/>
            <p:nvPr/>
          </p:nvSpPr>
          <p:spPr>
            <a:xfrm>
              <a:off x="9201150" y="3009900"/>
              <a:ext cx="838200" cy="838200"/>
            </a:xfrm>
            <a:prstGeom prst="ellipse">
              <a:avLst/>
            </a:prstGeom>
            <a:gradFill>
              <a:gsLst>
                <a:gs pos="0">
                  <a:srgbClr val="2563EB"/>
                </a:gs>
                <a:gs pos="100000">
                  <a:srgbClr val="0EA5E9"/>
                </a:gs>
              </a:gsLst>
              <a:lin ang="2700000" scaled="1"/>
            </a:gra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9391650" y="3200400"/>
              <a:ext cx="457200" cy="457200"/>
              <a:chOff x="9391650" y="3200400"/>
              <a:chExt cx="457200" cy="4572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9591675" y="34004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28575" y="57150"/>
                    </a:move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4"/>
                      <a:pt x="44357" y="0"/>
                      <a:pt x="28575" y="0"/>
                    </a:cubicBezTo>
                    <a:cubicBezTo>
                      <a:pt x="12794" y="0"/>
                      <a:pt x="0" y="12794"/>
                      <a:pt x="0" y="28575"/>
                    </a:cubicBezTo>
                    <a:cubicBezTo>
                      <a:pt x="0" y="44357"/>
                      <a:pt x="12794" y="57150"/>
                      <a:pt x="28575" y="5715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391650" y="3200400"/>
                <a:ext cx="457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57200">
                    <a:moveTo>
                      <a:pt x="457200" y="228600"/>
                    </a:moveTo>
                    <a:cubicBezTo>
                      <a:pt x="457200" y="354853"/>
                      <a:pt x="354853" y="457200"/>
                      <a:pt x="228600" y="457200"/>
                    </a:cubicBezTo>
                    <a:cubicBezTo>
                      <a:pt x="102348" y="457200"/>
                      <a:pt x="0" y="354853"/>
                      <a:pt x="0" y="228600"/>
                    </a:cubicBezTo>
                    <a:cubicBezTo>
                      <a:pt x="0" y="102348"/>
                      <a:pt x="102348" y="0"/>
                      <a:pt x="228600" y="0"/>
                    </a:cubicBezTo>
                    <a:cubicBezTo>
                      <a:pt x="354853" y="0"/>
                      <a:pt x="457200" y="102348"/>
                      <a:pt x="457200" y="228600"/>
                    </a:cubicBezTo>
                    <a:close/>
                    <a:moveTo>
                      <a:pt x="171450" y="171450"/>
                    </a:moveTo>
                    <a:lnTo>
                      <a:pt x="114300" y="314325"/>
                    </a:lnTo>
                    <a:lnTo>
                      <a:pt x="142875" y="342900"/>
                    </a:lnTo>
                    <a:lnTo>
                      <a:pt x="285750" y="285750"/>
                    </a:lnTo>
                    <a:lnTo>
                      <a:pt x="342900" y="142875"/>
                    </a:lnTo>
                    <a:lnTo>
                      <a:pt x="314325" y="114300"/>
                    </a:lnTo>
                    <a:lnTo>
                      <a:pt x="171450" y="1714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14" name="Ellipse 14"/>
            <p:cNvSpPr/>
            <p:nvPr/>
          </p:nvSpPr>
          <p:spPr>
            <a:xfrm>
              <a:off x="9525000" y="1333500"/>
              <a:ext cx="190500" cy="190500"/>
            </a:xfrm>
            <a:prstGeom prst="ellipse">
              <a:avLst/>
            </a:prstGeom>
            <a:solidFill>
              <a:srgbClr val="0EA5E9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1144250" y="4381500"/>
              <a:ext cx="190500" cy="1905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7905750" y="4381500"/>
              <a:ext cx="190500" cy="190500"/>
            </a:xfrm>
            <a:prstGeom prst="ellipse">
              <a:avLst/>
            </a:prstGeom>
            <a:solidFill>
              <a:srgbClr val="059669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060450" y="570230"/>
            <a:ext cx="2691619" cy="274955"/>
            <a:chOff x="1143000" y="1428750"/>
            <a:chExt cx="2691619" cy="274955"/>
          </a:xfrm>
        </p:grpSpPr>
        <p:sp>
          <p:nvSpPr>
            <p:cNvPr id="18" name="Rectangle 18"/>
            <p:cNvSpPr/>
            <p:nvPr/>
          </p:nvSpPr>
          <p:spPr>
            <a:xfrm>
              <a:off x="1143000" y="142875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92225" y="1459865"/>
              <a:ext cx="25423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.NET 程序设计 · 课程期末项目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28700" y="2016442"/>
            <a:ext cx="4900660" cy="2162726"/>
            <a:chOff x="1042035" y="2351722"/>
            <a:chExt cx="4900660" cy="2162726"/>
          </a:xfrm>
        </p:grpSpPr>
        <p:sp>
          <p:nvSpPr>
            <p:cNvPr id="22" name="TextBox 22"/>
            <p:cNvSpPr txBox="1"/>
            <p:nvPr/>
          </p:nvSpPr>
          <p:spPr>
            <a:xfrm>
              <a:off x="1042035" y="2351722"/>
              <a:ext cx="2142077" cy="1310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450" b="1" dirty="0">
                  <a:solidFill>
                    <a:srgbClr val="2563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旅序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04900" y="3409950"/>
              <a:ext cx="4837795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多 Agent 旅游规划系统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162050" y="3962400"/>
              <a:ext cx="1143000" cy="47625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22045" y="4260532"/>
              <a:ext cx="304596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基于 .NET 10 的 AI Agent 开发 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27760" y="5334000"/>
            <a:ext cx="6301740" cy="702310"/>
            <a:chOff x="1127760" y="5334000"/>
            <a:chExt cx="6301740" cy="702310"/>
          </a:xfrm>
        </p:grpSpPr>
        <p:sp>
          <p:nvSpPr>
            <p:cNvPr id="27" name="Line 27"/>
            <p:cNvSpPr/>
            <p:nvPr/>
          </p:nvSpPr>
          <p:spPr>
            <a:xfrm>
              <a:off x="1143000" y="533400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1"/>
            </a:gradFill>
            <a:ln w="14288">
              <a:solidFill>
                <a:srgbClr val="E2E8F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127760" y="5585460"/>
              <a:ext cx="492252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563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成员</a:t>
              </a:r>
              <a:r>
                <a:rPr lang="en-US" altLang="zh-CN" sz="1200" b="1" dirty="0">
                  <a:solidFill>
                    <a:srgbClr val="2563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 </a:t>
              </a:r>
              <a:r>
                <a:rPr lang="zh-CN" sz="1200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任泓臻</a:t>
              </a:r>
              <a:r>
                <a:rPr lang="en-US" altLang="zh-CN" sz="1200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(2351458)</a:t>
              </a:r>
              <a:r>
                <a:rPr lang="zh-CN" sz="1200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虞澍</a:t>
              </a:r>
              <a:r>
                <a:rPr lang="en-US" altLang="zh-CN" sz="1200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(2352979)</a:t>
              </a:r>
              <a:r>
                <a:rPr lang="zh-CN" sz="1200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黄彦炜</a:t>
              </a:r>
              <a:r>
                <a:rPr lang="en-US" altLang="zh-CN" sz="1200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(2353117)</a:t>
              </a:r>
              <a:r>
                <a:rPr lang="zh-CN" sz="1200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· 黄迪</a:t>
              </a:r>
              <a:r>
                <a:rPr lang="en-US" altLang="zh-CN" sz="1200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(2354283)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7760" y="5852160"/>
              <a:ext cx="225996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563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时间</a:t>
              </a:r>
              <a:r>
                <a:rPr lang="en-US" altLang="zh-CN" sz="1200" b="1" dirty="0">
                  <a:solidFill>
                    <a:srgbClr val="2563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 </a:t>
              </a:r>
              <a:r>
                <a:rPr lang="zh-CN" sz="1200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2026 年 6 月 · 课程期末答辩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6" grpId="0"/>
      <p:bldP spid="3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609600" y="476250"/>
            <a:ext cx="10701337" cy="652462"/>
            <a:chOff x="609600" y="476250"/>
            <a:chExt cx="10701337" cy="652462"/>
          </a:xfrm>
        </p:grpSpPr>
        <p:sp>
          <p:nvSpPr>
            <p:cNvPr id="3" name="Rectangle 3"/>
            <p:cNvSpPr/>
            <p:nvPr/>
          </p:nvSpPr>
          <p:spPr>
            <a:xfrm>
              <a:off x="609600" y="476250"/>
              <a:ext cx="57150" cy="4191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502920"/>
              <a:ext cx="153314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汇报提纲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915352"/>
              <a:ext cx="26432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PRESENTATION ROADMAP · 六大板块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10970974" y="519112"/>
              <a:ext cx="339963" cy="333375"/>
              <a:chOff x="10970974" y="519112"/>
              <a:chExt cx="339963" cy="33337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120437" y="519112"/>
                <a:ext cx="1905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47625">
                    <a:moveTo>
                      <a:pt x="0" y="0"/>
                    </a:moveTo>
                    <a:lnTo>
                      <a:pt x="190500" y="0"/>
                    </a:lnTo>
                    <a:lnTo>
                      <a:pt x="190500" y="47625"/>
                    </a:lnTo>
                    <a:lnTo>
                      <a:pt x="0" y="476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1120437" y="614362"/>
                <a:ext cx="1905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47625">
                    <a:moveTo>
                      <a:pt x="0" y="0"/>
                    </a:moveTo>
                    <a:lnTo>
                      <a:pt x="190500" y="0"/>
                    </a:lnTo>
                    <a:lnTo>
                      <a:pt x="190500" y="47625"/>
                    </a:lnTo>
                    <a:lnTo>
                      <a:pt x="0" y="476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1120437" y="709612"/>
                <a:ext cx="1905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47625">
                    <a:moveTo>
                      <a:pt x="190500" y="0"/>
                    </a:moveTo>
                    <a:lnTo>
                      <a:pt x="0" y="0"/>
                    </a:lnTo>
                    <a:lnTo>
                      <a:pt x="0" y="47625"/>
                    </a:lnTo>
                    <a:lnTo>
                      <a:pt x="190500" y="47625"/>
                    </a:lnTo>
                    <a:lnTo>
                      <a:pt x="190500" y="0"/>
                    </a:ln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120437" y="804862"/>
                <a:ext cx="1905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47625">
                    <a:moveTo>
                      <a:pt x="0" y="0"/>
                    </a:moveTo>
                    <a:lnTo>
                      <a:pt x="190500" y="0"/>
                    </a:lnTo>
                    <a:lnTo>
                      <a:pt x="190500" y="47625"/>
                    </a:lnTo>
                    <a:lnTo>
                      <a:pt x="0" y="476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977562" y="709612"/>
                <a:ext cx="98226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8226" h="142875">
                    <a:moveTo>
                      <a:pt x="54496" y="41672"/>
                    </a:moveTo>
                    <a:lnTo>
                      <a:pt x="0" y="41672"/>
                    </a:lnTo>
                    <a:lnTo>
                      <a:pt x="0" y="0"/>
                    </a:lnTo>
                    <a:lnTo>
                      <a:pt x="54496" y="0"/>
                    </a:lnTo>
                    <a:cubicBezTo>
                      <a:pt x="78648" y="0"/>
                      <a:pt x="98226" y="19579"/>
                      <a:pt x="98226" y="43729"/>
                    </a:cubicBezTo>
                    <a:cubicBezTo>
                      <a:pt x="98226" y="55738"/>
                      <a:pt x="93289" y="67218"/>
                      <a:pt x="84571" y="75476"/>
                    </a:cubicBezTo>
                    <a:lnTo>
                      <a:pt x="57416" y="101203"/>
                    </a:lnTo>
                    <a:lnTo>
                      <a:pt x="95250" y="101203"/>
                    </a:lnTo>
                    <a:lnTo>
                      <a:pt x="95250" y="142875"/>
                    </a:lnTo>
                    <a:lnTo>
                      <a:pt x="0" y="142875"/>
                    </a:lnTo>
                    <a:lnTo>
                      <a:pt x="0" y="98193"/>
                    </a:lnTo>
                    <a:lnTo>
                      <a:pt x="55912" y="45225"/>
                    </a:lnTo>
                    <a:cubicBezTo>
                      <a:pt x="56322" y="44837"/>
                      <a:pt x="56555" y="44296"/>
                      <a:pt x="56555" y="43729"/>
                    </a:cubicBezTo>
                    <a:cubicBezTo>
                      <a:pt x="56555" y="42593"/>
                      <a:pt x="55633" y="41672"/>
                      <a:pt x="54496" y="41672"/>
                    </a:cubicBez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970974" y="522089"/>
                <a:ext cx="75050" cy="139898"/>
              </a:xfrm>
              <a:custGeom>
                <a:avLst/>
                <a:gdLst/>
                <a:ahLst/>
                <a:cxnLst/>
                <a:rect l="l" t="t" r="r" b="b"/>
                <a:pathLst>
                  <a:path w="75050" h="139898">
                    <a:moveTo>
                      <a:pt x="38926" y="0"/>
                    </a:moveTo>
                    <a:lnTo>
                      <a:pt x="0" y="12975"/>
                    </a:lnTo>
                    <a:lnTo>
                      <a:pt x="13178" y="52509"/>
                    </a:lnTo>
                    <a:lnTo>
                      <a:pt x="33378" y="45775"/>
                    </a:lnTo>
                    <a:lnTo>
                      <a:pt x="33378" y="139898"/>
                    </a:lnTo>
                    <a:lnTo>
                      <a:pt x="75050" y="139898"/>
                    </a:lnTo>
                    <a:lnTo>
                      <a:pt x="75050" y="0"/>
                    </a:lnTo>
                    <a:lnTo>
                      <a:pt x="38926" y="0"/>
                    </a:ln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</p:grpSp>
      </p:grpSp>
      <p:sp>
        <p:nvSpPr>
          <p:cNvPr id="14" name="Line 14"/>
          <p:cNvSpPr/>
          <p:nvPr/>
        </p:nvSpPr>
        <p:spPr>
          <a:xfrm>
            <a:off x="609600" y="12573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</p:sp>
      <p:sp>
        <p:nvSpPr>
          <p:cNvPr id="15" name="Line 15"/>
          <p:cNvSpPr/>
          <p:nvPr/>
        </p:nvSpPr>
        <p:spPr>
          <a:xfrm>
            <a:off x="1428750" y="1762125"/>
            <a:ext cx="9525" cy="4286250"/>
          </a:xfrm>
          <a:custGeom>
            <a:avLst/>
            <a:gdLst/>
            <a:ahLst/>
            <a:cxnLst/>
            <a:rect l="l" t="t" r="r" b="b"/>
            <a:pathLst>
              <a:path w="952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28575" cap="rnd">
            <a:gradFill>
              <a:gsLst>
                <a:gs pos="0">
                  <a:srgbClr val="2563EB"/>
                </a:gs>
                <a:gs pos="100000">
                  <a:srgbClr val="0EA5E9"/>
                </a:gs>
              </a:gsLst>
              <a:lin ang="5400000" scaled="1"/>
            </a:gradFill>
          </a:ln>
        </p:spPr>
      </p:sp>
      <p:grpSp>
        <p:nvGrpSpPr>
          <p:cNvPr id="21" name="Group 21"/>
          <p:cNvGrpSpPr/>
          <p:nvPr/>
        </p:nvGrpSpPr>
        <p:grpSpPr>
          <a:xfrm>
            <a:off x="1200150" y="1628775"/>
            <a:ext cx="10394632" cy="528637"/>
            <a:chOff x="1200150" y="1628775"/>
            <a:chExt cx="10394632" cy="528637"/>
          </a:xfrm>
        </p:grpSpPr>
        <p:sp>
          <p:nvSpPr>
            <p:cNvPr id="16" name="Ellipse 16"/>
            <p:cNvSpPr/>
            <p:nvPr/>
          </p:nvSpPr>
          <p:spPr>
            <a:xfrm>
              <a:off x="1200150" y="1628775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2563E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335300" y="1794510"/>
              <a:ext cx="186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63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01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41195" y="1631632"/>
              <a:ext cx="231919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问题背景与项目目标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48815" y="1944052"/>
              <a:ext cx="27870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旅行规划痛点、设计目标与课程要求对照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04659" y="1799749"/>
              <a:ext cx="690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P03 - P05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00150" y="2425065"/>
            <a:ext cx="10394632" cy="528637"/>
            <a:chOff x="1200150" y="2466975"/>
            <a:chExt cx="10394632" cy="528637"/>
          </a:xfrm>
        </p:grpSpPr>
        <p:sp>
          <p:nvSpPr>
            <p:cNvPr id="22" name="Ellipse 22"/>
            <p:cNvSpPr/>
            <p:nvPr/>
          </p:nvSpPr>
          <p:spPr>
            <a:xfrm>
              <a:off x="1200150" y="2466975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2563E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312297" y="2632710"/>
              <a:ext cx="2329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63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02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41195" y="2469832"/>
              <a:ext cx="266078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系统架构与 Agent 设计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948815" y="2782252"/>
              <a:ext cx="28943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四层架构、主控 Agent 与专业 Agent 协作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904659" y="2637949"/>
              <a:ext cx="690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P06 - P07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00150" y="3221355"/>
            <a:ext cx="10394632" cy="528637"/>
            <a:chOff x="1200150" y="3305175"/>
            <a:chExt cx="10394632" cy="528637"/>
          </a:xfrm>
        </p:grpSpPr>
        <p:sp>
          <p:nvSpPr>
            <p:cNvPr id="28" name="Ellipse 28"/>
            <p:cNvSpPr/>
            <p:nvPr/>
          </p:nvSpPr>
          <p:spPr>
            <a:xfrm>
              <a:off x="1200150" y="3305175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EA5E9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312297" y="3470910"/>
              <a:ext cx="2329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EA5E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03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41195" y="3308032"/>
              <a:ext cx="309094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ReAct 核心循环与工具调用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948815" y="3620452"/>
              <a:ext cx="31013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Agent 与普通聊天的本质区别、九工具与机制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942039" y="3476149"/>
              <a:ext cx="6527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P08 - P13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200150" y="4017645"/>
            <a:ext cx="10394633" cy="528637"/>
            <a:chOff x="1200150" y="4143375"/>
            <a:chExt cx="10394633" cy="528637"/>
          </a:xfrm>
        </p:grpSpPr>
        <p:sp>
          <p:nvSpPr>
            <p:cNvPr id="34" name="Ellipse 34"/>
            <p:cNvSpPr/>
            <p:nvPr/>
          </p:nvSpPr>
          <p:spPr>
            <a:xfrm>
              <a:off x="1200150" y="4143375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EA5E9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312297" y="4309110"/>
              <a:ext cx="2329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EA5E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04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941195" y="4146232"/>
              <a:ext cx="231919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系统演示与关键代码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948815" y="4458652"/>
              <a:ext cx="28100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上海到日本 7 天规划演示、核心代码速览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979419" y="4314349"/>
              <a:ext cx="6153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P14 - P15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200150" y="4813935"/>
            <a:ext cx="10394633" cy="528637"/>
            <a:chOff x="1200150" y="4981575"/>
            <a:chExt cx="10394633" cy="528637"/>
          </a:xfrm>
        </p:grpSpPr>
        <p:sp>
          <p:nvSpPr>
            <p:cNvPr id="40" name="Ellipse 40"/>
            <p:cNvSpPr/>
            <p:nvPr/>
          </p:nvSpPr>
          <p:spPr>
            <a:xfrm>
              <a:off x="1200150" y="4981575"/>
              <a:ext cx="457200" cy="4572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59669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312297" y="5147310"/>
              <a:ext cx="2329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596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05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941195" y="4984432"/>
              <a:ext cx="231919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测试验证与边界说明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948815" y="5296852"/>
              <a:ext cx="26720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17 个 xUnit 测试、设计反思与已知边界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979419" y="5152549"/>
              <a:ext cx="6153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P16 - P18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181100" y="5610225"/>
            <a:ext cx="10413682" cy="547687"/>
            <a:chOff x="1181100" y="5610225"/>
            <a:chExt cx="10413682" cy="547687"/>
          </a:xfrm>
        </p:grpSpPr>
        <p:sp>
          <p:nvSpPr>
            <p:cNvPr id="46" name="Ellipse 46"/>
            <p:cNvSpPr/>
            <p:nvPr/>
          </p:nvSpPr>
          <p:spPr>
            <a:xfrm>
              <a:off x="1181100" y="5610225"/>
              <a:ext cx="495300" cy="495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312297" y="5795010"/>
              <a:ext cx="2329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06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941195" y="5632132"/>
              <a:ext cx="106118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总结</a:t>
              </a:r>
              <a:r>
                <a:rPr lang="en-US" altLang="zh-CN" sz="165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+Q&amp;A</a:t>
              </a:r>
              <a:endParaRPr lang="zh-CN" sz="900" b="1" dirty="0">
                <a:solidFill>
                  <a:srgbClr val="2563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948815" y="594455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核心结论与现场提问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942039" y="5800249"/>
              <a:ext cx="6527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P19 - P20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98170" y="6570345"/>
            <a:ext cx="10995660" cy="182880"/>
            <a:chOff x="598170" y="6570345"/>
            <a:chExt cx="10995660" cy="182880"/>
          </a:xfrm>
        </p:grpSpPr>
        <p:sp>
          <p:nvSpPr>
            <p:cNvPr id="52" name="TextBox 52"/>
            <p:cNvSpPr txBox="1"/>
            <p:nvPr/>
          </p:nvSpPr>
          <p:spPr>
            <a:xfrm>
              <a:off x="598170" y="6570345"/>
              <a:ext cx="17973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旅序 · 多 Agent 旅游规划系统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130629" y="6570345"/>
              <a:ext cx="4632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02 / 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7" grpId="0"/>
      <p:bldP spid="33" grpId="0"/>
      <p:bldP spid="39" grpId="0"/>
      <p:bldP spid="45" grpId="0"/>
      <p:bldP spid="5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09600" y="476250"/>
            <a:ext cx="4656582" cy="652462"/>
            <a:chOff x="609600" y="476250"/>
            <a:chExt cx="4656582" cy="652462"/>
          </a:xfrm>
        </p:grpSpPr>
        <p:sp>
          <p:nvSpPr>
            <p:cNvPr id="3" name="Rectangle 3"/>
            <p:cNvSpPr/>
            <p:nvPr/>
          </p:nvSpPr>
          <p:spPr>
            <a:xfrm>
              <a:off x="609600" y="476250"/>
              <a:ext cx="57150" cy="4191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502920"/>
              <a:ext cx="447751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旅行规划是多约束决策问题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915352"/>
              <a:ext cx="38347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PROBLEM &amp; NEEDS · 为什么需要 Agent 而非普通模型</a:t>
              </a:r>
            </a:p>
          </p:txBody>
        </p:sp>
      </p:grpSp>
      <p:sp>
        <p:nvSpPr>
          <p:cNvPr id="7" name="Line 7"/>
          <p:cNvSpPr/>
          <p:nvPr/>
        </p:nvSpPr>
        <p:spPr>
          <a:xfrm>
            <a:off x="609600" y="12573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</p:sp>
      <p:grpSp>
        <p:nvGrpSpPr>
          <p:cNvPr id="36" name="Group 36"/>
          <p:cNvGrpSpPr/>
          <p:nvPr/>
        </p:nvGrpSpPr>
        <p:grpSpPr>
          <a:xfrm>
            <a:off x="594360" y="1584960"/>
            <a:ext cx="5349240" cy="3406140"/>
            <a:chOff x="594360" y="1584960"/>
            <a:chExt cx="5349240" cy="3406140"/>
          </a:xfrm>
        </p:grpSpPr>
        <p:sp>
          <p:nvSpPr>
            <p:cNvPr id="8" name="TextBox 8"/>
            <p:cNvSpPr txBox="1"/>
            <p:nvPr/>
          </p:nvSpPr>
          <p:spPr>
            <a:xfrm>
              <a:off x="594360" y="15849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563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需求特征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609600" y="1905000"/>
              <a:ext cx="5334000" cy="952500"/>
              <a:chOff x="609600" y="1905000"/>
              <a:chExt cx="5334000" cy="9525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609600" y="1905000"/>
                <a:ext cx="5334000" cy="952500"/>
              </a:xfrm>
              <a:prstGeom prst="roundRect">
                <a:avLst>
                  <a:gd name="adj" fmla="val 12000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  <a:effectLst>
                <a:outerShdw blurRad="114300" dist="38100" dir="5400000" algn="ctr" rotWithShape="0">
                  <a:srgbClr val="0F172A">
                    <a:alpha val="6000"/>
                  </a:srgbClr>
                </a:outerShdw>
              </a:effectLst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609600" y="2095500"/>
                <a:ext cx="57150" cy="571500"/>
              </a:xfrm>
              <a:prstGeom prst="roundRect">
                <a:avLst>
                  <a:gd name="adj" fmla="val 50000"/>
                </a:avLst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838200" y="2152650"/>
                <a:ext cx="457200" cy="457200"/>
              </a:xfrm>
              <a:prstGeom prst="roundRect">
                <a:avLst>
                  <a:gd name="adj" fmla="val 25000"/>
                </a:avLst>
              </a:prstGeom>
              <a:solidFill>
                <a:srgbClr val="EFF6FF"/>
              </a:solidFill>
              <a:ln>
                <a:noFill/>
              </a:ln>
            </p:spPr>
          </p:sp>
          <p:grpSp>
            <p:nvGrpSpPr>
              <p:cNvPr id="15" name="Group 15"/>
              <p:cNvGrpSpPr/>
              <p:nvPr/>
            </p:nvGrpSpPr>
            <p:grpSpPr>
              <a:xfrm>
                <a:off x="914400" y="2247900"/>
                <a:ext cx="304800" cy="266700"/>
                <a:chOff x="914400" y="2247900"/>
                <a:chExt cx="304800" cy="266700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914400" y="2247900"/>
                  <a:ext cx="76200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266700">
                      <a:moveTo>
                        <a:pt x="76200" y="19050"/>
                      </a:moveTo>
                      <a:lnTo>
                        <a:pt x="0" y="0"/>
                      </a:lnTo>
                      <a:lnTo>
                        <a:pt x="0" y="247650"/>
                      </a:lnTo>
                      <a:lnTo>
                        <a:pt x="76200" y="266700"/>
                      </a:lnTo>
                      <a:lnTo>
                        <a:pt x="76200" y="19050"/>
                      </a:lnTo>
                      <a:close/>
                    </a:path>
                  </a:pathLst>
                </a:custGeom>
                <a:solidFill>
                  <a:srgbClr val="2563EB"/>
                </a:solidFill>
                <a:ln>
                  <a:noFill/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143000" y="2247900"/>
                  <a:ext cx="76200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266700">
                      <a:moveTo>
                        <a:pt x="76200" y="19050"/>
                      </a:moveTo>
                      <a:lnTo>
                        <a:pt x="0" y="0"/>
                      </a:lnTo>
                      <a:lnTo>
                        <a:pt x="0" y="247650"/>
                      </a:lnTo>
                      <a:lnTo>
                        <a:pt x="76200" y="266700"/>
                      </a:lnTo>
                      <a:lnTo>
                        <a:pt x="76200" y="19050"/>
                      </a:lnTo>
                      <a:close/>
                    </a:path>
                  </a:pathLst>
                </a:custGeom>
                <a:solidFill>
                  <a:srgbClr val="2563EB"/>
                </a:solidFill>
                <a:ln>
                  <a:noFill/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028700" y="2247900"/>
                  <a:ext cx="76200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266700">
                      <a:moveTo>
                        <a:pt x="76200" y="0"/>
                      </a:moveTo>
                      <a:lnTo>
                        <a:pt x="0" y="19050"/>
                      </a:lnTo>
                      <a:lnTo>
                        <a:pt x="0" y="266700"/>
                      </a:lnTo>
                      <a:lnTo>
                        <a:pt x="76200" y="247650"/>
                      </a:lnTo>
                      <a:lnTo>
                        <a:pt x="76200" y="0"/>
                      </a:lnTo>
                      <a:close/>
                    </a:path>
                  </a:pathLst>
                </a:custGeom>
                <a:solidFill>
                  <a:srgbClr val="2563EB"/>
                </a:solidFill>
                <a:ln>
                  <a:noFill/>
                </a:ln>
              </p:spPr>
            </p:sp>
          </p:grpSp>
          <p:sp>
            <p:nvSpPr>
              <p:cNvPr id="16" name="TextBox 16"/>
              <p:cNvSpPr txBox="1"/>
              <p:nvPr/>
            </p:nvSpPr>
            <p:spPr>
              <a:xfrm>
                <a:off x="1468755" y="2140268"/>
                <a:ext cx="86239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E293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信息分散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472565" y="2439352"/>
                <a:ext cx="355377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景点、酒店、交通、预算信息分散在不同平台与渠道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09600" y="2971800"/>
              <a:ext cx="5334000" cy="952500"/>
              <a:chOff x="609600" y="2971800"/>
              <a:chExt cx="5334000" cy="9525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609600" y="2971800"/>
                <a:ext cx="5334000" cy="952500"/>
              </a:xfrm>
              <a:prstGeom prst="roundRect">
                <a:avLst>
                  <a:gd name="adj" fmla="val 12000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  <a:effectLst>
                <a:outerShdw blurRad="114300" dist="38100" dir="5400000" algn="ctr" rotWithShape="0">
                  <a:srgbClr val="0F172A">
                    <a:alpha val="6000"/>
                  </a:srgbClr>
                </a:outerShdw>
              </a:effectLst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609600" y="3162300"/>
                <a:ext cx="57150" cy="571500"/>
              </a:xfrm>
              <a:prstGeom prst="roundRect">
                <a:avLst>
                  <a:gd name="adj" fmla="val 50000"/>
                </a:avLst>
              </a:prstGeom>
              <a:solidFill>
                <a:srgbClr val="D97706"/>
              </a:solidFill>
              <a:ln>
                <a:noFill/>
              </a:ln>
            </p:spPr>
          </p:sp>
          <p:sp>
            <p:nvSpPr>
              <p:cNvPr id="21" name="Rectangle 21"/>
              <p:cNvSpPr/>
              <p:nvPr/>
            </p:nvSpPr>
            <p:spPr>
              <a:xfrm>
                <a:off x="838200" y="3219450"/>
                <a:ext cx="457200" cy="457200"/>
              </a:xfrm>
              <a:prstGeom prst="roundRect">
                <a:avLst>
                  <a:gd name="adj" fmla="val 25000"/>
                </a:avLst>
              </a:prstGeom>
              <a:solidFill>
                <a:srgbClr val="FFFBEB"/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14400" y="3295650"/>
                <a:ext cx="3048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285750">
                    <a:moveTo>
                      <a:pt x="304800" y="285750"/>
                    </a:moveTo>
                    <a:lnTo>
                      <a:pt x="0" y="285750"/>
                    </a:lnTo>
                    <a:lnTo>
                      <a:pt x="0" y="228600"/>
                    </a:lnTo>
                    <a:lnTo>
                      <a:pt x="133350" y="0"/>
                    </a:lnTo>
                    <a:lnTo>
                      <a:pt x="171450" y="0"/>
                    </a:lnTo>
                    <a:lnTo>
                      <a:pt x="304800" y="228600"/>
                    </a:lnTo>
                    <a:lnTo>
                      <a:pt x="304800" y="285750"/>
                    </a:lnTo>
                    <a:close/>
                    <a:moveTo>
                      <a:pt x="133350" y="76200"/>
                    </a:moveTo>
                    <a:lnTo>
                      <a:pt x="171450" y="76200"/>
                    </a:lnTo>
                    <a:lnTo>
                      <a:pt x="171450" y="171450"/>
                    </a:lnTo>
                    <a:lnTo>
                      <a:pt x="133350" y="171450"/>
                    </a:lnTo>
                    <a:lnTo>
                      <a:pt x="133350" y="76200"/>
                    </a:lnTo>
                    <a:close/>
                    <a:moveTo>
                      <a:pt x="133350" y="209550"/>
                    </a:moveTo>
                    <a:lnTo>
                      <a:pt x="171450" y="209550"/>
                    </a:lnTo>
                    <a:lnTo>
                      <a:pt x="171450" y="247650"/>
                    </a:lnTo>
                    <a:lnTo>
                      <a:pt x="133350" y="247650"/>
                    </a:lnTo>
                    <a:lnTo>
                      <a:pt x="133350" y="209550"/>
                    </a:lnTo>
                    <a:close/>
                  </a:path>
                </a:pathLst>
              </a:custGeom>
              <a:solidFill>
                <a:srgbClr val="D97706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468755" y="3207068"/>
                <a:ext cx="189752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E293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普通模型缺工具核验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472565" y="3506152"/>
                <a:ext cx="34004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普通聊天模型易臆测，缺少实时核验与确定性计算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609600" y="4038600"/>
              <a:ext cx="5334000" cy="952500"/>
              <a:chOff x="609600" y="4038600"/>
              <a:chExt cx="5334000" cy="9525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609600" y="4038600"/>
                <a:ext cx="5334000" cy="952500"/>
              </a:xfrm>
              <a:prstGeom prst="roundRect">
                <a:avLst>
                  <a:gd name="adj" fmla="val 12000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  <a:effectLst>
                <a:outerShdw blurRad="114300" dist="38100" dir="5400000" algn="ctr" rotWithShape="0">
                  <a:srgbClr val="0F172A">
                    <a:alpha val="6000"/>
                  </a:srgbClr>
                </a:outerShdw>
              </a:effectLst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609600" y="4229100"/>
                <a:ext cx="57150" cy="571500"/>
              </a:xfrm>
              <a:prstGeom prst="roundRect">
                <a:avLst>
                  <a:gd name="adj" fmla="val 50000"/>
                </a:avLst>
              </a:prstGeom>
              <a:solidFill>
                <a:srgbClr val="059669"/>
              </a:solidFill>
              <a:ln>
                <a:noFill/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838200" y="4286250"/>
                <a:ext cx="457200" cy="457200"/>
              </a:xfrm>
              <a:prstGeom prst="roundRect">
                <a:avLst>
                  <a:gd name="adj" fmla="val 25000"/>
                </a:avLst>
              </a:prstGeom>
              <a:solidFill>
                <a:srgbClr val="ECFDF5"/>
              </a:solidFill>
              <a:ln>
                <a:noFill/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933450" y="4381500"/>
                <a:ext cx="266700" cy="266700"/>
                <a:chOff x="933450" y="4381500"/>
                <a:chExt cx="266700" cy="266700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933450" y="43815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76200" y="38100"/>
                      </a:moveTo>
                      <a:cubicBezTo>
                        <a:pt x="76200" y="59142"/>
                        <a:pt x="59142" y="76200"/>
                        <a:pt x="38100" y="76200"/>
                      </a:cubicBezTo>
                      <a:cubicBezTo>
                        <a:pt x="17058" y="76200"/>
                        <a:pt x="0" y="59142"/>
                        <a:pt x="0" y="38100"/>
                      </a:cubicBezTo>
                      <a:cubicBezTo>
                        <a:pt x="0" y="17058"/>
                        <a:pt x="17058" y="0"/>
                        <a:pt x="38100" y="0"/>
                      </a:cubicBezTo>
                      <a:cubicBezTo>
                        <a:pt x="59142" y="0"/>
                        <a:pt x="76200" y="17058"/>
                        <a:pt x="76200" y="38100"/>
                      </a:cubicBezTo>
                      <a:close/>
                    </a:path>
                  </a:pathLst>
                </a:custGeom>
                <a:solidFill>
                  <a:srgbClr val="059669"/>
                </a:solidFill>
                <a:ln>
                  <a:noFill/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1123950" y="4572000"/>
                  <a:ext cx="762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76200">
                      <a:moveTo>
                        <a:pt x="76200" y="38100"/>
                      </a:moveTo>
                      <a:cubicBezTo>
                        <a:pt x="76200" y="59143"/>
                        <a:pt x="59143" y="76200"/>
                        <a:pt x="38100" y="76200"/>
                      </a:cubicBezTo>
                      <a:cubicBezTo>
                        <a:pt x="17057" y="76200"/>
                        <a:pt x="0" y="59143"/>
                        <a:pt x="0" y="38100"/>
                      </a:cubicBezTo>
                      <a:cubicBezTo>
                        <a:pt x="0" y="17057"/>
                        <a:pt x="17057" y="0"/>
                        <a:pt x="38100" y="0"/>
                      </a:cubicBezTo>
                      <a:cubicBezTo>
                        <a:pt x="59143" y="0"/>
                        <a:pt x="76200" y="17057"/>
                        <a:pt x="76200" y="38100"/>
                      </a:cubicBezTo>
                      <a:close/>
                    </a:path>
                  </a:pathLst>
                </a:custGeom>
                <a:solidFill>
                  <a:srgbClr val="059669"/>
                </a:solidFill>
                <a:ln>
                  <a:noFill/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952500" y="4381500"/>
                  <a:ext cx="228600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600" h="266700">
                      <a:moveTo>
                        <a:pt x="133350" y="66675"/>
                      </a:moveTo>
                      <a:cubicBezTo>
                        <a:pt x="133350" y="50893"/>
                        <a:pt x="146143" y="38100"/>
                        <a:pt x="161925" y="38100"/>
                      </a:cubicBezTo>
                      <a:cubicBezTo>
                        <a:pt x="177706" y="38100"/>
                        <a:pt x="190500" y="50893"/>
                        <a:pt x="190500" y="66675"/>
                      </a:cubicBezTo>
                      <a:lnTo>
                        <a:pt x="190500" y="152400"/>
                      </a:lnTo>
                      <a:lnTo>
                        <a:pt x="228600" y="152400"/>
                      </a:lnTo>
                      <a:lnTo>
                        <a:pt x="228600" y="66675"/>
                      </a:lnTo>
                      <a:cubicBezTo>
                        <a:pt x="228600" y="29851"/>
                        <a:pt x="198749" y="0"/>
                        <a:pt x="161925" y="0"/>
                      </a:cubicBezTo>
                      <a:cubicBezTo>
                        <a:pt x="125101" y="0"/>
                        <a:pt x="95250" y="29851"/>
                        <a:pt x="95250" y="66675"/>
                      </a:cubicBezTo>
                      <a:lnTo>
                        <a:pt x="95250" y="200025"/>
                      </a:lnTo>
                      <a:cubicBezTo>
                        <a:pt x="95250" y="215806"/>
                        <a:pt x="82457" y="228600"/>
                        <a:pt x="66675" y="228600"/>
                      </a:cubicBezTo>
                      <a:cubicBezTo>
                        <a:pt x="50893" y="228600"/>
                        <a:pt x="38100" y="215806"/>
                        <a:pt x="38100" y="200025"/>
                      </a:cubicBezTo>
                      <a:lnTo>
                        <a:pt x="38100" y="114300"/>
                      </a:lnTo>
                      <a:lnTo>
                        <a:pt x="0" y="114300"/>
                      </a:lnTo>
                      <a:lnTo>
                        <a:pt x="0" y="200025"/>
                      </a:lnTo>
                      <a:cubicBezTo>
                        <a:pt x="0" y="236849"/>
                        <a:pt x="29851" y="266700"/>
                        <a:pt x="66675" y="266700"/>
                      </a:cubicBezTo>
                      <a:cubicBezTo>
                        <a:pt x="103499" y="266700"/>
                        <a:pt x="133350" y="236849"/>
                        <a:pt x="133350" y="200025"/>
                      </a:cubicBezTo>
                      <a:lnTo>
                        <a:pt x="133350" y="66675"/>
                      </a:lnTo>
                      <a:close/>
                    </a:path>
                  </a:pathLst>
                </a:custGeom>
                <a:solidFill>
                  <a:srgbClr val="059669"/>
                </a:solidFill>
                <a:ln>
                  <a:noFill/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1468755" y="4273868"/>
                <a:ext cx="169049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E293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一次性攻略难落地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472565" y="4572952"/>
                <a:ext cx="324707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缺少结构化每日行程、预算与路线的可执行编排</a:t>
                </a: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6271260" y="1584960"/>
            <a:ext cx="5311140" cy="3406140"/>
            <a:chOff x="6271260" y="1584960"/>
            <a:chExt cx="5311140" cy="3406140"/>
          </a:xfrm>
        </p:grpSpPr>
        <p:sp>
          <p:nvSpPr>
            <p:cNvPr id="37" name="TextBox 37"/>
            <p:cNvSpPr txBox="1"/>
            <p:nvPr/>
          </p:nvSpPr>
          <p:spPr>
            <a:xfrm>
              <a:off x="6271260" y="15849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563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用户输入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286500" y="1905000"/>
              <a:ext cx="5295900" cy="3086100"/>
            </a:xfrm>
            <a:prstGeom prst="roundRect">
              <a:avLst>
                <a:gd name="adj" fmla="val 3704"/>
              </a:avLst>
            </a:prstGeom>
            <a:solidFill>
              <a:srgbClr val="0F172A"/>
            </a:solidFill>
            <a:ln>
              <a:noFill/>
            </a:ln>
            <a:effectLst>
              <a:outerShdw blurRad="114300" dist="38100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39" name="Ellipse 39"/>
            <p:cNvSpPr/>
            <p:nvPr/>
          </p:nvSpPr>
          <p:spPr>
            <a:xfrm>
              <a:off x="6496050" y="2114550"/>
              <a:ext cx="114300" cy="114300"/>
            </a:xfrm>
            <a:prstGeom prst="ellipse">
              <a:avLst/>
            </a:prstGeom>
            <a:solidFill>
              <a:srgbClr val="DC2626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6705600" y="2114550"/>
              <a:ext cx="114300" cy="1143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6915150" y="2114550"/>
              <a:ext cx="114300" cy="114300"/>
            </a:xfrm>
            <a:prstGeom prst="ellipse">
              <a:avLst/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439686" y="2114074"/>
              <a:ext cx="9645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dirty="0">
                  <a:solidFill>
                    <a:srgbClr val="64748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user_request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6286500" y="2400300"/>
              <a:ext cx="5295900" cy="9525"/>
            </a:xfrm>
            <a:custGeom>
              <a:avLst/>
              <a:gdLst/>
              <a:ahLst/>
              <a:cxnLst/>
              <a:rect l="l" t="t" r="r" b="b"/>
              <a:pathLst>
                <a:path w="5295900" h="9525">
                  <a:moveTo>
                    <a:pt x="0" y="0"/>
                  </a:moveTo>
                  <a:lnTo>
                    <a:pt x="5295900" y="0"/>
                  </a:lnTo>
                </a:path>
              </a:pathLst>
            </a:custGeom>
            <a:noFill/>
            <a:ln w="14288">
              <a:solidFill>
                <a:srgbClr val="1E293B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37008" y="2681764"/>
              <a:ext cx="152209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E2E8F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上海 → 日本，7 天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37008" y="2986564"/>
              <a:ext cx="168037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E2E8F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预算 </a:t>
              </a:r>
              <a:r>
                <a:rPr lang="zh-CN" sz="1275" b="1" dirty="0">
                  <a:solidFill>
                    <a:srgbClr val="0EA5E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12000 元</a:t>
              </a:r>
              <a:r>
                <a:rPr lang="zh-CN" sz="1275" dirty="0">
                  <a:solidFill>
                    <a:srgbClr val="E2E8F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 · 1 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37008" y="3291364"/>
              <a:ext cx="141967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E2E8F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偏好 </a:t>
              </a:r>
              <a:r>
                <a:rPr lang="zh-CN" sz="1275" b="1" dirty="0">
                  <a:solidFill>
                    <a:srgbClr val="34D3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美食</a:t>
              </a:r>
              <a:r>
                <a:rPr lang="zh-CN" sz="1275" dirty="0">
                  <a:solidFill>
                    <a:srgbClr val="E2E8F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 · </a:t>
              </a:r>
              <a:r>
                <a:rPr lang="zh-CN" sz="1275" b="1" dirty="0">
                  <a:solidFill>
                    <a:srgbClr val="34D3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夜景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37008" y="3596164"/>
              <a:ext cx="208073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E2E8F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节奏轻松，关注人文体验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553200" y="4095750"/>
              <a:ext cx="4762500" cy="704850"/>
            </a:xfrm>
            <a:prstGeom prst="roundRect">
              <a:avLst>
                <a:gd name="adj" fmla="val 10811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6705600" y="43053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266700" y="133350"/>
                  </a:moveTo>
                  <a:cubicBezTo>
                    <a:pt x="266700" y="206998"/>
                    <a:pt x="206998" y="266700"/>
                    <a:pt x="133350" y="266700"/>
                  </a:cubicBezTo>
                  <a:cubicBezTo>
                    <a:pt x="59703" y="266700"/>
                    <a:pt x="0" y="206998"/>
                    <a:pt x="0" y="133350"/>
                  </a:cubicBezTo>
                  <a:cubicBezTo>
                    <a:pt x="0" y="59703"/>
                    <a:pt x="59703" y="0"/>
                    <a:pt x="133350" y="0"/>
                  </a:cubicBezTo>
                  <a:cubicBezTo>
                    <a:pt x="206998" y="0"/>
                    <a:pt x="266700" y="59703"/>
                    <a:pt x="266700" y="133350"/>
                  </a:cubicBezTo>
                  <a:close/>
                  <a:moveTo>
                    <a:pt x="116681" y="133350"/>
                  </a:moveTo>
                  <a:lnTo>
                    <a:pt x="100012" y="133350"/>
                  </a:lnTo>
                  <a:lnTo>
                    <a:pt x="100012" y="100012"/>
                  </a:lnTo>
                  <a:lnTo>
                    <a:pt x="150019" y="100012"/>
                  </a:lnTo>
                  <a:lnTo>
                    <a:pt x="150019" y="183356"/>
                  </a:lnTo>
                  <a:lnTo>
                    <a:pt x="166688" y="183356"/>
                  </a:lnTo>
                  <a:lnTo>
                    <a:pt x="166688" y="216694"/>
                  </a:lnTo>
                  <a:lnTo>
                    <a:pt x="116681" y="216694"/>
                  </a:lnTo>
                  <a:lnTo>
                    <a:pt x="116681" y="133350"/>
                  </a:lnTo>
                  <a:close/>
                  <a:moveTo>
                    <a:pt x="150019" y="83344"/>
                  </a:moveTo>
                  <a:lnTo>
                    <a:pt x="150019" y="50006"/>
                  </a:lnTo>
                  <a:lnTo>
                    <a:pt x="116681" y="50006"/>
                  </a:lnTo>
                  <a:lnTo>
                    <a:pt x="116681" y="83344"/>
                  </a:lnTo>
                  <a:lnTo>
                    <a:pt x="150019" y="83344"/>
                  </a:lnTo>
                  <a:close/>
                </a:path>
              </a:pathLst>
            </a:custGeom>
            <a:solidFill>
              <a:srgbClr val="0EA5E9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073265" y="4296728"/>
              <a:ext cx="8317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2E8F0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输入很简单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074218" y="4533424"/>
              <a:ext cx="28727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但要落地为可执行方案，需要大量核验与编排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09600" y="5448300"/>
            <a:ext cx="10972800" cy="914400"/>
            <a:chOff x="609600" y="5448300"/>
            <a:chExt cx="10972800" cy="914400"/>
          </a:xfrm>
        </p:grpSpPr>
        <p:sp>
          <p:nvSpPr>
            <p:cNvPr id="53" name="Rectangle 53"/>
            <p:cNvSpPr/>
            <p:nvPr/>
          </p:nvSpPr>
          <p:spPr>
            <a:xfrm>
              <a:off x="609600" y="5448300"/>
              <a:ext cx="10972800" cy="914400"/>
            </a:xfrm>
            <a:prstGeom prst="roundRect">
              <a:avLst>
                <a:gd name="adj" fmla="val 12500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33450" y="570547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输入简单需求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3028950" y="5772150"/>
              <a:ext cx="266700" cy="266700"/>
              <a:chOff x="3028950" y="5772150"/>
              <a:chExt cx="266700" cy="26670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3062288" y="5772150"/>
                <a:ext cx="233362" cy="116681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116681">
                    <a:moveTo>
                      <a:pt x="133350" y="116681"/>
                    </a:moveTo>
                    <a:lnTo>
                      <a:pt x="116681" y="100012"/>
                    </a:lnTo>
                    <a:lnTo>
                      <a:pt x="154901" y="61793"/>
                    </a:lnTo>
                    <a:lnTo>
                      <a:pt x="145136" y="52029"/>
                    </a:lnTo>
                    <a:cubicBezTo>
                      <a:pt x="133169" y="40061"/>
                      <a:pt x="116937" y="33338"/>
                      <a:pt x="100012" y="33338"/>
                    </a:cubicBezTo>
                    <a:cubicBezTo>
                      <a:pt x="83088" y="33338"/>
                      <a:pt x="66856" y="40061"/>
                      <a:pt x="54888" y="52029"/>
                    </a:cubicBezTo>
                    <a:lnTo>
                      <a:pt x="53459" y="53459"/>
                    </a:lnTo>
                    <a:cubicBezTo>
                      <a:pt x="40575" y="66342"/>
                      <a:pt x="33338" y="83815"/>
                      <a:pt x="33338" y="102035"/>
                    </a:cubicBezTo>
                    <a:lnTo>
                      <a:pt x="33338" y="116681"/>
                    </a:lnTo>
                    <a:lnTo>
                      <a:pt x="0" y="116681"/>
                    </a:lnTo>
                    <a:lnTo>
                      <a:pt x="0" y="102035"/>
                    </a:lnTo>
                    <a:cubicBezTo>
                      <a:pt x="0" y="74974"/>
                      <a:pt x="10750" y="49020"/>
                      <a:pt x="29885" y="29885"/>
                    </a:cubicBezTo>
                    <a:lnTo>
                      <a:pt x="31315" y="28455"/>
                    </a:lnTo>
                    <a:cubicBezTo>
                      <a:pt x="49535" y="10236"/>
                      <a:pt x="74246" y="0"/>
                      <a:pt x="100012" y="0"/>
                    </a:cubicBezTo>
                    <a:cubicBezTo>
                      <a:pt x="125779" y="0"/>
                      <a:pt x="150490" y="10236"/>
                      <a:pt x="168709" y="28455"/>
                    </a:cubicBezTo>
                    <a:lnTo>
                      <a:pt x="178474" y="38220"/>
                    </a:lnTo>
                    <a:lnTo>
                      <a:pt x="216694" y="0"/>
                    </a:lnTo>
                    <a:lnTo>
                      <a:pt x="233362" y="16669"/>
                    </a:lnTo>
                    <a:lnTo>
                      <a:pt x="233362" y="116681"/>
                    </a:lnTo>
                    <a:lnTo>
                      <a:pt x="133350" y="116681"/>
                    </a:ln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3028950" y="5922169"/>
                <a:ext cx="233362" cy="116681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116681">
                    <a:moveTo>
                      <a:pt x="88226" y="64653"/>
                    </a:moveTo>
                    <a:cubicBezTo>
                      <a:pt x="100194" y="76620"/>
                      <a:pt x="116425" y="83344"/>
                      <a:pt x="133350" y="83344"/>
                    </a:cubicBezTo>
                    <a:cubicBezTo>
                      <a:pt x="150275" y="83344"/>
                      <a:pt x="166506" y="76621"/>
                      <a:pt x="178474" y="64653"/>
                    </a:cubicBezTo>
                    <a:lnTo>
                      <a:pt x="179904" y="63223"/>
                    </a:lnTo>
                    <a:cubicBezTo>
                      <a:pt x="192787" y="50340"/>
                      <a:pt x="200025" y="32866"/>
                      <a:pt x="200025" y="14646"/>
                    </a:cubicBezTo>
                    <a:lnTo>
                      <a:pt x="200025" y="0"/>
                    </a:lnTo>
                    <a:lnTo>
                      <a:pt x="233362" y="0"/>
                    </a:lnTo>
                    <a:lnTo>
                      <a:pt x="233362" y="14646"/>
                    </a:lnTo>
                    <a:cubicBezTo>
                      <a:pt x="233362" y="41709"/>
                      <a:pt x="222613" y="67660"/>
                      <a:pt x="203477" y="86796"/>
                    </a:cubicBezTo>
                    <a:lnTo>
                      <a:pt x="202047" y="88226"/>
                    </a:lnTo>
                    <a:cubicBezTo>
                      <a:pt x="183828" y="106445"/>
                      <a:pt x="159117" y="116681"/>
                      <a:pt x="133350" y="116681"/>
                    </a:cubicBezTo>
                    <a:cubicBezTo>
                      <a:pt x="107584" y="116681"/>
                      <a:pt x="82872" y="106445"/>
                      <a:pt x="64653" y="88226"/>
                    </a:cubicBezTo>
                    <a:lnTo>
                      <a:pt x="54888" y="78461"/>
                    </a:lnTo>
                    <a:lnTo>
                      <a:pt x="16669" y="116681"/>
                    </a:lnTo>
                    <a:lnTo>
                      <a:pt x="0" y="100012"/>
                    </a:lnTo>
                    <a:lnTo>
                      <a:pt x="0" y="0"/>
                    </a:lnTo>
                    <a:lnTo>
                      <a:pt x="100012" y="0"/>
                    </a:lnTo>
                    <a:lnTo>
                      <a:pt x="116681" y="16669"/>
                    </a:lnTo>
                    <a:lnTo>
                      <a:pt x="78462" y="54889"/>
                    </a:lnTo>
                    <a:lnTo>
                      <a:pt x="88226" y="64653"/>
                    </a:ln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4076700" y="5705475"/>
              <a:ext cx="149878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563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多 Agent 协作</a:t>
              </a:r>
            </a:p>
          </p:txBody>
        </p:sp>
        <p:grpSp>
          <p:nvGrpSpPr>
            <p:cNvPr id="62" name="Group 62"/>
            <p:cNvGrpSpPr/>
            <p:nvPr/>
          </p:nvGrpSpPr>
          <p:grpSpPr>
            <a:xfrm>
              <a:off x="6588919" y="5788819"/>
              <a:ext cx="233362" cy="233362"/>
              <a:chOff x="6588919" y="5788819"/>
              <a:chExt cx="233362" cy="233362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588919" y="5788819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66675" y="33338"/>
                    </a:moveTo>
                    <a:cubicBezTo>
                      <a:pt x="66675" y="51749"/>
                      <a:pt x="51749" y="66675"/>
                      <a:pt x="33338" y="66675"/>
                    </a:cubicBezTo>
                    <a:cubicBezTo>
                      <a:pt x="14926" y="66675"/>
                      <a:pt x="0" y="51749"/>
                      <a:pt x="0" y="33338"/>
                    </a:cubicBezTo>
                    <a:cubicBezTo>
                      <a:pt x="0" y="14926"/>
                      <a:pt x="14926" y="0"/>
                      <a:pt x="33338" y="0"/>
                    </a:cubicBezTo>
                    <a:cubicBezTo>
                      <a:pt x="51749" y="0"/>
                      <a:pt x="66675" y="14926"/>
                      <a:pt x="66675" y="33338"/>
                    </a:cubicBezTo>
                    <a:close/>
                  </a:path>
                </a:pathLst>
              </a:custGeom>
              <a:solidFill>
                <a:srgbClr val="059669"/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755606" y="5955506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66675" y="33338"/>
                    </a:moveTo>
                    <a:cubicBezTo>
                      <a:pt x="66675" y="51750"/>
                      <a:pt x="51750" y="66675"/>
                      <a:pt x="33338" y="66675"/>
                    </a:cubicBezTo>
                    <a:cubicBezTo>
                      <a:pt x="14925" y="66675"/>
                      <a:pt x="0" y="51750"/>
                      <a:pt x="0" y="33338"/>
                    </a:cubicBezTo>
                    <a:cubicBezTo>
                      <a:pt x="0" y="14925"/>
                      <a:pt x="14925" y="0"/>
                      <a:pt x="33338" y="0"/>
                    </a:cubicBezTo>
                    <a:cubicBezTo>
                      <a:pt x="51750" y="0"/>
                      <a:pt x="66675" y="14925"/>
                      <a:pt x="66675" y="33338"/>
                    </a:cubicBezTo>
                    <a:close/>
                  </a:path>
                </a:pathLst>
              </a:custGeom>
              <a:solidFill>
                <a:srgbClr val="059669"/>
              </a:solidFill>
              <a:ln>
                <a:noFill/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605588" y="5788819"/>
                <a:ext cx="200025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33362">
                    <a:moveTo>
                      <a:pt x="116681" y="58341"/>
                    </a:moveTo>
                    <a:cubicBezTo>
                      <a:pt x="116681" y="44532"/>
                      <a:pt x="127875" y="33338"/>
                      <a:pt x="141684" y="33338"/>
                    </a:cubicBezTo>
                    <a:cubicBezTo>
                      <a:pt x="155493" y="33338"/>
                      <a:pt x="166688" y="44532"/>
                      <a:pt x="166688" y="58341"/>
                    </a:cubicBezTo>
                    <a:lnTo>
                      <a:pt x="166688" y="133350"/>
                    </a:lnTo>
                    <a:lnTo>
                      <a:pt x="200025" y="133350"/>
                    </a:lnTo>
                    <a:lnTo>
                      <a:pt x="200025" y="58341"/>
                    </a:lnTo>
                    <a:cubicBezTo>
                      <a:pt x="200025" y="26120"/>
                      <a:pt x="173905" y="0"/>
                      <a:pt x="141684" y="0"/>
                    </a:cubicBezTo>
                    <a:cubicBezTo>
                      <a:pt x="109464" y="0"/>
                      <a:pt x="83344" y="26120"/>
                      <a:pt x="83344" y="58341"/>
                    </a:cubicBezTo>
                    <a:lnTo>
                      <a:pt x="83344" y="175022"/>
                    </a:lnTo>
                    <a:cubicBezTo>
                      <a:pt x="83344" y="188830"/>
                      <a:pt x="72150" y="200025"/>
                      <a:pt x="58341" y="200025"/>
                    </a:cubicBezTo>
                    <a:cubicBezTo>
                      <a:pt x="44532" y="200025"/>
                      <a:pt x="33338" y="188830"/>
                      <a:pt x="33338" y="175022"/>
                    </a:cubicBezTo>
                    <a:lnTo>
                      <a:pt x="33338" y="100012"/>
                    </a:lnTo>
                    <a:lnTo>
                      <a:pt x="0" y="100012"/>
                    </a:lnTo>
                    <a:lnTo>
                      <a:pt x="0" y="175022"/>
                    </a:lnTo>
                    <a:cubicBezTo>
                      <a:pt x="0" y="207243"/>
                      <a:pt x="26120" y="233362"/>
                      <a:pt x="58341" y="233362"/>
                    </a:cubicBezTo>
                    <a:cubicBezTo>
                      <a:pt x="90561" y="233362"/>
                      <a:pt x="116681" y="207243"/>
                      <a:pt x="116681" y="175022"/>
                    </a:cubicBezTo>
                    <a:lnTo>
                      <a:pt x="116681" y="58341"/>
                    </a:lnTo>
                    <a:close/>
                  </a:path>
                </a:pathLst>
              </a:custGeom>
              <a:solidFill>
                <a:srgbClr val="059669"/>
              </a:solidFill>
              <a:ln>
                <a:noFill/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7600950" y="5705475"/>
              <a:ext cx="18783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596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结构化可解释方案</a:t>
              </a:r>
            </a:p>
          </p:txBody>
        </p:sp>
        <p:sp>
          <p:nvSpPr>
            <p:cNvPr id="64" name="Freeform 64"/>
            <p:cNvSpPr/>
            <p:nvPr/>
          </p:nvSpPr>
          <p:spPr>
            <a:xfrm>
              <a:off x="10953750" y="5772150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42875" y="285750"/>
                  </a:moveTo>
                  <a:cubicBezTo>
                    <a:pt x="221783" y="285750"/>
                    <a:pt x="285750" y="221783"/>
                    <a:pt x="285750" y="142875"/>
                  </a:cubicBezTo>
                  <a:cubicBezTo>
                    <a:pt x="285750" y="63967"/>
                    <a:pt x="221783" y="0"/>
                    <a:pt x="142875" y="0"/>
                  </a:cubicBezTo>
                  <a:cubicBezTo>
                    <a:pt x="63967" y="0"/>
                    <a:pt x="0" y="63967"/>
                    <a:pt x="0" y="142875"/>
                  </a:cubicBezTo>
                  <a:cubicBezTo>
                    <a:pt x="0" y="221783"/>
                    <a:pt x="63967" y="285750"/>
                    <a:pt x="142875" y="285750"/>
                  </a:cubicBezTo>
                  <a:close/>
                  <a:moveTo>
                    <a:pt x="226941" y="101925"/>
                  </a:moveTo>
                  <a:lnTo>
                    <a:pt x="201684" y="76668"/>
                  </a:lnTo>
                  <a:lnTo>
                    <a:pt x="116086" y="162267"/>
                  </a:lnTo>
                  <a:lnTo>
                    <a:pt x="84066" y="130246"/>
                  </a:lnTo>
                  <a:lnTo>
                    <a:pt x="58809" y="155504"/>
                  </a:lnTo>
                  <a:lnTo>
                    <a:pt x="116086" y="212780"/>
                  </a:lnTo>
                  <a:lnTo>
                    <a:pt x="226941" y="101925"/>
                  </a:lnTo>
                  <a:close/>
                </a:path>
              </a:pathLst>
            </a:custGeom>
            <a:solidFill>
              <a:srgbClr val="059669"/>
            </a:solidFill>
            <a:ln>
              <a:noFill/>
            </a:ln>
          </p:spPr>
        </p:sp>
      </p:grpSp>
      <p:grpSp>
        <p:nvGrpSpPr>
          <p:cNvPr id="68" name="Group 68"/>
          <p:cNvGrpSpPr/>
          <p:nvPr/>
        </p:nvGrpSpPr>
        <p:grpSpPr>
          <a:xfrm>
            <a:off x="598170" y="6570345"/>
            <a:ext cx="10995660" cy="182880"/>
            <a:chOff x="598170" y="6570345"/>
            <a:chExt cx="10995660" cy="182880"/>
          </a:xfrm>
        </p:grpSpPr>
        <p:sp>
          <p:nvSpPr>
            <p:cNvPr id="66" name="TextBox 66"/>
            <p:cNvSpPr txBox="1"/>
            <p:nvPr/>
          </p:nvSpPr>
          <p:spPr>
            <a:xfrm>
              <a:off x="598170" y="6570345"/>
              <a:ext cx="17973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旅序 · 多 Agent 旅游规划系统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130629" y="6570345"/>
              <a:ext cx="4632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03 / 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52" grpId="0"/>
      <p:bldP spid="6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609600" y="476250"/>
            <a:ext cx="10725150" cy="652462"/>
            <a:chOff x="609600" y="476250"/>
            <a:chExt cx="10725150" cy="652462"/>
          </a:xfrm>
        </p:grpSpPr>
        <p:sp>
          <p:nvSpPr>
            <p:cNvPr id="3" name="Rectangle 3"/>
            <p:cNvSpPr/>
            <p:nvPr/>
          </p:nvSpPr>
          <p:spPr>
            <a:xfrm>
              <a:off x="609600" y="476250"/>
              <a:ext cx="57150" cy="4191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502920"/>
              <a:ext cx="41094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从旅行需求到结构化方案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915352"/>
              <a:ext cx="36496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INPUT → PROCESS → OUTPUT · 三阶段管道与产出物</a:t>
              </a:r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10953750" y="495300"/>
              <a:ext cx="381000" cy="381000"/>
              <a:chOff x="10953750" y="495300"/>
              <a:chExt cx="381000" cy="3810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0953750" y="495300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194530" y="47681"/>
                    </a:moveTo>
                    <a:cubicBezTo>
                      <a:pt x="193191" y="47644"/>
                      <a:pt x="191848" y="47625"/>
                      <a:pt x="190500" y="47625"/>
                    </a:cubicBezTo>
                    <a:cubicBezTo>
                      <a:pt x="111592" y="47625"/>
                      <a:pt x="47625" y="111592"/>
                      <a:pt x="47625" y="190500"/>
                    </a:cubicBezTo>
                    <a:cubicBezTo>
                      <a:pt x="47625" y="269407"/>
                      <a:pt x="111592" y="333375"/>
                      <a:pt x="190500" y="333375"/>
                    </a:cubicBezTo>
                    <a:cubicBezTo>
                      <a:pt x="269407" y="333375"/>
                      <a:pt x="333375" y="269407"/>
                      <a:pt x="333375" y="190500"/>
                    </a:cubicBezTo>
                    <a:cubicBezTo>
                      <a:pt x="333375" y="189152"/>
                      <a:pt x="333356" y="187809"/>
                      <a:pt x="333320" y="186470"/>
                    </a:cubicBezTo>
                    <a:lnTo>
                      <a:pt x="375385" y="144404"/>
                    </a:lnTo>
                    <a:cubicBezTo>
                      <a:pt x="379052" y="159164"/>
                      <a:pt x="381000" y="174605"/>
                      <a:pt x="381000" y="190500"/>
                    </a:cubicBezTo>
                    <a:cubicBezTo>
                      <a:pt x="381000" y="295711"/>
                      <a:pt x="295711" y="381000"/>
                      <a:pt x="190500" y="381000"/>
                    </a:cubicBezTo>
                    <a:cubicBezTo>
                      <a:pt x="85290" y="381000"/>
                      <a:pt x="0" y="295711"/>
                      <a:pt x="0" y="190500"/>
                    </a:cubicBezTo>
                    <a:cubicBezTo>
                      <a:pt x="0" y="85290"/>
                      <a:pt x="85290" y="0"/>
                      <a:pt x="190500" y="0"/>
                    </a:cubicBezTo>
                    <a:cubicBezTo>
                      <a:pt x="206395" y="0"/>
                      <a:pt x="221836" y="1947"/>
                      <a:pt x="236596" y="5615"/>
                    </a:cubicBezTo>
                    <a:lnTo>
                      <a:pt x="194530" y="47681"/>
                    </a:ln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1049000" y="593550"/>
                <a:ext cx="187500" cy="187500"/>
              </a:xfrm>
              <a:custGeom>
                <a:avLst/>
                <a:gdLst/>
                <a:ahLst/>
                <a:cxnLst/>
                <a:rect l="l" t="t" r="r" b="b"/>
                <a:pathLst>
                  <a:path w="187500" h="187500">
                    <a:moveTo>
                      <a:pt x="0" y="92249"/>
                    </a:moveTo>
                    <a:cubicBezTo>
                      <a:pt x="0" y="47866"/>
                      <a:pt x="30355" y="10574"/>
                      <a:pt x="71438" y="0"/>
                    </a:cubicBezTo>
                    <a:lnTo>
                      <a:pt x="71438" y="50995"/>
                    </a:lnTo>
                    <a:cubicBezTo>
                      <a:pt x="57202" y="59230"/>
                      <a:pt x="47625" y="74621"/>
                      <a:pt x="47625" y="92249"/>
                    </a:cubicBezTo>
                    <a:cubicBezTo>
                      <a:pt x="47625" y="118552"/>
                      <a:pt x="68947" y="139874"/>
                      <a:pt x="95250" y="139874"/>
                    </a:cubicBezTo>
                    <a:cubicBezTo>
                      <a:pt x="112878" y="139874"/>
                      <a:pt x="128269" y="130297"/>
                      <a:pt x="136504" y="116062"/>
                    </a:cubicBezTo>
                    <a:lnTo>
                      <a:pt x="187500" y="116062"/>
                    </a:lnTo>
                    <a:cubicBezTo>
                      <a:pt x="176924" y="157144"/>
                      <a:pt x="139633" y="187500"/>
                      <a:pt x="95250" y="187500"/>
                    </a:cubicBezTo>
                    <a:cubicBezTo>
                      <a:pt x="42645" y="187500"/>
                      <a:pt x="0" y="144854"/>
                      <a:pt x="0" y="92249"/>
                    </a:cubicBez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1139318" y="495300"/>
                <a:ext cx="195432" cy="195432"/>
              </a:xfrm>
              <a:custGeom>
                <a:avLst/>
                <a:gdLst/>
                <a:ahLst/>
                <a:cxnLst/>
                <a:rect l="l" t="t" r="r" b="b"/>
                <a:pathLst>
                  <a:path w="195432" h="195432">
                    <a:moveTo>
                      <a:pt x="147807" y="47625"/>
                    </a:moveTo>
                    <a:lnTo>
                      <a:pt x="123994" y="0"/>
                    </a:lnTo>
                    <a:lnTo>
                      <a:pt x="52557" y="71438"/>
                    </a:lnTo>
                    <a:lnTo>
                      <a:pt x="52557" y="109199"/>
                    </a:lnTo>
                    <a:lnTo>
                      <a:pt x="0" y="161756"/>
                    </a:lnTo>
                    <a:lnTo>
                      <a:pt x="33676" y="195432"/>
                    </a:lnTo>
                    <a:lnTo>
                      <a:pt x="86232" y="142875"/>
                    </a:lnTo>
                    <a:lnTo>
                      <a:pt x="123994" y="142875"/>
                    </a:lnTo>
                    <a:lnTo>
                      <a:pt x="195432" y="71438"/>
                    </a:lnTo>
                    <a:lnTo>
                      <a:pt x="147807" y="47625"/>
                    </a:ln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</p:grpSp>
      </p:grpSp>
      <p:sp>
        <p:nvSpPr>
          <p:cNvPr id="11" name="Line 11"/>
          <p:cNvSpPr/>
          <p:nvPr/>
        </p:nvSpPr>
        <p:spPr>
          <a:xfrm>
            <a:off x="609600" y="12573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</p:sp>
      <p:grpSp>
        <p:nvGrpSpPr>
          <p:cNvPr id="29" name="Group 29"/>
          <p:cNvGrpSpPr/>
          <p:nvPr/>
        </p:nvGrpSpPr>
        <p:grpSpPr>
          <a:xfrm>
            <a:off x="609600" y="1619250"/>
            <a:ext cx="3467100" cy="4095750"/>
            <a:chOff x="609600" y="1619250"/>
            <a:chExt cx="3467100" cy="4095750"/>
          </a:xfrm>
        </p:grpSpPr>
        <p:sp>
          <p:nvSpPr>
            <p:cNvPr id="12" name="Rectangle 12"/>
            <p:cNvSpPr/>
            <p:nvPr/>
          </p:nvSpPr>
          <p:spPr>
            <a:xfrm>
              <a:off x="609600" y="1619250"/>
              <a:ext cx="3467100" cy="4095750"/>
            </a:xfrm>
            <a:prstGeom prst="roundRect">
              <a:avLst>
                <a:gd name="adj" fmla="val 329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F172A">
                  <a:alpha val="5250"/>
                </a:srgbClr>
              </a:outerShdw>
            </a:effectLst>
          </p:spPr>
        </p:sp>
        <p:sp>
          <p:nvSpPr>
            <p:cNvPr id="13" name="Freeform 13"/>
            <p:cNvSpPr/>
            <p:nvPr/>
          </p:nvSpPr>
          <p:spPr>
            <a:xfrm>
              <a:off x="609600" y="1619250"/>
              <a:ext cx="3467100" cy="495300"/>
            </a:xfrm>
            <a:custGeom>
              <a:avLst/>
              <a:gdLst/>
              <a:ahLst/>
              <a:cxnLst/>
              <a:rect l="l" t="t" r="r" b="b"/>
              <a:pathLst>
                <a:path w="3467100" h="49530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3390900" y="0"/>
                  </a:lnTo>
                  <a:cubicBezTo>
                    <a:pt x="3432984" y="0"/>
                    <a:pt x="3467100" y="34116"/>
                    <a:pt x="3467100" y="76200"/>
                  </a:cubicBezTo>
                  <a:lnTo>
                    <a:pt x="3467100" y="495300"/>
                  </a:lnTo>
                  <a:lnTo>
                    <a:pt x="0" y="49530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62000" y="1714500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1425" y="1784985"/>
              <a:ext cx="186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63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01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63002" y="1760696"/>
              <a:ext cx="159866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输入 · 旅行需求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09600" y="2114550"/>
              <a:ext cx="3467100" cy="323850"/>
            </a:xfrm>
            <a:prstGeom prst="rect">
              <a:avLst/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646720" y="2218849"/>
              <a:ext cx="13928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D4ED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用户表单 / 示例输入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842962" y="2824162"/>
              <a:ext cx="66675" cy="66675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95362" y="2783681"/>
              <a:ext cx="12621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出发地 → 目的地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842962" y="3300412"/>
              <a:ext cx="66675" cy="66675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95362" y="3259931"/>
              <a:ext cx="14605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天数 → 人数 → 预算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842962" y="3776662"/>
              <a:ext cx="66675" cy="66675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95362" y="3736181"/>
              <a:ext cx="14605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偏好 → 节奏 → 风格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838200" y="4476750"/>
              <a:ext cx="3009900" cy="9525"/>
            </a:xfrm>
            <a:custGeom>
              <a:avLst/>
              <a:gdLst/>
              <a:ahLst/>
              <a:cxnLst/>
              <a:rect l="l" t="t" r="r" b="b"/>
              <a:pathLst>
                <a:path w="3009900" h="9525">
                  <a:moveTo>
                    <a:pt x="0" y="0"/>
                  </a:moveTo>
                  <a:lnTo>
                    <a:pt x="3009900" y="0"/>
                  </a:lnTo>
                </a:path>
              </a:pathLst>
            </a:custGeom>
            <a:noFill/>
            <a:ln w="14288">
              <a:solidFill>
                <a:srgbClr val="E2E8F0"/>
              </a:solidFill>
              <a:prstDash val="dash"/>
            </a:ln>
          </p:spPr>
        </p:sp>
        <p:sp>
          <p:nvSpPr>
            <p:cNvPr id="26" name="Rectangle 26"/>
            <p:cNvSpPr/>
            <p:nvPr/>
          </p:nvSpPr>
          <p:spPr>
            <a:xfrm>
              <a:off x="838200" y="4667250"/>
              <a:ext cx="3009900" cy="819150"/>
            </a:xfrm>
            <a:prstGeom prst="roundRect">
              <a:avLst>
                <a:gd name="adj" fmla="val 9302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986677" y="4817745"/>
              <a:ext cx="712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本阶段产出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11766" y="5093018"/>
              <a:ext cx="146276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D4ED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TravelRequest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362450" y="1619250"/>
            <a:ext cx="3467100" cy="4095750"/>
            <a:chOff x="4362450" y="1619250"/>
            <a:chExt cx="3467100" cy="4095750"/>
          </a:xfrm>
        </p:grpSpPr>
        <p:sp>
          <p:nvSpPr>
            <p:cNvPr id="30" name="Rectangle 30"/>
            <p:cNvSpPr/>
            <p:nvPr/>
          </p:nvSpPr>
          <p:spPr>
            <a:xfrm>
              <a:off x="4362450" y="1619250"/>
              <a:ext cx="3467100" cy="4095750"/>
            </a:xfrm>
            <a:prstGeom prst="roundRect">
              <a:avLst>
                <a:gd name="adj" fmla="val 329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F172A">
                  <a:alpha val="5250"/>
                </a:srgbClr>
              </a:outerShdw>
            </a:effectLst>
          </p:spPr>
        </p:sp>
        <p:sp>
          <p:nvSpPr>
            <p:cNvPr id="31" name="Freeform 31"/>
            <p:cNvSpPr/>
            <p:nvPr/>
          </p:nvSpPr>
          <p:spPr>
            <a:xfrm>
              <a:off x="4362450" y="1619250"/>
              <a:ext cx="3467100" cy="495300"/>
            </a:xfrm>
            <a:custGeom>
              <a:avLst/>
              <a:gdLst/>
              <a:ahLst/>
              <a:cxnLst/>
              <a:rect l="l" t="t" r="r" b="b"/>
              <a:pathLst>
                <a:path w="3467100" h="49530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3390900" y="0"/>
                  </a:lnTo>
                  <a:cubicBezTo>
                    <a:pt x="3432984" y="0"/>
                    <a:pt x="3467100" y="34116"/>
                    <a:pt x="3467100" y="76200"/>
                  </a:cubicBezTo>
                  <a:lnTo>
                    <a:pt x="3467100" y="495300"/>
                  </a:lnTo>
                  <a:lnTo>
                    <a:pt x="0" y="495300"/>
                  </a:lnTo>
                  <a:close/>
                </a:path>
              </a:pathLst>
            </a:custGeom>
            <a:solidFill>
              <a:srgbClr val="0EA5E9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514850" y="1714500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541272" y="1784985"/>
              <a:ext cx="2329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EA5E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02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15852" y="1760696"/>
              <a:ext cx="2112204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处理 · 多 Agent 协作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362450" y="2114550"/>
              <a:ext cx="3467100" cy="323850"/>
            </a:xfrm>
            <a:prstGeom prst="rect">
              <a:avLst/>
            </a:prstGeom>
            <a:solidFill>
              <a:srgbClr val="E0F2F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321072" y="2218849"/>
              <a:ext cx="15498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369A1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ReAct 推理 + 工具调用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4595812" y="2824162"/>
              <a:ext cx="66675" cy="66675"/>
            </a:xfrm>
            <a:prstGeom prst="ellipse">
              <a:avLst/>
            </a:prstGeom>
            <a:solidFill>
              <a:srgbClr val="0EA5E9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748212" y="2783681"/>
              <a:ext cx="16416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主控 Agent 拆解调度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4595812" y="3300412"/>
              <a:ext cx="66675" cy="66675"/>
            </a:xfrm>
            <a:prstGeom prst="ellipse">
              <a:avLst/>
            </a:prstGeom>
            <a:solidFill>
              <a:srgbClr val="0EA5E9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748212" y="3259931"/>
              <a:ext cx="16157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5 个专业 Agent 分工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4595812" y="3776662"/>
              <a:ext cx="66675" cy="66675"/>
            </a:xfrm>
            <a:prstGeom prst="ellipse">
              <a:avLst/>
            </a:prstGeom>
            <a:solidFill>
              <a:srgbClr val="0EA5E9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748212" y="3736181"/>
              <a:ext cx="17624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ReAct 循环 + 9 个工具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4591050" y="4476750"/>
              <a:ext cx="3009900" cy="9525"/>
            </a:xfrm>
            <a:custGeom>
              <a:avLst/>
              <a:gdLst/>
              <a:ahLst/>
              <a:cxnLst/>
              <a:rect l="l" t="t" r="r" b="b"/>
              <a:pathLst>
                <a:path w="3009900" h="9525">
                  <a:moveTo>
                    <a:pt x="0" y="0"/>
                  </a:moveTo>
                  <a:lnTo>
                    <a:pt x="3009900" y="0"/>
                  </a:lnTo>
                </a:path>
              </a:pathLst>
            </a:custGeom>
            <a:noFill/>
            <a:ln w="14288">
              <a:solidFill>
                <a:srgbClr val="E2E8F0"/>
              </a:solidFill>
              <a:prstDash val="dash"/>
            </a:ln>
          </p:spPr>
        </p:sp>
        <p:sp>
          <p:nvSpPr>
            <p:cNvPr id="44" name="Rectangle 44"/>
            <p:cNvSpPr/>
            <p:nvPr/>
          </p:nvSpPr>
          <p:spPr>
            <a:xfrm>
              <a:off x="4591050" y="4667250"/>
              <a:ext cx="3009900" cy="819150"/>
            </a:xfrm>
            <a:prstGeom prst="roundRect">
              <a:avLst>
                <a:gd name="adj" fmla="val 9302"/>
              </a:avLst>
            </a:prstGeom>
            <a:solidFill>
              <a:srgbClr val="E0F2FE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739527" y="4817745"/>
              <a:ext cx="712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本阶段产出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349089" y="5093018"/>
              <a:ext cx="149382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369A1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Agent 执行轨迹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8115300" y="1619250"/>
            <a:ext cx="3467100" cy="4095750"/>
            <a:chOff x="8115300" y="1619250"/>
            <a:chExt cx="3467100" cy="4095750"/>
          </a:xfrm>
        </p:grpSpPr>
        <p:sp>
          <p:nvSpPr>
            <p:cNvPr id="48" name="Rectangle 48"/>
            <p:cNvSpPr/>
            <p:nvPr/>
          </p:nvSpPr>
          <p:spPr>
            <a:xfrm>
              <a:off x="8115300" y="1619250"/>
              <a:ext cx="3467100" cy="4095750"/>
            </a:xfrm>
            <a:prstGeom prst="roundRect">
              <a:avLst>
                <a:gd name="adj" fmla="val 3297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F172A">
                  <a:alpha val="5250"/>
                </a:srgbClr>
              </a:outerShdw>
            </a:effectLst>
          </p:spPr>
        </p:sp>
        <p:sp>
          <p:nvSpPr>
            <p:cNvPr id="49" name="Freeform 49"/>
            <p:cNvSpPr/>
            <p:nvPr/>
          </p:nvSpPr>
          <p:spPr>
            <a:xfrm>
              <a:off x="8115300" y="1619250"/>
              <a:ext cx="3467100" cy="495300"/>
            </a:xfrm>
            <a:custGeom>
              <a:avLst/>
              <a:gdLst/>
              <a:ahLst/>
              <a:cxnLst/>
              <a:rect l="l" t="t" r="r" b="b"/>
              <a:pathLst>
                <a:path w="3467100" h="495300">
                  <a:moveTo>
                    <a:pt x="0" y="76200"/>
                  </a:moveTo>
                  <a:cubicBezTo>
                    <a:pt x="0" y="34116"/>
                    <a:pt x="34116" y="0"/>
                    <a:pt x="76200" y="0"/>
                  </a:cubicBezTo>
                  <a:lnTo>
                    <a:pt x="3390900" y="0"/>
                  </a:lnTo>
                  <a:cubicBezTo>
                    <a:pt x="3432984" y="0"/>
                    <a:pt x="3467100" y="34116"/>
                    <a:pt x="3467100" y="76200"/>
                  </a:cubicBezTo>
                  <a:lnTo>
                    <a:pt x="3467100" y="495300"/>
                  </a:lnTo>
                  <a:lnTo>
                    <a:pt x="0" y="495300"/>
                  </a:lnTo>
                  <a:close/>
                </a:path>
              </a:pathLst>
            </a:custGeom>
            <a:solidFill>
              <a:srgbClr val="059669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267700" y="1714500"/>
              <a:ext cx="285750" cy="285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294122" y="1784985"/>
              <a:ext cx="2329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596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03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668702" y="1760696"/>
              <a:ext cx="181719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输出 · 可执行方案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115300" y="2114550"/>
              <a:ext cx="3467100" cy="323850"/>
            </a:xfrm>
            <a:prstGeom prst="rect">
              <a:avLst/>
            </a:prstGeom>
            <a:solidFill>
              <a:srgbClr val="ECFDF5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066446" y="2218849"/>
              <a:ext cx="15648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4785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行程 · 预算 · 执行轨迹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8348662" y="2824162"/>
              <a:ext cx="66675" cy="66675"/>
            </a:xfrm>
            <a:prstGeom prst="ellipse">
              <a:avLst/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501062" y="2783681"/>
              <a:ext cx="10637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每日行程安排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8348662" y="3300412"/>
              <a:ext cx="66675" cy="66675"/>
            </a:xfrm>
            <a:prstGeom prst="ellipse">
              <a:avLst/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501062" y="3259931"/>
              <a:ext cx="12621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酒店 → 交通方案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8348662" y="3776662"/>
              <a:ext cx="66675" cy="66675"/>
            </a:xfrm>
            <a:prstGeom prst="ellipse">
              <a:avLst/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501062" y="3736181"/>
              <a:ext cx="16071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预算明细 + 风险提醒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8343900" y="4476750"/>
              <a:ext cx="3009900" cy="9525"/>
            </a:xfrm>
            <a:custGeom>
              <a:avLst/>
              <a:gdLst/>
              <a:ahLst/>
              <a:cxnLst/>
              <a:rect l="l" t="t" r="r" b="b"/>
              <a:pathLst>
                <a:path w="3009900" h="9525">
                  <a:moveTo>
                    <a:pt x="0" y="0"/>
                  </a:moveTo>
                  <a:lnTo>
                    <a:pt x="3009900" y="0"/>
                  </a:lnTo>
                </a:path>
              </a:pathLst>
            </a:custGeom>
            <a:noFill/>
            <a:ln w="14288">
              <a:solidFill>
                <a:srgbClr val="E2E8F0"/>
              </a:solidFill>
              <a:prstDash val="dash"/>
            </a:ln>
          </p:spPr>
        </p:sp>
        <p:sp>
          <p:nvSpPr>
            <p:cNvPr id="62" name="Rectangle 62"/>
            <p:cNvSpPr/>
            <p:nvPr/>
          </p:nvSpPr>
          <p:spPr>
            <a:xfrm>
              <a:off x="8343900" y="4667250"/>
              <a:ext cx="3009900" cy="819150"/>
            </a:xfrm>
            <a:prstGeom prst="roundRect">
              <a:avLst>
                <a:gd name="adj" fmla="val 9302"/>
              </a:avLst>
            </a:prstGeom>
            <a:solidFill>
              <a:srgbClr val="ECFDF5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492377" y="4817745"/>
              <a:ext cx="712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本阶段产出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314140" y="509301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47857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TravelPlan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4114800" y="3486150"/>
            <a:ext cx="4076700" cy="342900"/>
            <a:chOff x="4114800" y="3486150"/>
            <a:chExt cx="4076700" cy="342900"/>
          </a:xfrm>
        </p:grpSpPr>
        <p:sp>
          <p:nvSpPr>
            <p:cNvPr id="66" name="Freeform 66"/>
            <p:cNvSpPr/>
            <p:nvPr/>
          </p:nvSpPr>
          <p:spPr>
            <a:xfrm>
              <a:off x="4114800" y="3486150"/>
              <a:ext cx="323850" cy="342900"/>
            </a:xfrm>
            <a:custGeom>
              <a:avLst/>
              <a:gdLst/>
              <a:ahLst/>
              <a:cxnLst/>
              <a:rect l="l" t="t" r="r" b="b"/>
              <a:pathLst>
                <a:path w="323850" h="342900">
                  <a:moveTo>
                    <a:pt x="0" y="95250"/>
                  </a:moveTo>
                  <a:lnTo>
                    <a:pt x="133350" y="95250"/>
                  </a:lnTo>
                  <a:lnTo>
                    <a:pt x="133350" y="0"/>
                  </a:lnTo>
                  <a:lnTo>
                    <a:pt x="323850" y="171450"/>
                  </a:lnTo>
                  <a:lnTo>
                    <a:pt x="133350" y="342900"/>
                  </a:lnTo>
                  <a:lnTo>
                    <a:pt x="133350" y="247650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  <p:sp>
          <p:nvSpPr>
            <p:cNvPr id="67" name="Freeform 67"/>
            <p:cNvSpPr/>
            <p:nvPr/>
          </p:nvSpPr>
          <p:spPr>
            <a:xfrm>
              <a:off x="7867650" y="3486150"/>
              <a:ext cx="323850" cy="342900"/>
            </a:xfrm>
            <a:custGeom>
              <a:avLst/>
              <a:gdLst/>
              <a:ahLst/>
              <a:cxnLst/>
              <a:rect l="l" t="t" r="r" b="b"/>
              <a:pathLst>
                <a:path w="323850" h="342900">
                  <a:moveTo>
                    <a:pt x="0" y="95250"/>
                  </a:moveTo>
                  <a:lnTo>
                    <a:pt x="133350" y="95250"/>
                  </a:lnTo>
                  <a:lnTo>
                    <a:pt x="133350" y="0"/>
                  </a:lnTo>
                  <a:lnTo>
                    <a:pt x="323850" y="171450"/>
                  </a:lnTo>
                  <a:lnTo>
                    <a:pt x="133350" y="342900"/>
                  </a:lnTo>
                  <a:lnTo>
                    <a:pt x="133350" y="247650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</p:grpSp>
      <p:grpSp>
        <p:nvGrpSpPr>
          <p:cNvPr id="71" name="Group 71"/>
          <p:cNvGrpSpPr/>
          <p:nvPr/>
        </p:nvGrpSpPr>
        <p:grpSpPr>
          <a:xfrm>
            <a:off x="598170" y="6570345"/>
            <a:ext cx="10995660" cy="182880"/>
            <a:chOff x="598170" y="6570345"/>
            <a:chExt cx="10995660" cy="182880"/>
          </a:xfrm>
        </p:grpSpPr>
        <p:sp>
          <p:nvSpPr>
            <p:cNvPr id="69" name="TextBox 69"/>
            <p:cNvSpPr txBox="1"/>
            <p:nvPr/>
          </p:nvSpPr>
          <p:spPr>
            <a:xfrm>
              <a:off x="598170" y="6570345"/>
              <a:ext cx="17973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旅序 · 多 Agent 旅游规划系统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130629" y="6570345"/>
              <a:ext cx="4632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04 / 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7" grpId="0"/>
      <p:bldP spid="65" grpId="0"/>
      <p:bldP spid="6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09600" y="476250"/>
            <a:ext cx="10763250" cy="652462"/>
            <a:chOff x="609600" y="476250"/>
            <a:chExt cx="10763250" cy="652462"/>
          </a:xfrm>
        </p:grpSpPr>
        <p:sp>
          <p:nvSpPr>
            <p:cNvPr id="3" name="Rectangle 3"/>
            <p:cNvSpPr/>
            <p:nvPr/>
          </p:nvSpPr>
          <p:spPr>
            <a:xfrm>
              <a:off x="609600" y="476250"/>
              <a:ext cx="57150" cy="4191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502920"/>
              <a:ext cx="374142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课程核心要求实现情况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915352"/>
              <a:ext cx="30377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COURSE REQUIREMENTS · 必做项全部覆盖</a:t>
              </a:r>
            </a:p>
          </p:txBody>
        </p:sp>
        <p:sp>
          <p:nvSpPr>
            <p:cNvPr id="6" name="Freeform 6"/>
            <p:cNvSpPr/>
            <p:nvPr/>
          </p:nvSpPr>
          <p:spPr>
            <a:xfrm>
              <a:off x="11010900" y="496620"/>
              <a:ext cx="361950" cy="359311"/>
            </a:xfrm>
            <a:custGeom>
              <a:avLst/>
              <a:gdLst/>
              <a:ahLst/>
              <a:cxnLst/>
              <a:rect l="l" t="t" r="r" b="b"/>
              <a:pathLst>
                <a:path w="361950" h="359311">
                  <a:moveTo>
                    <a:pt x="214469" y="0"/>
                  </a:moveTo>
                  <a:lnTo>
                    <a:pt x="214469" y="89904"/>
                  </a:lnTo>
                  <a:lnTo>
                    <a:pt x="158015" y="97463"/>
                  </a:lnTo>
                  <a:lnTo>
                    <a:pt x="158015" y="150598"/>
                  </a:lnTo>
                  <a:lnTo>
                    <a:pt x="214469" y="143040"/>
                  </a:lnTo>
                  <a:lnTo>
                    <a:pt x="214469" y="196932"/>
                  </a:lnTo>
                  <a:lnTo>
                    <a:pt x="267133" y="189887"/>
                  </a:lnTo>
                  <a:lnTo>
                    <a:pt x="267133" y="135991"/>
                  </a:lnTo>
                  <a:lnTo>
                    <a:pt x="361950" y="123303"/>
                  </a:lnTo>
                  <a:lnTo>
                    <a:pt x="354966" y="71102"/>
                  </a:lnTo>
                  <a:lnTo>
                    <a:pt x="267133" y="82856"/>
                  </a:lnTo>
                  <a:lnTo>
                    <a:pt x="267133" y="0"/>
                  </a:lnTo>
                  <a:close/>
                  <a:moveTo>
                    <a:pt x="94816" y="15948"/>
                  </a:moveTo>
                  <a:lnTo>
                    <a:pt x="94816" y="105860"/>
                  </a:lnTo>
                  <a:lnTo>
                    <a:pt x="0" y="118551"/>
                  </a:lnTo>
                  <a:lnTo>
                    <a:pt x="6989" y="170751"/>
                  </a:lnTo>
                  <a:lnTo>
                    <a:pt x="95235" y="158937"/>
                  </a:lnTo>
                  <a:lnTo>
                    <a:pt x="147483" y="151944"/>
                  </a:lnTo>
                  <a:lnTo>
                    <a:pt x="147483" y="15948"/>
                  </a:lnTo>
                  <a:close/>
                  <a:moveTo>
                    <a:pt x="147899" y="162516"/>
                  </a:moveTo>
                  <a:lnTo>
                    <a:pt x="95235" y="169566"/>
                  </a:lnTo>
                  <a:lnTo>
                    <a:pt x="95235" y="223527"/>
                  </a:lnTo>
                  <a:lnTo>
                    <a:pt x="1988" y="236008"/>
                  </a:lnTo>
                  <a:lnTo>
                    <a:pt x="8975" y="288209"/>
                  </a:lnTo>
                  <a:lnTo>
                    <a:pt x="96807" y="276451"/>
                  </a:lnTo>
                  <a:lnTo>
                    <a:pt x="96807" y="359311"/>
                  </a:lnTo>
                  <a:lnTo>
                    <a:pt x="149470" y="359311"/>
                  </a:lnTo>
                  <a:lnTo>
                    <a:pt x="149470" y="269396"/>
                  </a:lnTo>
                  <a:lnTo>
                    <a:pt x="203935" y="262106"/>
                  </a:lnTo>
                  <a:lnTo>
                    <a:pt x="203935" y="208973"/>
                  </a:lnTo>
                  <a:lnTo>
                    <a:pt x="147899" y="216473"/>
                  </a:lnTo>
                  <a:close/>
                  <a:moveTo>
                    <a:pt x="354964" y="188764"/>
                  </a:moveTo>
                  <a:lnTo>
                    <a:pt x="267131" y="200513"/>
                  </a:lnTo>
                  <a:lnTo>
                    <a:pt x="214467" y="207560"/>
                  </a:lnTo>
                  <a:lnTo>
                    <a:pt x="214467" y="343561"/>
                  </a:lnTo>
                  <a:lnTo>
                    <a:pt x="267131" y="343561"/>
                  </a:lnTo>
                  <a:lnTo>
                    <a:pt x="267131" y="253650"/>
                  </a:lnTo>
                  <a:lnTo>
                    <a:pt x="361950" y="240964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</p:grpSp>
      <p:sp>
        <p:nvSpPr>
          <p:cNvPr id="8" name="Line 8"/>
          <p:cNvSpPr/>
          <p:nvPr/>
        </p:nvSpPr>
        <p:spPr>
          <a:xfrm>
            <a:off x="609600" y="12573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</p:sp>
      <p:grpSp>
        <p:nvGrpSpPr>
          <p:cNvPr id="47" name="Group 47"/>
          <p:cNvGrpSpPr/>
          <p:nvPr/>
        </p:nvGrpSpPr>
        <p:grpSpPr>
          <a:xfrm>
            <a:off x="609600" y="1524000"/>
            <a:ext cx="10972800" cy="3390900"/>
            <a:chOff x="609600" y="1524000"/>
            <a:chExt cx="10972800" cy="3390900"/>
          </a:xfrm>
        </p:grpSpPr>
        <p:sp>
          <p:nvSpPr>
            <p:cNvPr id="9" name="Rectangle 9"/>
            <p:cNvSpPr/>
            <p:nvPr/>
          </p:nvSpPr>
          <p:spPr>
            <a:xfrm>
              <a:off x="609600" y="1524000"/>
              <a:ext cx="10972800" cy="3390900"/>
            </a:xfrm>
            <a:prstGeom prst="roundRect">
              <a:avLst>
                <a:gd name="adj" fmla="val 2809"/>
              </a:avLst>
            </a:prstGeom>
            <a:noFill/>
            <a:ln w="14288">
              <a:solidFill>
                <a:srgbClr val="CBD5E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09600" y="1524000"/>
              <a:ext cx="10972800" cy="495300"/>
            </a:xfrm>
            <a:prstGeom prst="roundRect">
              <a:avLst>
                <a:gd name="adj" fmla="val 19231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1905000"/>
              <a:ext cx="10972800" cy="1143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12" name="Line 12"/>
            <p:cNvSpPr/>
            <p:nvPr/>
          </p:nvSpPr>
          <p:spPr>
            <a:xfrm>
              <a:off x="609600" y="20193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4288">
              <a:solidFill>
                <a:srgbClr val="CBD5E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24865" y="1724978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要求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07635" y="1724978"/>
              <a:ext cx="5097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完成度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82665" y="172497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实现说明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4000500" y="1524000"/>
              <a:ext cx="9525" cy="3390900"/>
            </a:xfrm>
            <a:custGeom>
              <a:avLst/>
              <a:gdLst/>
              <a:ahLst/>
              <a:cxnLst/>
              <a:rect l="l" t="t" r="r" b="b"/>
              <a:pathLst>
                <a:path w="9525" h="3390900">
                  <a:moveTo>
                    <a:pt x="0" y="0"/>
                  </a:moveTo>
                  <a:lnTo>
                    <a:pt x="0" y="3390900"/>
                  </a:lnTo>
                </a:path>
              </a:pathLst>
            </a:custGeom>
            <a:noFill/>
            <a:ln w="14288">
              <a:solidFill>
                <a:srgbClr val="E2E8F0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5867400" y="1524000"/>
              <a:ext cx="9525" cy="3390900"/>
            </a:xfrm>
            <a:custGeom>
              <a:avLst/>
              <a:gdLst/>
              <a:ahLst/>
              <a:cxnLst/>
              <a:rect l="l" t="t" r="r" b="b"/>
              <a:pathLst>
                <a:path w="9525" h="3390900">
                  <a:moveTo>
                    <a:pt x="0" y="0"/>
                  </a:moveTo>
                  <a:lnTo>
                    <a:pt x="0" y="3390900"/>
                  </a:lnTo>
                </a:path>
              </a:pathLst>
            </a:custGeom>
            <a:noFill/>
            <a:ln w="14288">
              <a:solidFill>
                <a:srgbClr val="E2E8F0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609600" y="2228850"/>
              <a:ext cx="10972800" cy="371475"/>
              <a:chOff x="609600" y="2228850"/>
              <a:chExt cx="10972800" cy="371475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822008" y="2262664"/>
                <a:ext cx="84381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0F172A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LLM 集成</a:t>
                </a:r>
              </a:p>
            </p:txBody>
          </p:sp>
          <p:sp>
            <p:nvSpPr>
              <p:cNvPr id="19" name="Freeform 19"/>
              <p:cNvSpPr/>
              <p:nvPr/>
            </p:nvSpPr>
            <p:spPr>
              <a:xfrm>
                <a:off x="4210050" y="2228850"/>
                <a:ext cx="2095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09550">
                    <a:moveTo>
                      <a:pt x="104775" y="209550"/>
                    </a:moveTo>
                    <a:cubicBezTo>
                      <a:pt x="162641" y="209550"/>
                      <a:pt x="209550" y="162641"/>
                      <a:pt x="209550" y="104775"/>
                    </a:cubicBezTo>
                    <a:cubicBezTo>
                      <a:pt x="209550" y="46909"/>
                      <a:pt x="162641" y="0"/>
                      <a:pt x="104775" y="0"/>
                    </a:cubicBezTo>
                    <a:cubicBezTo>
                      <a:pt x="46909" y="0"/>
                      <a:pt x="0" y="46909"/>
                      <a:pt x="0" y="104775"/>
                    </a:cubicBezTo>
                    <a:cubicBezTo>
                      <a:pt x="0" y="162641"/>
                      <a:pt x="46909" y="209550"/>
                      <a:pt x="104775" y="209550"/>
                    </a:cubicBezTo>
                    <a:close/>
                    <a:moveTo>
                      <a:pt x="166423" y="74745"/>
                    </a:moveTo>
                    <a:lnTo>
                      <a:pt x="147902" y="56223"/>
                    </a:lnTo>
                    <a:lnTo>
                      <a:pt x="85130" y="118995"/>
                    </a:lnTo>
                    <a:lnTo>
                      <a:pt x="61648" y="95514"/>
                    </a:lnTo>
                    <a:lnTo>
                      <a:pt x="43127" y="114036"/>
                    </a:lnTo>
                    <a:lnTo>
                      <a:pt x="85130" y="156039"/>
                    </a:lnTo>
                    <a:lnTo>
                      <a:pt x="166423" y="74745"/>
                    </a:lnTo>
                    <a:close/>
                  </a:path>
                </a:pathLst>
              </a:custGeom>
              <a:solidFill>
                <a:srgbClr val="059669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482465" y="2286952"/>
                <a:ext cx="5097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59669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已实现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081712" y="2278856"/>
                <a:ext cx="43909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34155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DeepSeekLlmClient 基于 HttpClient 调用 OpenAI 兼容接口</a:t>
                </a:r>
              </a:p>
            </p:txBody>
          </p:sp>
          <p:sp>
            <p:nvSpPr>
              <p:cNvPr id="22" name="Line 22"/>
              <p:cNvSpPr/>
              <p:nvPr/>
            </p:nvSpPr>
            <p:spPr>
              <a:xfrm>
                <a:off x="609600" y="25908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609600" y="2800350"/>
              <a:ext cx="10972800" cy="371475"/>
              <a:chOff x="609600" y="2800350"/>
              <a:chExt cx="10972800" cy="371475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822008" y="2834164"/>
                <a:ext cx="1058888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0F172A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Agent Loop</a:t>
                </a:r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4210050" y="2800350"/>
                <a:ext cx="2095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09550">
                    <a:moveTo>
                      <a:pt x="104775" y="209550"/>
                    </a:moveTo>
                    <a:cubicBezTo>
                      <a:pt x="162641" y="209550"/>
                      <a:pt x="209550" y="162641"/>
                      <a:pt x="209550" y="104775"/>
                    </a:cubicBezTo>
                    <a:cubicBezTo>
                      <a:pt x="209550" y="46909"/>
                      <a:pt x="162641" y="0"/>
                      <a:pt x="104775" y="0"/>
                    </a:cubicBezTo>
                    <a:cubicBezTo>
                      <a:pt x="46909" y="0"/>
                      <a:pt x="0" y="46909"/>
                      <a:pt x="0" y="104775"/>
                    </a:cubicBezTo>
                    <a:cubicBezTo>
                      <a:pt x="0" y="162641"/>
                      <a:pt x="46909" y="209550"/>
                      <a:pt x="104775" y="209550"/>
                    </a:cubicBezTo>
                    <a:close/>
                    <a:moveTo>
                      <a:pt x="166423" y="74745"/>
                    </a:moveTo>
                    <a:lnTo>
                      <a:pt x="147902" y="56223"/>
                    </a:lnTo>
                    <a:lnTo>
                      <a:pt x="85130" y="118995"/>
                    </a:lnTo>
                    <a:lnTo>
                      <a:pt x="61648" y="95514"/>
                    </a:lnTo>
                    <a:lnTo>
                      <a:pt x="43127" y="114036"/>
                    </a:lnTo>
                    <a:lnTo>
                      <a:pt x="85130" y="156039"/>
                    </a:lnTo>
                    <a:lnTo>
                      <a:pt x="166423" y="74745"/>
                    </a:lnTo>
                    <a:close/>
                  </a:path>
                </a:pathLst>
              </a:custGeom>
              <a:solidFill>
                <a:srgbClr val="059669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4482465" y="2858452"/>
                <a:ext cx="5097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59669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已实现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081712" y="2850356"/>
                <a:ext cx="465379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34155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AgentLoop.cs 手写 ReAct：Thought → Action → Observation</a:t>
                </a:r>
              </a:p>
            </p:txBody>
          </p:sp>
          <p:sp>
            <p:nvSpPr>
              <p:cNvPr id="28" name="Line 28"/>
              <p:cNvSpPr/>
              <p:nvPr/>
            </p:nvSpPr>
            <p:spPr>
              <a:xfrm>
                <a:off x="609600" y="31623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</p:grpSp>
        <p:grpSp>
          <p:nvGrpSpPr>
            <p:cNvPr id="35" name="Group 35"/>
            <p:cNvGrpSpPr/>
            <p:nvPr/>
          </p:nvGrpSpPr>
          <p:grpSpPr>
            <a:xfrm>
              <a:off x="609600" y="3371850"/>
              <a:ext cx="10972800" cy="371475"/>
              <a:chOff x="609600" y="3371850"/>
              <a:chExt cx="10972800" cy="371475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822008" y="3405664"/>
                <a:ext cx="142060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0F172A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工具调用（≥3）</a:t>
                </a:r>
              </a:p>
            </p:txBody>
          </p:sp>
          <p:sp>
            <p:nvSpPr>
              <p:cNvPr id="31" name="Freeform 31"/>
              <p:cNvSpPr/>
              <p:nvPr/>
            </p:nvSpPr>
            <p:spPr>
              <a:xfrm>
                <a:off x="4210050" y="3371850"/>
                <a:ext cx="2095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09550">
                    <a:moveTo>
                      <a:pt x="104775" y="209550"/>
                    </a:moveTo>
                    <a:cubicBezTo>
                      <a:pt x="162641" y="209550"/>
                      <a:pt x="209550" y="162641"/>
                      <a:pt x="209550" y="104775"/>
                    </a:cubicBezTo>
                    <a:cubicBezTo>
                      <a:pt x="209550" y="46909"/>
                      <a:pt x="162641" y="0"/>
                      <a:pt x="104775" y="0"/>
                    </a:cubicBezTo>
                    <a:cubicBezTo>
                      <a:pt x="46909" y="0"/>
                      <a:pt x="0" y="46909"/>
                      <a:pt x="0" y="104775"/>
                    </a:cubicBezTo>
                    <a:cubicBezTo>
                      <a:pt x="0" y="162641"/>
                      <a:pt x="46909" y="209550"/>
                      <a:pt x="104775" y="209550"/>
                    </a:cubicBezTo>
                    <a:close/>
                    <a:moveTo>
                      <a:pt x="166423" y="74745"/>
                    </a:moveTo>
                    <a:lnTo>
                      <a:pt x="147902" y="56223"/>
                    </a:lnTo>
                    <a:lnTo>
                      <a:pt x="85130" y="118995"/>
                    </a:lnTo>
                    <a:lnTo>
                      <a:pt x="61648" y="95514"/>
                    </a:lnTo>
                    <a:lnTo>
                      <a:pt x="43127" y="114036"/>
                    </a:lnTo>
                    <a:lnTo>
                      <a:pt x="85130" y="156039"/>
                    </a:lnTo>
                    <a:lnTo>
                      <a:pt x="166423" y="74745"/>
                    </a:lnTo>
                    <a:close/>
                  </a:path>
                </a:pathLst>
              </a:custGeom>
              <a:solidFill>
                <a:srgbClr val="059669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4482465" y="3429952"/>
                <a:ext cx="5097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59669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已实现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081712" y="3421856"/>
                <a:ext cx="32407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563E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9 个</a:t>
                </a:r>
                <a:r>
                  <a:rPr lang="zh-CN" sz="1125" dirty="0">
                    <a:solidFill>
                      <a:srgbClr val="334155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自定义工具经 ToolRegistry 注册与调用</a:t>
                </a:r>
              </a:p>
            </p:txBody>
          </p:sp>
          <p:sp>
            <p:nvSpPr>
              <p:cNvPr id="34" name="Line 34"/>
              <p:cNvSpPr/>
              <p:nvPr/>
            </p:nvSpPr>
            <p:spPr>
              <a:xfrm>
                <a:off x="609600" y="37338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</p:grpSp>
        <p:grpSp>
          <p:nvGrpSpPr>
            <p:cNvPr id="41" name="Group 41"/>
            <p:cNvGrpSpPr/>
            <p:nvPr/>
          </p:nvGrpSpPr>
          <p:grpSpPr>
            <a:xfrm>
              <a:off x="609600" y="3943350"/>
              <a:ext cx="10972800" cy="371475"/>
              <a:chOff x="609600" y="3943350"/>
              <a:chExt cx="10972800" cy="371475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822008" y="3977164"/>
                <a:ext cx="75582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0F172A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Memory</a:t>
                </a:r>
              </a:p>
            </p:txBody>
          </p:sp>
          <p:sp>
            <p:nvSpPr>
              <p:cNvPr id="37" name="Freeform 37"/>
              <p:cNvSpPr/>
              <p:nvPr/>
            </p:nvSpPr>
            <p:spPr>
              <a:xfrm>
                <a:off x="4210050" y="3943350"/>
                <a:ext cx="2095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09550">
                    <a:moveTo>
                      <a:pt x="104775" y="209550"/>
                    </a:moveTo>
                    <a:cubicBezTo>
                      <a:pt x="162641" y="209550"/>
                      <a:pt x="209550" y="162641"/>
                      <a:pt x="209550" y="104775"/>
                    </a:cubicBezTo>
                    <a:cubicBezTo>
                      <a:pt x="209550" y="46909"/>
                      <a:pt x="162641" y="0"/>
                      <a:pt x="104775" y="0"/>
                    </a:cubicBezTo>
                    <a:cubicBezTo>
                      <a:pt x="46909" y="0"/>
                      <a:pt x="0" y="46909"/>
                      <a:pt x="0" y="104775"/>
                    </a:cubicBezTo>
                    <a:cubicBezTo>
                      <a:pt x="0" y="162641"/>
                      <a:pt x="46909" y="209550"/>
                      <a:pt x="104775" y="209550"/>
                    </a:cubicBezTo>
                    <a:close/>
                    <a:moveTo>
                      <a:pt x="166423" y="74745"/>
                    </a:moveTo>
                    <a:lnTo>
                      <a:pt x="147902" y="56223"/>
                    </a:lnTo>
                    <a:lnTo>
                      <a:pt x="85130" y="118995"/>
                    </a:lnTo>
                    <a:lnTo>
                      <a:pt x="61648" y="95514"/>
                    </a:lnTo>
                    <a:lnTo>
                      <a:pt x="43127" y="114036"/>
                    </a:lnTo>
                    <a:lnTo>
                      <a:pt x="85130" y="156039"/>
                    </a:lnTo>
                    <a:lnTo>
                      <a:pt x="166423" y="74745"/>
                    </a:lnTo>
                    <a:close/>
                  </a:path>
                </a:pathLst>
              </a:custGeom>
              <a:solidFill>
                <a:srgbClr val="059669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4482465" y="4001452"/>
                <a:ext cx="5097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59669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已实现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081712" y="3993356"/>
                <a:ext cx="37829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34155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短期消息上下文 + 长期 JSON（App_Data/*.json）</a:t>
                </a:r>
              </a:p>
            </p:txBody>
          </p:sp>
          <p:sp>
            <p:nvSpPr>
              <p:cNvPr id="40" name="Line 40"/>
              <p:cNvSpPr/>
              <p:nvPr/>
            </p:nvSpPr>
            <p:spPr>
              <a:xfrm>
                <a:off x="609600" y="43053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rgbClr val="E2E8F0"/>
                </a:solidFill>
              </a:ln>
            </p:spPr>
          </p:sp>
        </p:grpSp>
        <p:grpSp>
          <p:nvGrpSpPr>
            <p:cNvPr id="46" name="Group 46"/>
            <p:cNvGrpSpPr/>
            <p:nvPr/>
          </p:nvGrpSpPr>
          <p:grpSpPr>
            <a:xfrm>
              <a:off x="822008" y="4514850"/>
              <a:ext cx="8056839" cy="292894"/>
              <a:chOff x="822008" y="4514850"/>
              <a:chExt cx="8056839" cy="292894"/>
            </a:xfrm>
          </p:grpSpPr>
          <p:sp>
            <p:nvSpPr>
              <p:cNvPr id="42" name="TextBox 42"/>
              <p:cNvSpPr txBox="1"/>
              <p:nvPr/>
            </p:nvSpPr>
            <p:spPr>
              <a:xfrm>
                <a:off x="822008" y="4548664"/>
                <a:ext cx="84381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0F172A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Web 界面</a:t>
                </a:r>
              </a:p>
            </p:txBody>
          </p:sp>
          <p:sp>
            <p:nvSpPr>
              <p:cNvPr id="43" name="Freeform 43"/>
              <p:cNvSpPr/>
              <p:nvPr/>
            </p:nvSpPr>
            <p:spPr>
              <a:xfrm>
                <a:off x="4210050" y="4514850"/>
                <a:ext cx="2095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09550">
                    <a:moveTo>
                      <a:pt x="104775" y="209550"/>
                    </a:moveTo>
                    <a:cubicBezTo>
                      <a:pt x="162641" y="209550"/>
                      <a:pt x="209550" y="162641"/>
                      <a:pt x="209550" y="104775"/>
                    </a:cubicBezTo>
                    <a:cubicBezTo>
                      <a:pt x="209550" y="46909"/>
                      <a:pt x="162641" y="0"/>
                      <a:pt x="104775" y="0"/>
                    </a:cubicBezTo>
                    <a:cubicBezTo>
                      <a:pt x="46909" y="0"/>
                      <a:pt x="0" y="46909"/>
                      <a:pt x="0" y="104775"/>
                    </a:cubicBezTo>
                    <a:cubicBezTo>
                      <a:pt x="0" y="162641"/>
                      <a:pt x="46909" y="209550"/>
                      <a:pt x="104775" y="209550"/>
                    </a:cubicBezTo>
                    <a:close/>
                    <a:moveTo>
                      <a:pt x="166423" y="74745"/>
                    </a:moveTo>
                    <a:lnTo>
                      <a:pt x="147902" y="56223"/>
                    </a:lnTo>
                    <a:lnTo>
                      <a:pt x="85130" y="118995"/>
                    </a:lnTo>
                    <a:lnTo>
                      <a:pt x="61648" y="95514"/>
                    </a:lnTo>
                    <a:lnTo>
                      <a:pt x="43127" y="114036"/>
                    </a:lnTo>
                    <a:lnTo>
                      <a:pt x="85130" y="156039"/>
                    </a:lnTo>
                    <a:lnTo>
                      <a:pt x="166423" y="74745"/>
                    </a:lnTo>
                    <a:close/>
                  </a:path>
                </a:pathLst>
              </a:custGeom>
              <a:solidFill>
                <a:srgbClr val="059669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4482465" y="4572952"/>
                <a:ext cx="5097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59669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已实现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081712" y="4564856"/>
                <a:ext cx="279713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334155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wwwroot 响应式界面 + SSE 流式输出</a:t>
                </a: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609600" y="5143500"/>
            <a:ext cx="10972800" cy="1104900"/>
            <a:chOff x="609600" y="5143500"/>
            <a:chExt cx="10972800" cy="1104900"/>
          </a:xfrm>
        </p:grpSpPr>
        <p:sp>
          <p:nvSpPr>
            <p:cNvPr id="48" name="Rectangle 48"/>
            <p:cNvSpPr/>
            <p:nvPr/>
          </p:nvSpPr>
          <p:spPr>
            <a:xfrm>
              <a:off x="609600" y="5143500"/>
              <a:ext cx="10972800" cy="1104900"/>
            </a:xfrm>
            <a:prstGeom prst="roundRect">
              <a:avLst>
                <a:gd name="adj" fmla="val 10345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09600" y="5143500"/>
              <a:ext cx="57150" cy="11049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61060" y="535686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563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进阶功能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61060" y="5661660"/>
              <a:ext cx="557745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多 Agent 协作 · MCP Server · 流式输出 · 可观测性 · 17 个 xUnit 测试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98170" y="6570345"/>
            <a:ext cx="10995660" cy="182880"/>
            <a:chOff x="598170" y="6570345"/>
            <a:chExt cx="10995660" cy="182880"/>
          </a:xfrm>
        </p:grpSpPr>
        <p:sp>
          <p:nvSpPr>
            <p:cNvPr id="55" name="TextBox 55"/>
            <p:cNvSpPr txBox="1"/>
            <p:nvPr/>
          </p:nvSpPr>
          <p:spPr>
            <a:xfrm>
              <a:off x="598170" y="6570345"/>
              <a:ext cx="17973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旅序 · 多 Agent 旅游规划系统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130629" y="6570345"/>
              <a:ext cx="4632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05 / 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609600" y="476250"/>
            <a:ext cx="10701337" cy="652462"/>
            <a:chOff x="609600" y="476250"/>
            <a:chExt cx="10701337" cy="652462"/>
          </a:xfrm>
        </p:grpSpPr>
        <p:sp>
          <p:nvSpPr>
            <p:cNvPr id="3" name="Rectangle 3"/>
            <p:cNvSpPr/>
            <p:nvPr/>
          </p:nvSpPr>
          <p:spPr>
            <a:xfrm>
              <a:off x="609600" y="476250"/>
              <a:ext cx="57150" cy="4191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502920"/>
              <a:ext cx="337337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四层架构与职责边界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915352"/>
              <a:ext cx="373013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SYSTEM ARCHITECTURE · 以 C# 强类型整合各层能力</a:t>
              </a:r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10977562" y="495300"/>
              <a:ext cx="333375" cy="381000"/>
              <a:chOff x="10977562" y="495300"/>
              <a:chExt cx="333375" cy="3810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0977562" y="495300"/>
                <a:ext cx="333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190500">
                    <a:moveTo>
                      <a:pt x="0" y="119062"/>
                    </a:moveTo>
                    <a:lnTo>
                      <a:pt x="0" y="71438"/>
                    </a:lnTo>
                    <a:lnTo>
                      <a:pt x="166688" y="0"/>
                    </a:lnTo>
                    <a:lnTo>
                      <a:pt x="333375" y="71438"/>
                    </a:lnTo>
                    <a:lnTo>
                      <a:pt x="333375" y="119062"/>
                    </a:lnTo>
                    <a:lnTo>
                      <a:pt x="166688" y="190500"/>
                    </a:lnTo>
                    <a:lnTo>
                      <a:pt x="0" y="119062"/>
                    </a:ln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977562" y="757238"/>
                <a:ext cx="333375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119062">
                    <a:moveTo>
                      <a:pt x="166688" y="119062"/>
                    </a:moveTo>
                    <a:lnTo>
                      <a:pt x="0" y="47625"/>
                    </a:lnTo>
                    <a:lnTo>
                      <a:pt x="0" y="0"/>
                    </a:lnTo>
                    <a:lnTo>
                      <a:pt x="166688" y="71438"/>
                    </a:lnTo>
                    <a:lnTo>
                      <a:pt x="333375" y="0"/>
                    </a:lnTo>
                    <a:lnTo>
                      <a:pt x="333375" y="47625"/>
                    </a:lnTo>
                    <a:lnTo>
                      <a:pt x="166688" y="119062"/>
                    </a:ln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977562" y="661988"/>
                <a:ext cx="333375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119062">
                    <a:moveTo>
                      <a:pt x="0" y="47625"/>
                    </a:moveTo>
                    <a:lnTo>
                      <a:pt x="166688" y="119062"/>
                    </a:lnTo>
                    <a:lnTo>
                      <a:pt x="333375" y="47625"/>
                    </a:lnTo>
                    <a:lnTo>
                      <a:pt x="333375" y="0"/>
                    </a:lnTo>
                    <a:lnTo>
                      <a:pt x="166688" y="71438"/>
                    </a:lnTo>
                    <a:lnTo>
                      <a:pt x="0" y="0"/>
                    </a:lnTo>
                    <a:lnTo>
                      <a:pt x="0" y="47625"/>
                    </a:ln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</p:grpSp>
      </p:grpSp>
      <p:sp>
        <p:nvSpPr>
          <p:cNvPr id="11" name="Line 11"/>
          <p:cNvSpPr/>
          <p:nvPr/>
        </p:nvSpPr>
        <p:spPr>
          <a:xfrm>
            <a:off x="609600" y="12573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</p:sp>
      <p:grpSp>
        <p:nvGrpSpPr>
          <p:cNvPr id="29" name="Group 29"/>
          <p:cNvGrpSpPr/>
          <p:nvPr/>
        </p:nvGrpSpPr>
        <p:grpSpPr>
          <a:xfrm>
            <a:off x="609600" y="1447800"/>
            <a:ext cx="9105900" cy="1009650"/>
            <a:chOff x="609600" y="1447800"/>
            <a:chExt cx="9105900" cy="1009650"/>
          </a:xfrm>
        </p:grpSpPr>
        <p:sp>
          <p:nvSpPr>
            <p:cNvPr id="12" name="Rectangle 12"/>
            <p:cNvSpPr/>
            <p:nvPr/>
          </p:nvSpPr>
          <p:spPr>
            <a:xfrm>
              <a:off x="609600" y="1447800"/>
              <a:ext cx="381000" cy="1009650"/>
            </a:xfrm>
            <a:prstGeom prst="roundRect">
              <a:avLst>
                <a:gd name="adj" fmla="val 2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83288" y="1857375"/>
              <a:ext cx="23362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01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66800" y="1447800"/>
              <a:ext cx="8648700" cy="1009650"/>
            </a:xfrm>
            <a:prstGeom prst="roundRect">
              <a:avLst>
                <a:gd name="adj" fmla="val 9434"/>
              </a:avLst>
            </a:prstGeom>
            <a:solidFill>
              <a:srgbClr val="EFF6FF"/>
            </a:solidFill>
            <a:ln w="14288">
              <a:solidFill>
                <a:srgbClr val="BFDBFE"/>
              </a:solidFill>
              <a:custDash>
                <a:ds d="400000" sp="266666"/>
              </a:custDash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06818" y="1552099"/>
              <a:ext cx="16918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563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表现层 · 用户与外部交互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1219200" y="1771650"/>
              <a:ext cx="8362950" cy="571500"/>
              <a:chOff x="1219200" y="1771650"/>
              <a:chExt cx="8362950" cy="5715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1219200" y="1771650"/>
                <a:ext cx="196215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357312" y="1897856"/>
                <a:ext cx="74453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E293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Web 界面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360170" y="2131695"/>
                <a:ext cx="91011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4748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wwwroot 前端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3371850" y="1771650"/>
                <a:ext cx="196215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3509962" y="1897856"/>
                <a:ext cx="70140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E293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REST API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512820" y="2131695"/>
                <a:ext cx="69980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4748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规划 / 流式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5524500" y="1771650"/>
                <a:ext cx="196215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5662612" y="1897856"/>
                <a:ext cx="96881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E293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MCP Server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665470" y="2131695"/>
                <a:ext cx="81153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4748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工具能力暴露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7677150" y="17716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815262" y="1897856"/>
                <a:ext cx="71003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E293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SSE 推送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818120" y="2131695"/>
                <a:ext cx="81153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4748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实时执行轨迹</a:t>
                </a:r>
              </a:p>
            </p:txBody>
          </p:sp>
        </p:grpSp>
      </p:grpSp>
      <p:grpSp>
        <p:nvGrpSpPr>
          <p:cNvPr id="47" name="Group 47"/>
          <p:cNvGrpSpPr/>
          <p:nvPr/>
        </p:nvGrpSpPr>
        <p:grpSpPr>
          <a:xfrm>
            <a:off x="609600" y="2571750"/>
            <a:ext cx="9105900" cy="1009650"/>
            <a:chOff x="609600" y="2571750"/>
            <a:chExt cx="9105900" cy="1009650"/>
          </a:xfrm>
        </p:grpSpPr>
        <p:sp>
          <p:nvSpPr>
            <p:cNvPr id="30" name="Rectangle 30"/>
            <p:cNvSpPr/>
            <p:nvPr/>
          </p:nvSpPr>
          <p:spPr>
            <a:xfrm>
              <a:off x="609600" y="2571750"/>
              <a:ext cx="381000" cy="1009650"/>
            </a:xfrm>
            <a:prstGeom prst="roundRect">
              <a:avLst>
                <a:gd name="adj" fmla="val 20000"/>
              </a:avLst>
            </a:prstGeom>
            <a:solidFill>
              <a:srgbClr val="0EA5E9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4534" y="2981325"/>
              <a:ext cx="2911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02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066800" y="2571750"/>
              <a:ext cx="8648700" cy="1009650"/>
            </a:xfrm>
            <a:prstGeom prst="roundRect">
              <a:avLst>
                <a:gd name="adj" fmla="val 9434"/>
              </a:avLst>
            </a:prstGeom>
            <a:solidFill>
              <a:srgbClr val="E0F2FE"/>
            </a:solidFill>
            <a:ln w="14288">
              <a:solidFill>
                <a:srgbClr val="7DD3FC"/>
              </a:solidFill>
              <a:custDash>
                <a:ds d="400000" sp="266666"/>
              </a:custDash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206818" y="2676049"/>
              <a:ext cx="17442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369A1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应用层 · 多 Agent 与控制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1219200" y="2895600"/>
              <a:ext cx="8362950" cy="571500"/>
              <a:chOff x="1219200" y="2895600"/>
              <a:chExt cx="8362950" cy="5715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1219200" y="2895600"/>
                <a:ext cx="196215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1357312" y="3021806"/>
                <a:ext cx="89980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E293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主控 Agent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360170" y="3255645"/>
                <a:ext cx="69980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4748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拆解 / 整合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3371850" y="2895600"/>
                <a:ext cx="196215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3509962" y="3021806"/>
                <a:ext cx="114133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E293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专业 Agent ×5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3512820" y="3255645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4748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分工协作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5524500" y="2895600"/>
                <a:ext cx="196215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5662612" y="3021806"/>
                <a:ext cx="88255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E293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AgentLoop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5665470" y="3255645"/>
                <a:ext cx="81810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4748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ReAct 控制器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7677150" y="28956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815262" y="3021806"/>
                <a:ext cx="108095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E293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ToolRegistry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818120" y="3255645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4748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工具注册</a:t>
                </a: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609600" y="3695700"/>
            <a:ext cx="9105900" cy="1009650"/>
            <a:chOff x="609600" y="3695700"/>
            <a:chExt cx="9105900" cy="1009650"/>
          </a:xfrm>
        </p:grpSpPr>
        <p:sp>
          <p:nvSpPr>
            <p:cNvPr id="48" name="Rectangle 48"/>
            <p:cNvSpPr/>
            <p:nvPr/>
          </p:nvSpPr>
          <p:spPr>
            <a:xfrm>
              <a:off x="609600" y="3695700"/>
              <a:ext cx="381000" cy="1009650"/>
            </a:xfrm>
            <a:prstGeom prst="roundRect">
              <a:avLst>
                <a:gd name="adj" fmla="val 20000"/>
              </a:avLst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4534" y="4105275"/>
              <a:ext cx="2911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03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066800" y="3695700"/>
              <a:ext cx="8648700" cy="1009650"/>
            </a:xfrm>
            <a:prstGeom prst="roundRect">
              <a:avLst>
                <a:gd name="adj" fmla="val 9434"/>
              </a:avLst>
            </a:prstGeom>
            <a:solidFill>
              <a:srgbClr val="ECFDF5"/>
            </a:solidFill>
            <a:ln w="14288">
              <a:solidFill>
                <a:srgbClr val="6EE7B7"/>
              </a:solidFill>
              <a:custDash>
                <a:ds d="400000" sp="266666"/>
              </a:custDash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206818" y="3799999"/>
              <a:ext cx="13928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04785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领域层 · 强类型模型</a:t>
              </a:r>
            </a:p>
          </p:txBody>
        </p:sp>
        <p:grpSp>
          <p:nvGrpSpPr>
            <p:cNvPr id="64" name="Group 64"/>
            <p:cNvGrpSpPr/>
            <p:nvPr/>
          </p:nvGrpSpPr>
          <p:grpSpPr>
            <a:xfrm>
              <a:off x="1219200" y="4019550"/>
              <a:ext cx="8362950" cy="571500"/>
              <a:chOff x="1219200" y="4019550"/>
              <a:chExt cx="8362950" cy="5715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1219200" y="4019550"/>
                <a:ext cx="196215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1357312" y="4145756"/>
                <a:ext cx="121897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E293B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TravelRequest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1360170" y="4379595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4748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需求模型</a:t>
                </a:r>
              </a:p>
            </p:txBody>
          </p:sp>
          <p:sp>
            <p:nvSpPr>
              <p:cNvPr id="55" name="Rectangle 55"/>
              <p:cNvSpPr/>
              <p:nvPr/>
            </p:nvSpPr>
            <p:spPr>
              <a:xfrm>
                <a:off x="3371850" y="4019550"/>
                <a:ext cx="196215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3509962" y="4145756"/>
                <a:ext cx="89118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E293B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TravelPlan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3512820" y="4379595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4748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方案模型</a:t>
                </a:r>
              </a:p>
            </p:txBody>
          </p:sp>
          <p:sp>
            <p:nvSpPr>
              <p:cNvPr id="58" name="Rectangle 58"/>
              <p:cNvSpPr/>
              <p:nvPr/>
            </p:nvSpPr>
            <p:spPr>
              <a:xfrm>
                <a:off x="5524500" y="4019550"/>
                <a:ext cx="196215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5662612" y="4145756"/>
                <a:ext cx="9774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E293B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AgentTrace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5665470" y="4379595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4748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执行轨迹</a:t>
                </a:r>
              </a:p>
            </p:txBody>
          </p:sp>
          <p:sp>
            <p:nvSpPr>
              <p:cNvPr id="61" name="Rectangle 61"/>
              <p:cNvSpPr/>
              <p:nvPr/>
            </p:nvSpPr>
            <p:spPr>
              <a:xfrm>
                <a:off x="7677150" y="401955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7815262" y="4145756"/>
                <a:ext cx="89118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E293B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ToolResult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7818120" y="4379595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4748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工具结果</a:t>
                </a:r>
              </a:p>
            </p:txBody>
          </p:sp>
        </p:grpSp>
      </p:grpSp>
      <p:grpSp>
        <p:nvGrpSpPr>
          <p:cNvPr id="83" name="Group 83"/>
          <p:cNvGrpSpPr/>
          <p:nvPr/>
        </p:nvGrpSpPr>
        <p:grpSpPr>
          <a:xfrm>
            <a:off x="609600" y="4819650"/>
            <a:ext cx="9105900" cy="1009650"/>
            <a:chOff x="609600" y="4819650"/>
            <a:chExt cx="9105900" cy="1009650"/>
          </a:xfrm>
        </p:grpSpPr>
        <p:sp>
          <p:nvSpPr>
            <p:cNvPr id="66" name="Rectangle 66"/>
            <p:cNvSpPr/>
            <p:nvPr/>
          </p:nvSpPr>
          <p:spPr>
            <a:xfrm>
              <a:off x="609600" y="4819650"/>
              <a:ext cx="381000" cy="1009650"/>
            </a:xfrm>
            <a:prstGeom prst="roundRect">
              <a:avLst>
                <a:gd name="adj" fmla="val 20000"/>
              </a:avLst>
            </a:prstGeom>
            <a:solidFill>
              <a:srgbClr val="64748B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54534" y="5229225"/>
              <a:ext cx="2911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04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1066800" y="4819650"/>
              <a:ext cx="8648700" cy="1009650"/>
            </a:xfrm>
            <a:prstGeom prst="roundRect">
              <a:avLst>
                <a:gd name="adj" fmla="val 9434"/>
              </a:avLst>
            </a:prstGeom>
            <a:solidFill>
              <a:srgbClr val="F1F5F9"/>
            </a:solidFill>
            <a:ln w="14288">
              <a:solidFill>
                <a:srgbClr val="CBD5E1"/>
              </a:solidFill>
              <a:custDash>
                <a:ds d="400000" sp="266666"/>
              </a:custDash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206818" y="4923949"/>
              <a:ext cx="19909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基础设施层 · 外部依赖与数据</a:t>
              </a:r>
            </a:p>
          </p:txBody>
        </p:sp>
        <p:grpSp>
          <p:nvGrpSpPr>
            <p:cNvPr id="82" name="Group 82"/>
            <p:cNvGrpSpPr/>
            <p:nvPr/>
          </p:nvGrpSpPr>
          <p:grpSpPr>
            <a:xfrm>
              <a:off x="1219200" y="5143500"/>
              <a:ext cx="8362950" cy="571500"/>
              <a:chOff x="1219200" y="5143500"/>
              <a:chExt cx="8362950" cy="571500"/>
            </a:xfrm>
          </p:grpSpPr>
          <p:sp>
            <p:nvSpPr>
              <p:cNvPr id="70" name="Rectangle 70"/>
              <p:cNvSpPr/>
              <p:nvPr/>
            </p:nvSpPr>
            <p:spPr>
              <a:xfrm>
                <a:off x="1219200" y="5143500"/>
                <a:ext cx="196215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1357312" y="5269706"/>
                <a:ext cx="10292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E293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ResilientLlm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1360170" y="5503545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4748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降级调用</a:t>
                </a:r>
              </a:p>
            </p:txBody>
          </p:sp>
          <p:sp>
            <p:nvSpPr>
              <p:cNvPr id="73" name="Rectangle 73"/>
              <p:cNvSpPr/>
              <p:nvPr/>
            </p:nvSpPr>
            <p:spPr>
              <a:xfrm>
                <a:off x="3371850" y="5143500"/>
                <a:ext cx="196215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3509962" y="5269706"/>
                <a:ext cx="69278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E293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9 个工具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3512820" y="5503545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4748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能力实现</a:t>
                </a:r>
              </a:p>
            </p:txBody>
          </p:sp>
          <p:sp>
            <p:nvSpPr>
              <p:cNvPr id="76" name="Rectangle 76"/>
              <p:cNvSpPr/>
              <p:nvPr/>
            </p:nvSpPr>
            <p:spPr>
              <a:xfrm>
                <a:off x="5524500" y="5143500"/>
                <a:ext cx="196215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5662612" y="5269706"/>
                <a:ext cx="89118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E293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本地知识库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5665470" y="5503545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4748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数据来源</a:t>
                </a:r>
              </a:p>
            </p:txBody>
          </p:sp>
          <p:sp>
            <p:nvSpPr>
              <p:cNvPr id="79" name="Rectangle 79"/>
              <p:cNvSpPr/>
              <p:nvPr/>
            </p:nvSpPr>
            <p:spPr>
              <a:xfrm>
                <a:off x="7677150" y="5143500"/>
                <a:ext cx="1905000" cy="5715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7815262" y="5269706"/>
                <a:ext cx="71866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E293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记忆存储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7818120" y="5503545"/>
                <a:ext cx="77209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64748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JSON 持久化</a:t>
                </a:r>
              </a:p>
            </p:txBody>
          </p:sp>
        </p:grpSp>
      </p:grpSp>
      <p:grpSp>
        <p:nvGrpSpPr>
          <p:cNvPr id="102" name="Group 102"/>
          <p:cNvGrpSpPr/>
          <p:nvPr/>
        </p:nvGrpSpPr>
        <p:grpSpPr>
          <a:xfrm>
            <a:off x="9906000" y="1447800"/>
            <a:ext cx="1676400" cy="4381500"/>
            <a:chOff x="9906000" y="1447800"/>
            <a:chExt cx="1676400" cy="4381500"/>
          </a:xfrm>
        </p:grpSpPr>
        <p:sp>
          <p:nvSpPr>
            <p:cNvPr id="84" name="Rectangle 84"/>
            <p:cNvSpPr/>
            <p:nvPr/>
          </p:nvSpPr>
          <p:spPr>
            <a:xfrm>
              <a:off x="9906000" y="1447800"/>
              <a:ext cx="1676400" cy="4381500"/>
            </a:xfrm>
            <a:prstGeom prst="roundRect">
              <a:avLst>
                <a:gd name="adj" fmla="val 5682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10432780" y="164734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BFDBFE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关键认知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10077450" y="1962150"/>
              <a:ext cx="1333500" cy="819150"/>
            </a:xfrm>
            <a:prstGeom prst="roundRect">
              <a:avLst>
                <a:gd name="adj" fmla="val 9302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grpSp>
          <p:nvGrpSpPr>
            <p:cNvPr id="89" name="Group 89"/>
            <p:cNvGrpSpPr/>
            <p:nvPr/>
          </p:nvGrpSpPr>
          <p:grpSpPr>
            <a:xfrm>
              <a:off x="10610850" y="2095500"/>
              <a:ext cx="266700" cy="266700"/>
              <a:chOff x="10610850" y="2095500"/>
              <a:chExt cx="266700" cy="266700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10710862" y="2195512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66675"/>
                    </a:moveTo>
                    <a:lnTo>
                      <a:pt x="0" y="0"/>
                    </a:lnTo>
                    <a:lnTo>
                      <a:pt x="66675" y="0"/>
                    </a:lnTo>
                    <a:lnTo>
                      <a:pt x="66675" y="66675"/>
                    </a:lnTo>
                    <a:lnTo>
                      <a:pt x="0" y="6667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10610850" y="2095500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50006" y="33338"/>
                    </a:moveTo>
                    <a:lnTo>
                      <a:pt x="50006" y="0"/>
                    </a:lnTo>
                    <a:lnTo>
                      <a:pt x="83344" y="0"/>
                    </a:lnTo>
                    <a:lnTo>
                      <a:pt x="83344" y="33338"/>
                    </a:lnTo>
                    <a:lnTo>
                      <a:pt x="116681" y="33338"/>
                    </a:lnTo>
                    <a:lnTo>
                      <a:pt x="116681" y="0"/>
                    </a:lnTo>
                    <a:lnTo>
                      <a:pt x="150019" y="0"/>
                    </a:lnTo>
                    <a:lnTo>
                      <a:pt x="150019" y="33338"/>
                    </a:lnTo>
                    <a:lnTo>
                      <a:pt x="183356" y="33338"/>
                    </a:lnTo>
                    <a:lnTo>
                      <a:pt x="183356" y="0"/>
                    </a:lnTo>
                    <a:lnTo>
                      <a:pt x="216694" y="0"/>
                    </a:lnTo>
                    <a:lnTo>
                      <a:pt x="216694" y="33338"/>
                    </a:lnTo>
                    <a:lnTo>
                      <a:pt x="233362" y="33338"/>
                    </a:lnTo>
                    <a:lnTo>
                      <a:pt x="233362" y="50006"/>
                    </a:lnTo>
                    <a:lnTo>
                      <a:pt x="266700" y="50006"/>
                    </a:lnTo>
                    <a:lnTo>
                      <a:pt x="266700" y="83344"/>
                    </a:lnTo>
                    <a:lnTo>
                      <a:pt x="233362" y="83344"/>
                    </a:lnTo>
                    <a:lnTo>
                      <a:pt x="233362" y="116681"/>
                    </a:lnTo>
                    <a:lnTo>
                      <a:pt x="266700" y="116681"/>
                    </a:lnTo>
                    <a:lnTo>
                      <a:pt x="266700" y="150019"/>
                    </a:lnTo>
                    <a:lnTo>
                      <a:pt x="233362" y="150019"/>
                    </a:lnTo>
                    <a:lnTo>
                      <a:pt x="233362" y="183356"/>
                    </a:lnTo>
                    <a:lnTo>
                      <a:pt x="266700" y="183356"/>
                    </a:lnTo>
                    <a:lnTo>
                      <a:pt x="266700" y="216694"/>
                    </a:lnTo>
                    <a:lnTo>
                      <a:pt x="233362" y="216694"/>
                    </a:lnTo>
                    <a:lnTo>
                      <a:pt x="233362" y="233362"/>
                    </a:lnTo>
                    <a:lnTo>
                      <a:pt x="216694" y="233362"/>
                    </a:lnTo>
                    <a:lnTo>
                      <a:pt x="216694" y="266700"/>
                    </a:lnTo>
                    <a:lnTo>
                      <a:pt x="183356" y="266700"/>
                    </a:lnTo>
                    <a:lnTo>
                      <a:pt x="183356" y="233362"/>
                    </a:lnTo>
                    <a:lnTo>
                      <a:pt x="150019" y="233362"/>
                    </a:lnTo>
                    <a:lnTo>
                      <a:pt x="150019" y="266700"/>
                    </a:lnTo>
                    <a:lnTo>
                      <a:pt x="116681" y="266700"/>
                    </a:lnTo>
                    <a:lnTo>
                      <a:pt x="116681" y="233362"/>
                    </a:lnTo>
                    <a:lnTo>
                      <a:pt x="83344" y="233362"/>
                    </a:lnTo>
                    <a:lnTo>
                      <a:pt x="83344" y="266700"/>
                    </a:lnTo>
                    <a:lnTo>
                      <a:pt x="50006" y="266700"/>
                    </a:lnTo>
                    <a:lnTo>
                      <a:pt x="50006" y="233362"/>
                    </a:lnTo>
                    <a:lnTo>
                      <a:pt x="33338" y="233362"/>
                    </a:lnTo>
                    <a:lnTo>
                      <a:pt x="33338" y="216694"/>
                    </a:lnTo>
                    <a:lnTo>
                      <a:pt x="0" y="216694"/>
                    </a:lnTo>
                    <a:lnTo>
                      <a:pt x="0" y="183356"/>
                    </a:lnTo>
                    <a:lnTo>
                      <a:pt x="33338" y="183356"/>
                    </a:lnTo>
                    <a:lnTo>
                      <a:pt x="33338" y="150019"/>
                    </a:lnTo>
                    <a:lnTo>
                      <a:pt x="0" y="150019"/>
                    </a:lnTo>
                    <a:lnTo>
                      <a:pt x="0" y="116681"/>
                    </a:lnTo>
                    <a:lnTo>
                      <a:pt x="33338" y="116681"/>
                    </a:lnTo>
                    <a:lnTo>
                      <a:pt x="33338" y="83344"/>
                    </a:lnTo>
                    <a:lnTo>
                      <a:pt x="0" y="83344"/>
                    </a:lnTo>
                    <a:lnTo>
                      <a:pt x="0" y="50006"/>
                    </a:lnTo>
                    <a:lnTo>
                      <a:pt x="33338" y="50006"/>
                    </a:lnTo>
                    <a:lnTo>
                      <a:pt x="33338" y="33338"/>
                    </a:lnTo>
                    <a:lnTo>
                      <a:pt x="50006" y="33338"/>
                    </a:lnTo>
                    <a:close/>
                    <a:moveTo>
                      <a:pt x="66675" y="66675"/>
                    </a:moveTo>
                    <a:lnTo>
                      <a:pt x="66675" y="200025"/>
                    </a:lnTo>
                    <a:lnTo>
                      <a:pt x="200025" y="200025"/>
                    </a:lnTo>
                    <a:lnTo>
                      <a:pt x="200025" y="66675"/>
                    </a:lnTo>
                    <a:lnTo>
                      <a:pt x="66675" y="6667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90" name="TextBox 90"/>
            <p:cNvSpPr txBox="1"/>
            <p:nvPr/>
          </p:nvSpPr>
          <p:spPr>
            <a:xfrm>
              <a:off x="10371930" y="2526506"/>
              <a:ext cx="7445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LLM 大脑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10077450" y="2895600"/>
              <a:ext cx="1333500" cy="819150"/>
            </a:xfrm>
            <a:prstGeom prst="roundRect">
              <a:avLst>
                <a:gd name="adj" fmla="val 9302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grpSp>
          <p:nvGrpSpPr>
            <p:cNvPr id="94" name="Group 94"/>
            <p:cNvGrpSpPr/>
            <p:nvPr/>
          </p:nvGrpSpPr>
          <p:grpSpPr>
            <a:xfrm>
              <a:off x="10610850" y="3028950"/>
              <a:ext cx="266700" cy="266700"/>
              <a:chOff x="10610850" y="3028950"/>
              <a:chExt cx="266700" cy="266700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10610850" y="3028950"/>
                <a:ext cx="233362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150019">
                    <a:moveTo>
                      <a:pt x="166688" y="133350"/>
                    </a:moveTo>
                    <a:lnTo>
                      <a:pt x="150019" y="133350"/>
                    </a:lnTo>
                    <a:lnTo>
                      <a:pt x="150019" y="80340"/>
                    </a:lnTo>
                    <a:lnTo>
                      <a:pt x="85965" y="67529"/>
                    </a:lnTo>
                    <a:cubicBezTo>
                      <a:pt x="83124" y="66961"/>
                      <a:pt x="80234" y="66675"/>
                      <a:pt x="77336" y="66675"/>
                    </a:cubicBezTo>
                    <a:cubicBezTo>
                      <a:pt x="53036" y="66675"/>
                      <a:pt x="33338" y="86374"/>
                      <a:pt x="33338" y="110674"/>
                    </a:cubicBezTo>
                    <a:lnTo>
                      <a:pt x="33338" y="150019"/>
                    </a:lnTo>
                    <a:lnTo>
                      <a:pt x="0" y="150019"/>
                    </a:lnTo>
                    <a:lnTo>
                      <a:pt x="0" y="110674"/>
                    </a:lnTo>
                    <a:cubicBezTo>
                      <a:pt x="0" y="67962"/>
                      <a:pt x="34625" y="33338"/>
                      <a:pt x="77336" y="33338"/>
                    </a:cubicBezTo>
                    <a:cubicBezTo>
                      <a:pt x="82429" y="33338"/>
                      <a:pt x="87510" y="33841"/>
                      <a:pt x="92503" y="34839"/>
                    </a:cubicBezTo>
                    <a:lnTo>
                      <a:pt x="150019" y="46342"/>
                    </a:lnTo>
                    <a:lnTo>
                      <a:pt x="150019" y="0"/>
                    </a:lnTo>
                    <a:lnTo>
                      <a:pt x="166688" y="0"/>
                    </a:lnTo>
                    <a:lnTo>
                      <a:pt x="233362" y="66675"/>
                    </a:lnTo>
                    <a:lnTo>
                      <a:pt x="166688" y="1333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10644188" y="3145631"/>
                <a:ext cx="233362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150019">
                    <a:moveTo>
                      <a:pt x="233362" y="0"/>
                    </a:moveTo>
                    <a:lnTo>
                      <a:pt x="233362" y="39345"/>
                    </a:lnTo>
                    <a:cubicBezTo>
                      <a:pt x="233362" y="82057"/>
                      <a:pt x="198738" y="116681"/>
                      <a:pt x="156026" y="116681"/>
                    </a:cubicBezTo>
                    <a:cubicBezTo>
                      <a:pt x="150934" y="116681"/>
                      <a:pt x="145853" y="116178"/>
                      <a:pt x="140859" y="115179"/>
                    </a:cubicBezTo>
                    <a:lnTo>
                      <a:pt x="83344" y="103676"/>
                    </a:lnTo>
                    <a:lnTo>
                      <a:pt x="83344" y="150019"/>
                    </a:lnTo>
                    <a:lnTo>
                      <a:pt x="66675" y="150019"/>
                    </a:lnTo>
                    <a:lnTo>
                      <a:pt x="0" y="83344"/>
                    </a:lnTo>
                    <a:lnTo>
                      <a:pt x="66675" y="16669"/>
                    </a:lnTo>
                    <a:lnTo>
                      <a:pt x="83344" y="16669"/>
                    </a:lnTo>
                    <a:lnTo>
                      <a:pt x="83344" y="69679"/>
                    </a:lnTo>
                    <a:lnTo>
                      <a:pt x="147397" y="82489"/>
                    </a:lnTo>
                    <a:cubicBezTo>
                      <a:pt x="150239" y="83057"/>
                      <a:pt x="153129" y="83344"/>
                      <a:pt x="156026" y="83344"/>
                    </a:cubicBezTo>
                    <a:cubicBezTo>
                      <a:pt x="180326" y="83344"/>
                      <a:pt x="200025" y="63645"/>
                      <a:pt x="200025" y="39345"/>
                    </a:cubicBezTo>
                    <a:lnTo>
                      <a:pt x="200025" y="0"/>
                    </a:lnTo>
                    <a:lnTo>
                      <a:pt x="23336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95" name="TextBox 95"/>
            <p:cNvSpPr txBox="1"/>
            <p:nvPr/>
          </p:nvSpPr>
          <p:spPr>
            <a:xfrm>
              <a:off x="10255478" y="3459956"/>
              <a:ext cx="9774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Loop 控制器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10077450" y="3829050"/>
              <a:ext cx="1333500" cy="819150"/>
            </a:xfrm>
            <a:prstGeom prst="roundRect">
              <a:avLst>
                <a:gd name="adj" fmla="val 9302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97" name="Freeform 97"/>
            <p:cNvSpPr/>
            <p:nvPr/>
          </p:nvSpPr>
          <p:spPr>
            <a:xfrm>
              <a:off x="10627519" y="3962400"/>
              <a:ext cx="233362" cy="266700"/>
            </a:xfrm>
            <a:custGeom>
              <a:avLst/>
              <a:gdLst/>
              <a:ahLst/>
              <a:cxnLst/>
              <a:rect l="l" t="t" r="r" b="b"/>
              <a:pathLst>
                <a:path w="233362" h="266700">
                  <a:moveTo>
                    <a:pt x="116681" y="266700"/>
                  </a:moveTo>
                  <a:lnTo>
                    <a:pt x="55842" y="223243"/>
                  </a:lnTo>
                  <a:cubicBezTo>
                    <a:pt x="20798" y="198211"/>
                    <a:pt x="0" y="157798"/>
                    <a:pt x="0" y="114732"/>
                  </a:cubicBezTo>
                  <a:lnTo>
                    <a:pt x="0" y="50006"/>
                  </a:lnTo>
                  <a:lnTo>
                    <a:pt x="116681" y="0"/>
                  </a:lnTo>
                  <a:lnTo>
                    <a:pt x="233362" y="50006"/>
                  </a:lnTo>
                  <a:lnTo>
                    <a:pt x="233362" y="114732"/>
                  </a:lnTo>
                  <a:cubicBezTo>
                    <a:pt x="233362" y="157798"/>
                    <a:pt x="212565" y="198211"/>
                    <a:pt x="177521" y="223243"/>
                  </a:cubicBezTo>
                  <a:lnTo>
                    <a:pt x="116681" y="266700"/>
                  </a:lnTo>
                  <a:close/>
                  <a:moveTo>
                    <a:pt x="186808" y="95130"/>
                  </a:moveTo>
                  <a:lnTo>
                    <a:pt x="163235" y="71557"/>
                  </a:lnTo>
                  <a:lnTo>
                    <a:pt x="100012" y="134780"/>
                  </a:lnTo>
                  <a:lnTo>
                    <a:pt x="70127" y="104895"/>
                  </a:lnTo>
                  <a:lnTo>
                    <a:pt x="46554" y="128468"/>
                  </a:lnTo>
                  <a:lnTo>
                    <a:pt x="100012" y="181926"/>
                  </a:lnTo>
                  <a:lnTo>
                    <a:pt x="186808" y="951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10173530" y="4393406"/>
              <a:ext cx="11413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Registry 边界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10077450" y="4762500"/>
              <a:ext cx="1333500" cy="819150"/>
            </a:xfrm>
            <a:prstGeom prst="roundRect">
              <a:avLst>
                <a:gd name="adj" fmla="val 9302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100" name="Freeform 100"/>
            <p:cNvSpPr/>
            <p:nvPr/>
          </p:nvSpPr>
          <p:spPr>
            <a:xfrm>
              <a:off x="10610850" y="4896822"/>
              <a:ext cx="266700" cy="264755"/>
            </a:xfrm>
            <a:custGeom>
              <a:avLst/>
              <a:gdLst/>
              <a:ahLst/>
              <a:cxnLst/>
              <a:rect l="l" t="t" r="r" b="b"/>
              <a:pathLst>
                <a:path w="266700" h="264755">
                  <a:moveTo>
                    <a:pt x="158030" y="0"/>
                  </a:moveTo>
                  <a:lnTo>
                    <a:pt x="158030" y="66245"/>
                  </a:lnTo>
                  <a:lnTo>
                    <a:pt x="116432" y="71815"/>
                  </a:lnTo>
                  <a:lnTo>
                    <a:pt x="116432" y="110967"/>
                  </a:lnTo>
                  <a:lnTo>
                    <a:pt x="158030" y="105398"/>
                  </a:lnTo>
                  <a:lnTo>
                    <a:pt x="158030" y="145108"/>
                  </a:lnTo>
                  <a:lnTo>
                    <a:pt x="196835" y="139916"/>
                  </a:lnTo>
                  <a:lnTo>
                    <a:pt x="196835" y="100204"/>
                  </a:lnTo>
                  <a:lnTo>
                    <a:pt x="266700" y="90855"/>
                  </a:lnTo>
                  <a:lnTo>
                    <a:pt x="261554" y="52391"/>
                  </a:lnTo>
                  <a:lnTo>
                    <a:pt x="196835" y="61052"/>
                  </a:lnTo>
                  <a:lnTo>
                    <a:pt x="196835" y="0"/>
                  </a:lnTo>
                  <a:close/>
                  <a:moveTo>
                    <a:pt x="69864" y="11751"/>
                  </a:moveTo>
                  <a:lnTo>
                    <a:pt x="69864" y="78002"/>
                  </a:lnTo>
                  <a:lnTo>
                    <a:pt x="0" y="87353"/>
                  </a:lnTo>
                  <a:lnTo>
                    <a:pt x="5150" y="125817"/>
                  </a:lnTo>
                  <a:lnTo>
                    <a:pt x="70173" y="117111"/>
                  </a:lnTo>
                  <a:lnTo>
                    <a:pt x="108671" y="111958"/>
                  </a:lnTo>
                  <a:lnTo>
                    <a:pt x="108671" y="11751"/>
                  </a:lnTo>
                  <a:close/>
                  <a:moveTo>
                    <a:pt x="108978" y="119748"/>
                  </a:moveTo>
                  <a:lnTo>
                    <a:pt x="70173" y="124943"/>
                  </a:lnTo>
                  <a:lnTo>
                    <a:pt x="70173" y="164704"/>
                  </a:lnTo>
                  <a:lnTo>
                    <a:pt x="1465" y="173901"/>
                  </a:lnTo>
                  <a:lnTo>
                    <a:pt x="6613" y="212364"/>
                  </a:lnTo>
                  <a:lnTo>
                    <a:pt x="71331" y="203701"/>
                  </a:lnTo>
                  <a:lnTo>
                    <a:pt x="71331" y="264755"/>
                  </a:lnTo>
                  <a:lnTo>
                    <a:pt x="110136" y="264755"/>
                  </a:lnTo>
                  <a:lnTo>
                    <a:pt x="110136" y="198503"/>
                  </a:lnTo>
                  <a:lnTo>
                    <a:pt x="150268" y="193131"/>
                  </a:lnTo>
                  <a:lnTo>
                    <a:pt x="150268" y="153980"/>
                  </a:lnTo>
                  <a:lnTo>
                    <a:pt x="108978" y="159507"/>
                  </a:lnTo>
                  <a:close/>
                  <a:moveTo>
                    <a:pt x="261553" y="139090"/>
                  </a:moveTo>
                  <a:lnTo>
                    <a:pt x="196833" y="147746"/>
                  </a:lnTo>
                  <a:lnTo>
                    <a:pt x="158029" y="152939"/>
                  </a:lnTo>
                  <a:lnTo>
                    <a:pt x="158029" y="253151"/>
                  </a:lnTo>
                  <a:lnTo>
                    <a:pt x="196833" y="253151"/>
                  </a:lnTo>
                  <a:lnTo>
                    <a:pt x="196833" y="186900"/>
                  </a:lnTo>
                  <a:lnTo>
                    <a:pt x="266700" y="17755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10350365" y="5326856"/>
              <a:ext cx="78767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C# 强类型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598170" y="6570345"/>
            <a:ext cx="10995660" cy="182880"/>
            <a:chOff x="598170" y="6570345"/>
            <a:chExt cx="10995660" cy="182880"/>
          </a:xfrm>
        </p:grpSpPr>
        <p:sp>
          <p:nvSpPr>
            <p:cNvPr id="103" name="TextBox 103"/>
            <p:cNvSpPr txBox="1"/>
            <p:nvPr/>
          </p:nvSpPr>
          <p:spPr>
            <a:xfrm>
              <a:off x="598170" y="6570345"/>
              <a:ext cx="17973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旅序 · 多 Agent 旅游规划系统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1130629" y="6570345"/>
              <a:ext cx="4632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06 / 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9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4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7" grpId="0"/>
      <p:bldP spid="65" grpId="0"/>
      <p:bldP spid="83" grpId="0"/>
      <p:bldP spid="10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609600" y="476250"/>
            <a:ext cx="10725150" cy="652462"/>
            <a:chOff x="609600" y="476250"/>
            <a:chExt cx="10725150" cy="652462"/>
          </a:xfrm>
        </p:grpSpPr>
        <p:sp>
          <p:nvSpPr>
            <p:cNvPr id="3" name="Rectangle 3"/>
            <p:cNvSpPr/>
            <p:nvPr/>
          </p:nvSpPr>
          <p:spPr>
            <a:xfrm>
              <a:off x="609600" y="476250"/>
              <a:ext cx="57150" cy="4191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502920"/>
              <a:ext cx="499277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主控 Agent 与五类专业 Agent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915352"/>
              <a:ext cx="31102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MULTI-AGENT · 拆解、并行调度与整合输出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972800" y="517922"/>
              <a:ext cx="361950" cy="316706"/>
              <a:chOff x="10972800" y="517922"/>
              <a:chExt cx="361950" cy="316706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040666" y="517922"/>
                <a:ext cx="113109" cy="113109"/>
              </a:xfrm>
              <a:custGeom>
                <a:avLst/>
                <a:gdLst/>
                <a:ahLst/>
                <a:cxnLst/>
                <a:rect l="l" t="t" r="r" b="b"/>
                <a:pathLst>
                  <a:path w="113109" h="113109">
                    <a:moveTo>
                      <a:pt x="113109" y="56555"/>
                    </a:moveTo>
                    <a:cubicBezTo>
                      <a:pt x="113109" y="87789"/>
                      <a:pt x="87789" y="113109"/>
                      <a:pt x="56555" y="113109"/>
                    </a:cubicBezTo>
                    <a:cubicBezTo>
                      <a:pt x="25320" y="113109"/>
                      <a:pt x="0" y="87789"/>
                      <a:pt x="0" y="56555"/>
                    </a:cubicBezTo>
                    <a:cubicBezTo>
                      <a:pt x="0" y="25320"/>
                      <a:pt x="25320" y="0"/>
                      <a:pt x="56555" y="0"/>
                    </a:cubicBezTo>
                    <a:cubicBezTo>
                      <a:pt x="87789" y="0"/>
                      <a:pt x="113109" y="25320"/>
                      <a:pt x="113109" y="56555"/>
                    </a:cubicBez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972800" y="676275"/>
                <a:ext cx="180975" cy="158353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158353">
                    <a:moveTo>
                      <a:pt x="67866" y="0"/>
                    </a:moveTo>
                    <a:cubicBezTo>
                      <a:pt x="30385" y="0"/>
                      <a:pt x="0" y="30385"/>
                      <a:pt x="0" y="67866"/>
                    </a:cubicBezTo>
                    <a:lnTo>
                      <a:pt x="0" y="158353"/>
                    </a:lnTo>
                    <a:lnTo>
                      <a:pt x="180975" y="158353"/>
                    </a:lnTo>
                    <a:lnTo>
                      <a:pt x="180975" y="0"/>
                    </a:lnTo>
                    <a:lnTo>
                      <a:pt x="67866" y="0"/>
                    </a:ln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1199019" y="676275"/>
                <a:ext cx="135731" cy="158353"/>
              </a:xfrm>
              <a:custGeom>
                <a:avLst/>
                <a:gdLst/>
                <a:ahLst/>
                <a:cxnLst/>
                <a:rect l="l" t="t" r="r" b="b"/>
                <a:pathLst>
                  <a:path w="135731" h="158353">
                    <a:moveTo>
                      <a:pt x="67866" y="0"/>
                    </a:moveTo>
                    <a:lnTo>
                      <a:pt x="0" y="0"/>
                    </a:lnTo>
                    <a:lnTo>
                      <a:pt x="0" y="158353"/>
                    </a:lnTo>
                    <a:lnTo>
                      <a:pt x="135731" y="158353"/>
                    </a:lnTo>
                    <a:lnTo>
                      <a:pt x="135731" y="67866"/>
                    </a:lnTo>
                    <a:cubicBezTo>
                      <a:pt x="135731" y="30385"/>
                      <a:pt x="105348" y="0"/>
                      <a:pt x="67866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199019" y="540544"/>
                <a:ext cx="90488" cy="90488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90488">
                    <a:moveTo>
                      <a:pt x="45244" y="90488"/>
                    </a:moveTo>
                    <a:cubicBezTo>
                      <a:pt x="70232" y="90488"/>
                      <a:pt x="90488" y="70231"/>
                      <a:pt x="90488" y="45244"/>
                    </a:cubicBezTo>
                    <a:cubicBezTo>
                      <a:pt x="90488" y="20256"/>
                      <a:pt x="70232" y="0"/>
                      <a:pt x="45244" y="0"/>
                    </a:cubicBezTo>
                    <a:cubicBezTo>
                      <a:pt x="20256" y="0"/>
                      <a:pt x="0" y="20256"/>
                      <a:pt x="0" y="45244"/>
                    </a:cubicBezTo>
                    <a:cubicBezTo>
                      <a:pt x="0" y="70231"/>
                      <a:pt x="20256" y="90488"/>
                      <a:pt x="45244" y="90488"/>
                    </a:cubicBez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</p:grpSp>
      </p:grpSp>
      <p:grpSp>
        <p:nvGrpSpPr>
          <p:cNvPr id="15" name="Group 15"/>
          <p:cNvGrpSpPr/>
          <p:nvPr/>
        </p:nvGrpSpPr>
        <p:grpSpPr>
          <a:xfrm>
            <a:off x="4000500" y="1238250"/>
            <a:ext cx="4191000" cy="4191000"/>
            <a:chOff x="4000500" y="1238250"/>
            <a:chExt cx="4191000" cy="4191000"/>
          </a:xfrm>
        </p:grpSpPr>
        <p:sp>
          <p:nvSpPr>
            <p:cNvPr id="13" name="Ellipse 13"/>
            <p:cNvSpPr/>
            <p:nvPr/>
          </p:nvSpPr>
          <p:spPr>
            <a:xfrm>
              <a:off x="4000500" y="1238250"/>
              <a:ext cx="4191000" cy="4191000"/>
            </a:xfrm>
            <a:prstGeom prst="ellipse">
              <a:avLst/>
            </a:prstGeom>
            <a:noFill/>
            <a:ln w="14288">
              <a:solidFill>
                <a:srgbClr val="E2E8F0"/>
              </a:solidFill>
              <a:custDash>
                <a:ds d="133333" sp="400000"/>
              </a:custDash>
            </a:ln>
          </p:spPr>
        </p:sp>
        <p:sp>
          <p:nvSpPr>
            <p:cNvPr id="14" name="Ellipse 14"/>
            <p:cNvSpPr/>
            <p:nvPr/>
          </p:nvSpPr>
          <p:spPr>
            <a:xfrm>
              <a:off x="4762500" y="2000250"/>
              <a:ext cx="2667000" cy="2667000"/>
            </a:xfrm>
            <a:prstGeom prst="ellipse">
              <a:avLst/>
            </a:prstGeom>
            <a:noFill/>
            <a:ln w="14288">
              <a:solidFill>
                <a:srgbClr val="E2E8F0"/>
              </a:solidFill>
              <a:custDash>
                <a:ds d="400000" sp="400000"/>
              </a:custDash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4191000" y="1428750"/>
            <a:ext cx="3810000" cy="3524250"/>
            <a:chOff x="4191000" y="1428750"/>
            <a:chExt cx="3810000" cy="3524250"/>
          </a:xfrm>
        </p:grpSpPr>
        <p:sp>
          <p:nvSpPr>
            <p:cNvPr id="16" name="Line 16"/>
            <p:cNvSpPr/>
            <p:nvPr/>
          </p:nvSpPr>
          <p:spPr>
            <a:xfrm>
              <a:off x="6096000" y="1428750"/>
              <a:ext cx="9525" cy="1905000"/>
            </a:xfrm>
            <a:custGeom>
              <a:avLst/>
              <a:gdLst/>
              <a:ahLst/>
              <a:cxnLst/>
              <a:rect l="l" t="t" r="r" b="b"/>
              <a:pathLst>
                <a:path w="9525" h="1905000">
                  <a:moveTo>
                    <a:pt x="0" y="1905000"/>
                  </a:move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2563EB">
                  <a:alpha val="60000"/>
                </a:srgbClr>
              </a:solidFill>
              <a:custDash>
                <a:ds d="300000" sp="400000"/>
              </a:custDash>
            </a:ln>
          </p:spPr>
        </p:sp>
        <p:sp>
          <p:nvSpPr>
            <p:cNvPr id="17" name="Line 17"/>
            <p:cNvSpPr/>
            <p:nvPr/>
          </p:nvSpPr>
          <p:spPr>
            <a:xfrm>
              <a:off x="6096000" y="2762250"/>
              <a:ext cx="1905000" cy="571500"/>
            </a:xfrm>
            <a:custGeom>
              <a:avLst/>
              <a:gdLst/>
              <a:ahLst/>
              <a:cxnLst/>
              <a:rect l="l" t="t" r="r" b="b"/>
              <a:pathLst>
                <a:path w="1905000" h="571500">
                  <a:moveTo>
                    <a:pt x="0" y="571500"/>
                  </a:moveTo>
                  <a:lnTo>
                    <a:pt x="1905000" y="0"/>
                  </a:lnTo>
                </a:path>
              </a:pathLst>
            </a:custGeom>
            <a:noFill/>
            <a:ln w="19050" cap="rnd">
              <a:solidFill>
                <a:srgbClr val="0EA5E9">
                  <a:alpha val="60000"/>
                </a:srgbClr>
              </a:solidFill>
              <a:custDash>
                <a:ds d="300000" sp="400000"/>
              </a:custDash>
            </a:ln>
          </p:spPr>
        </p:sp>
        <p:sp>
          <p:nvSpPr>
            <p:cNvPr id="18" name="Line 18"/>
            <p:cNvSpPr/>
            <p:nvPr/>
          </p:nvSpPr>
          <p:spPr>
            <a:xfrm>
              <a:off x="6096000" y="3333750"/>
              <a:ext cx="1143000" cy="1619250"/>
            </a:xfrm>
            <a:custGeom>
              <a:avLst/>
              <a:gdLst/>
              <a:ahLst/>
              <a:cxnLst/>
              <a:rect l="l" t="t" r="r" b="b"/>
              <a:pathLst>
                <a:path w="1143000" h="1619250">
                  <a:moveTo>
                    <a:pt x="0" y="0"/>
                  </a:moveTo>
                  <a:lnTo>
                    <a:pt x="1143000" y="1619250"/>
                  </a:lnTo>
                </a:path>
              </a:pathLst>
            </a:custGeom>
            <a:noFill/>
            <a:ln w="19050" cap="rnd">
              <a:solidFill>
                <a:srgbClr val="059669">
                  <a:alpha val="60000"/>
                </a:srgbClr>
              </a:solidFill>
              <a:custDash>
                <a:ds d="300000" sp="400000"/>
              </a:custDash>
            </a:ln>
          </p:spPr>
        </p:sp>
        <p:sp>
          <p:nvSpPr>
            <p:cNvPr id="19" name="Line 19"/>
            <p:cNvSpPr/>
            <p:nvPr/>
          </p:nvSpPr>
          <p:spPr>
            <a:xfrm>
              <a:off x="4953000" y="3333750"/>
              <a:ext cx="1143000" cy="1619250"/>
            </a:xfrm>
            <a:custGeom>
              <a:avLst/>
              <a:gdLst/>
              <a:ahLst/>
              <a:cxnLst/>
              <a:rect l="l" t="t" r="r" b="b"/>
              <a:pathLst>
                <a:path w="1143000" h="1619250">
                  <a:moveTo>
                    <a:pt x="1143000" y="0"/>
                  </a:moveTo>
                  <a:lnTo>
                    <a:pt x="0" y="1619250"/>
                  </a:lnTo>
                </a:path>
              </a:pathLst>
            </a:custGeom>
            <a:noFill/>
            <a:ln w="19050" cap="rnd">
              <a:solidFill>
                <a:srgbClr val="D97706">
                  <a:alpha val="60000"/>
                </a:srgbClr>
              </a:solidFill>
              <a:custDash>
                <a:ds d="300000" sp="400000"/>
              </a:custDash>
            </a:ln>
          </p:spPr>
        </p:sp>
        <p:sp>
          <p:nvSpPr>
            <p:cNvPr id="20" name="Line 20"/>
            <p:cNvSpPr/>
            <p:nvPr/>
          </p:nvSpPr>
          <p:spPr>
            <a:xfrm>
              <a:off x="4191000" y="2762250"/>
              <a:ext cx="1905000" cy="571500"/>
            </a:xfrm>
            <a:custGeom>
              <a:avLst/>
              <a:gdLst/>
              <a:ahLst/>
              <a:cxnLst/>
              <a:rect l="l" t="t" r="r" b="b"/>
              <a:pathLst>
                <a:path w="1905000" h="571500">
                  <a:moveTo>
                    <a:pt x="1905000" y="571500"/>
                  </a:move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DC2626">
                  <a:alpha val="60000"/>
                </a:srgbClr>
              </a:solidFill>
              <a:custDash>
                <a:ds d="300000" sp="400000"/>
              </a:custDash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5334000" y="2571750"/>
            <a:ext cx="1524000" cy="1524000"/>
            <a:chOff x="5334000" y="2571750"/>
            <a:chExt cx="1524000" cy="1524000"/>
          </a:xfrm>
        </p:grpSpPr>
        <p:sp>
          <p:nvSpPr>
            <p:cNvPr id="22" name="Ellipse 22"/>
            <p:cNvSpPr/>
            <p:nvPr/>
          </p:nvSpPr>
          <p:spPr>
            <a:xfrm>
              <a:off x="5334000" y="2571750"/>
              <a:ext cx="1524000" cy="1524000"/>
            </a:xfrm>
            <a:prstGeom prst="ellipse">
              <a:avLst/>
            </a:prstGeom>
            <a:gradFill>
              <a:gsLst>
                <a:gs pos="0">
                  <a:srgbClr val="2563EB"/>
                </a:gs>
                <a:gs pos="100000">
                  <a:srgbClr val="0EA5E9"/>
                </a:gs>
              </a:gsLst>
              <a:lin ang="2700000" scaled="1"/>
            </a:gradFill>
            <a:ln>
              <a:noFill/>
            </a:ln>
            <a:effectLst>
              <a:outerShdw blurRad="95250" dist="38100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23" name="Freeform 23"/>
            <p:cNvSpPr/>
            <p:nvPr/>
          </p:nvSpPr>
          <p:spPr>
            <a:xfrm>
              <a:off x="5867400" y="2914650"/>
              <a:ext cx="457200" cy="428625"/>
            </a:xfrm>
            <a:custGeom>
              <a:avLst/>
              <a:gdLst/>
              <a:ahLst/>
              <a:cxnLst/>
              <a:rect l="l" t="t" r="r" b="b"/>
              <a:pathLst>
                <a:path w="457200" h="428625">
                  <a:moveTo>
                    <a:pt x="257175" y="0"/>
                  </a:moveTo>
                  <a:lnTo>
                    <a:pt x="257175" y="57150"/>
                  </a:lnTo>
                  <a:lnTo>
                    <a:pt x="371475" y="57150"/>
                  </a:lnTo>
                  <a:lnTo>
                    <a:pt x="457200" y="242888"/>
                  </a:lnTo>
                  <a:lnTo>
                    <a:pt x="371475" y="428625"/>
                  </a:lnTo>
                  <a:lnTo>
                    <a:pt x="85725" y="428625"/>
                  </a:lnTo>
                  <a:lnTo>
                    <a:pt x="0" y="242888"/>
                  </a:lnTo>
                  <a:lnTo>
                    <a:pt x="85725" y="57150"/>
                  </a:lnTo>
                  <a:lnTo>
                    <a:pt x="200025" y="57150"/>
                  </a:lnTo>
                  <a:lnTo>
                    <a:pt x="200025" y="0"/>
                  </a:lnTo>
                  <a:lnTo>
                    <a:pt x="257175" y="0"/>
                  </a:lnTo>
                  <a:close/>
                  <a:moveTo>
                    <a:pt x="131386" y="335425"/>
                  </a:moveTo>
                  <a:lnTo>
                    <a:pt x="228600" y="350381"/>
                  </a:lnTo>
                  <a:lnTo>
                    <a:pt x="325815" y="335425"/>
                  </a:lnTo>
                  <a:lnTo>
                    <a:pt x="317122" y="278939"/>
                  </a:lnTo>
                  <a:lnTo>
                    <a:pt x="228600" y="292557"/>
                  </a:lnTo>
                  <a:lnTo>
                    <a:pt x="140076" y="278939"/>
                  </a:lnTo>
                  <a:lnTo>
                    <a:pt x="131386" y="335425"/>
                  </a:lnTo>
                  <a:close/>
                  <a:moveTo>
                    <a:pt x="200025" y="192881"/>
                  </a:moveTo>
                  <a:cubicBezTo>
                    <a:pt x="200025" y="212608"/>
                    <a:pt x="184033" y="228600"/>
                    <a:pt x="164306" y="228600"/>
                  </a:cubicBezTo>
                  <a:cubicBezTo>
                    <a:pt x="144579" y="228600"/>
                    <a:pt x="128588" y="212608"/>
                    <a:pt x="128588" y="192881"/>
                  </a:cubicBezTo>
                  <a:cubicBezTo>
                    <a:pt x="128588" y="173154"/>
                    <a:pt x="144579" y="157162"/>
                    <a:pt x="164306" y="157162"/>
                  </a:cubicBezTo>
                  <a:cubicBezTo>
                    <a:pt x="184033" y="157162"/>
                    <a:pt x="200025" y="173154"/>
                    <a:pt x="200025" y="192881"/>
                  </a:cubicBezTo>
                  <a:close/>
                  <a:moveTo>
                    <a:pt x="292894" y="228600"/>
                  </a:moveTo>
                  <a:cubicBezTo>
                    <a:pt x="312622" y="228600"/>
                    <a:pt x="328612" y="212608"/>
                    <a:pt x="328612" y="192881"/>
                  </a:cubicBezTo>
                  <a:cubicBezTo>
                    <a:pt x="328612" y="173154"/>
                    <a:pt x="312622" y="157162"/>
                    <a:pt x="292894" y="157162"/>
                  </a:cubicBezTo>
                  <a:cubicBezTo>
                    <a:pt x="273167" y="157162"/>
                    <a:pt x="257175" y="173154"/>
                    <a:pt x="257175" y="192881"/>
                  </a:cubicBezTo>
                  <a:cubicBezTo>
                    <a:pt x="257175" y="212608"/>
                    <a:pt x="273167" y="228600"/>
                    <a:pt x="292894" y="2286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556115" y="3473768"/>
              <a:ext cx="10797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主控 Agent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539073" y="3731895"/>
              <a:ext cx="11138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0F2FE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拆解 · 调度 · 整合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953000" y="1047750"/>
            <a:ext cx="2286000" cy="742950"/>
            <a:chOff x="4953000" y="1047750"/>
            <a:chExt cx="2286000" cy="742950"/>
          </a:xfrm>
        </p:grpSpPr>
        <p:sp>
          <p:nvSpPr>
            <p:cNvPr id="27" name="Rectangle 27"/>
            <p:cNvSpPr/>
            <p:nvPr/>
          </p:nvSpPr>
          <p:spPr>
            <a:xfrm>
              <a:off x="4953000" y="1047750"/>
              <a:ext cx="2286000" cy="74295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95250" dist="38100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28" name="Rectangle 28"/>
            <p:cNvSpPr/>
            <p:nvPr/>
          </p:nvSpPr>
          <p:spPr>
            <a:xfrm>
              <a:off x="4953000" y="1257300"/>
              <a:ext cx="47625" cy="32385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124450" y="1219200"/>
              <a:ext cx="381000" cy="381000"/>
            </a:xfrm>
            <a:prstGeom prst="roundRect">
              <a:avLst>
                <a:gd name="adj" fmla="val 25000"/>
              </a:avLst>
            </a:prstGeom>
            <a:solidFill>
              <a:srgbClr val="EFF6FF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5214938" y="1309688"/>
              <a:ext cx="200024" cy="200025"/>
              <a:chOff x="5214938" y="1309688"/>
              <a:chExt cx="200024" cy="20002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5214938" y="1309688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57150" y="28575"/>
                    </a:moveTo>
                    <a:cubicBezTo>
                      <a:pt x="57150" y="44357"/>
                      <a:pt x="44357" y="57150"/>
                      <a:pt x="28575" y="57150"/>
                    </a:cubicBezTo>
                    <a:cubicBezTo>
                      <a:pt x="12793" y="57150"/>
                      <a:pt x="0" y="44357"/>
                      <a:pt x="0" y="28575"/>
                    </a:cubicBezTo>
                    <a:cubicBezTo>
                      <a:pt x="0" y="12793"/>
                      <a:pt x="12793" y="0"/>
                      <a:pt x="28575" y="0"/>
                    </a:cubicBezTo>
                    <a:cubicBezTo>
                      <a:pt x="44357" y="0"/>
                      <a:pt x="57150" y="12793"/>
                      <a:pt x="57150" y="28575"/>
                    </a:cubicBez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357812" y="1452562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57150" y="28575"/>
                    </a:moveTo>
                    <a:cubicBezTo>
                      <a:pt x="57150" y="44357"/>
                      <a:pt x="44357" y="57150"/>
                      <a:pt x="28575" y="57150"/>
                    </a:cubicBezTo>
                    <a:cubicBezTo>
                      <a:pt x="12793" y="57150"/>
                      <a:pt x="0" y="44357"/>
                      <a:pt x="0" y="28575"/>
                    </a:cubicBezTo>
                    <a:cubicBezTo>
                      <a:pt x="0" y="12793"/>
                      <a:pt x="12793" y="0"/>
                      <a:pt x="28575" y="0"/>
                    </a:cubicBezTo>
                    <a:cubicBezTo>
                      <a:pt x="44357" y="0"/>
                      <a:pt x="57150" y="12793"/>
                      <a:pt x="57150" y="28575"/>
                    </a:cubicBez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229225" y="1309688"/>
                <a:ext cx="1714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200025">
                    <a:moveTo>
                      <a:pt x="100012" y="50006"/>
                    </a:moveTo>
                    <a:cubicBezTo>
                      <a:pt x="100012" y="38170"/>
                      <a:pt x="109608" y="28575"/>
                      <a:pt x="121444" y="28575"/>
                    </a:cubicBezTo>
                    <a:cubicBezTo>
                      <a:pt x="133280" y="28575"/>
                      <a:pt x="142875" y="38170"/>
                      <a:pt x="142875" y="50006"/>
                    </a:cubicBezTo>
                    <a:lnTo>
                      <a:pt x="142875" y="114300"/>
                    </a:lnTo>
                    <a:lnTo>
                      <a:pt x="171450" y="114300"/>
                    </a:lnTo>
                    <a:lnTo>
                      <a:pt x="171450" y="50006"/>
                    </a:lnTo>
                    <a:cubicBezTo>
                      <a:pt x="171450" y="22389"/>
                      <a:pt x="149061" y="0"/>
                      <a:pt x="121444" y="0"/>
                    </a:cubicBezTo>
                    <a:cubicBezTo>
                      <a:pt x="93826" y="0"/>
                      <a:pt x="71438" y="22389"/>
                      <a:pt x="71438" y="50006"/>
                    </a:cubicBezTo>
                    <a:lnTo>
                      <a:pt x="71438" y="150019"/>
                    </a:lnTo>
                    <a:cubicBezTo>
                      <a:pt x="71438" y="161855"/>
                      <a:pt x="61842" y="171450"/>
                      <a:pt x="50006" y="171450"/>
                    </a:cubicBezTo>
                    <a:cubicBezTo>
                      <a:pt x="38170" y="171450"/>
                      <a:pt x="28575" y="161855"/>
                      <a:pt x="28575" y="150019"/>
                    </a:cubicBezTo>
                    <a:lnTo>
                      <a:pt x="28575" y="85725"/>
                    </a:lnTo>
                    <a:lnTo>
                      <a:pt x="0" y="85725"/>
                    </a:lnTo>
                    <a:lnTo>
                      <a:pt x="0" y="150019"/>
                    </a:lnTo>
                    <a:cubicBezTo>
                      <a:pt x="0" y="177636"/>
                      <a:pt x="22389" y="200025"/>
                      <a:pt x="50006" y="200025"/>
                    </a:cubicBezTo>
                    <a:cubicBezTo>
                      <a:pt x="77624" y="200025"/>
                      <a:pt x="100012" y="177636"/>
                      <a:pt x="100012" y="150019"/>
                    </a:cubicBezTo>
                    <a:lnTo>
                      <a:pt x="100012" y="50006"/>
                    </a:ln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5623560" y="1223010"/>
              <a:ext cx="95979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行程 Agent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626894" y="1479947"/>
              <a:ext cx="125610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安排景点与每日体验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782560" y="2390775"/>
            <a:ext cx="2286000" cy="742950"/>
            <a:chOff x="6858000" y="2390775"/>
            <a:chExt cx="2286000" cy="742950"/>
          </a:xfrm>
        </p:grpSpPr>
        <p:sp>
          <p:nvSpPr>
            <p:cNvPr id="37" name="Rectangle 37"/>
            <p:cNvSpPr/>
            <p:nvPr/>
          </p:nvSpPr>
          <p:spPr>
            <a:xfrm>
              <a:off x="6858000" y="2390775"/>
              <a:ext cx="2286000" cy="74295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95250" dist="38100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38" name="Rectangle 38"/>
            <p:cNvSpPr/>
            <p:nvPr/>
          </p:nvSpPr>
          <p:spPr>
            <a:xfrm>
              <a:off x="6858000" y="2600325"/>
              <a:ext cx="47625" cy="323850"/>
            </a:xfrm>
            <a:prstGeom prst="roundRect">
              <a:avLst>
                <a:gd name="adj" fmla="val 50000"/>
              </a:avLst>
            </a:prstGeom>
            <a:solidFill>
              <a:srgbClr val="0EA5E9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029450" y="2562225"/>
              <a:ext cx="381000" cy="381000"/>
            </a:xfrm>
            <a:prstGeom prst="roundRect">
              <a:avLst>
                <a:gd name="adj" fmla="val 25000"/>
              </a:avLst>
            </a:prstGeom>
            <a:solidFill>
              <a:srgbClr val="E0F2FE"/>
            </a:solidFill>
            <a:ln>
              <a:noFill/>
            </a:ln>
          </p:spPr>
        </p:sp>
        <p:sp>
          <p:nvSpPr>
            <p:cNvPr id="40" name="Freeform 40"/>
            <p:cNvSpPr/>
            <p:nvPr/>
          </p:nvSpPr>
          <p:spPr>
            <a:xfrm>
              <a:off x="7105650" y="2667000"/>
              <a:ext cx="228600" cy="171450"/>
            </a:xfrm>
            <a:custGeom>
              <a:avLst/>
              <a:gdLst/>
              <a:ahLst/>
              <a:cxnLst/>
              <a:rect l="l" t="t" r="r" b="b"/>
              <a:pathLst>
                <a:path w="228600" h="171450">
                  <a:moveTo>
                    <a:pt x="28575" y="0"/>
                  </a:moveTo>
                  <a:lnTo>
                    <a:pt x="0" y="0"/>
                  </a:lnTo>
                  <a:lnTo>
                    <a:pt x="0" y="171450"/>
                  </a:lnTo>
                  <a:lnTo>
                    <a:pt x="28575" y="171450"/>
                  </a:lnTo>
                  <a:lnTo>
                    <a:pt x="28575" y="142875"/>
                  </a:lnTo>
                  <a:lnTo>
                    <a:pt x="200025" y="142875"/>
                  </a:lnTo>
                  <a:lnTo>
                    <a:pt x="200025" y="171450"/>
                  </a:lnTo>
                  <a:lnTo>
                    <a:pt x="228600" y="171450"/>
                  </a:lnTo>
                  <a:lnTo>
                    <a:pt x="228600" y="100012"/>
                  </a:lnTo>
                  <a:cubicBezTo>
                    <a:pt x="228600" y="76340"/>
                    <a:pt x="209410" y="57150"/>
                    <a:pt x="185738" y="57150"/>
                  </a:cubicBezTo>
                  <a:lnTo>
                    <a:pt x="85725" y="57150"/>
                  </a:lnTo>
                  <a:cubicBezTo>
                    <a:pt x="85725" y="41368"/>
                    <a:pt x="72932" y="28575"/>
                    <a:pt x="57150" y="28575"/>
                  </a:cubicBezTo>
                  <a:lnTo>
                    <a:pt x="28575" y="28575"/>
                  </a:lnTo>
                  <a:lnTo>
                    <a:pt x="28575" y="0"/>
                  </a:lnTo>
                  <a:close/>
                </a:path>
              </a:pathLst>
            </a:custGeom>
            <a:solidFill>
              <a:srgbClr val="0EA5E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528560" y="2566035"/>
              <a:ext cx="95979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酒店 Agent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31894" y="2822972"/>
              <a:ext cx="111918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候选酒店与便利度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682105" y="4581525"/>
            <a:ext cx="2286000" cy="742950"/>
            <a:chOff x="6096000" y="4581525"/>
            <a:chExt cx="2286000" cy="742950"/>
          </a:xfrm>
        </p:grpSpPr>
        <p:sp>
          <p:nvSpPr>
            <p:cNvPr id="44" name="Rectangle 44"/>
            <p:cNvSpPr/>
            <p:nvPr/>
          </p:nvSpPr>
          <p:spPr>
            <a:xfrm>
              <a:off x="6096000" y="4581525"/>
              <a:ext cx="2286000" cy="74295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95250" dist="38100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45" name="Rectangle 45"/>
            <p:cNvSpPr/>
            <p:nvPr/>
          </p:nvSpPr>
          <p:spPr>
            <a:xfrm>
              <a:off x="6096000" y="4791075"/>
              <a:ext cx="47625" cy="323850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267450" y="4752975"/>
              <a:ext cx="381000" cy="381000"/>
            </a:xfrm>
            <a:prstGeom prst="roundRect">
              <a:avLst>
                <a:gd name="adj" fmla="val 25000"/>
              </a:avLst>
            </a:prstGeom>
            <a:solidFill>
              <a:srgbClr val="ECFDF5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6372225" y="4829175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0" y="42862"/>
                  </a:moveTo>
                  <a:cubicBezTo>
                    <a:pt x="0" y="19190"/>
                    <a:pt x="19190" y="0"/>
                    <a:pt x="42862" y="0"/>
                  </a:cubicBezTo>
                  <a:lnTo>
                    <a:pt x="128588" y="0"/>
                  </a:lnTo>
                  <a:cubicBezTo>
                    <a:pt x="152260" y="0"/>
                    <a:pt x="171450" y="19190"/>
                    <a:pt x="171450" y="42862"/>
                  </a:cubicBezTo>
                  <a:lnTo>
                    <a:pt x="171450" y="157162"/>
                  </a:lnTo>
                  <a:cubicBezTo>
                    <a:pt x="171450" y="174428"/>
                    <a:pt x="161242" y="189309"/>
                    <a:pt x="146531" y="196100"/>
                  </a:cubicBezTo>
                  <a:lnTo>
                    <a:pt x="160460" y="228600"/>
                  </a:lnTo>
                  <a:lnTo>
                    <a:pt x="129372" y="228600"/>
                  </a:lnTo>
                  <a:lnTo>
                    <a:pt x="117125" y="200025"/>
                  </a:lnTo>
                  <a:lnTo>
                    <a:pt x="54325" y="200025"/>
                  </a:lnTo>
                  <a:lnTo>
                    <a:pt x="42078" y="228600"/>
                  </a:lnTo>
                  <a:lnTo>
                    <a:pt x="10990" y="228600"/>
                  </a:lnTo>
                  <a:lnTo>
                    <a:pt x="24918" y="196099"/>
                  </a:lnTo>
                  <a:cubicBezTo>
                    <a:pt x="10208" y="189309"/>
                    <a:pt x="0" y="174428"/>
                    <a:pt x="0" y="157162"/>
                  </a:cubicBezTo>
                  <a:lnTo>
                    <a:pt x="0" y="42862"/>
                  </a:lnTo>
                  <a:close/>
                  <a:moveTo>
                    <a:pt x="28575" y="42862"/>
                  </a:moveTo>
                  <a:lnTo>
                    <a:pt x="71438" y="42862"/>
                  </a:lnTo>
                  <a:lnTo>
                    <a:pt x="71438" y="100012"/>
                  </a:lnTo>
                  <a:lnTo>
                    <a:pt x="28575" y="100012"/>
                  </a:lnTo>
                  <a:lnTo>
                    <a:pt x="28575" y="42862"/>
                  </a:lnTo>
                  <a:close/>
                  <a:moveTo>
                    <a:pt x="142875" y="42862"/>
                  </a:moveTo>
                  <a:lnTo>
                    <a:pt x="100012" y="42862"/>
                  </a:lnTo>
                  <a:lnTo>
                    <a:pt x="100012" y="100012"/>
                  </a:lnTo>
                  <a:lnTo>
                    <a:pt x="142875" y="100012"/>
                  </a:lnTo>
                  <a:lnTo>
                    <a:pt x="142875" y="42862"/>
                  </a:lnTo>
                  <a:close/>
                  <a:moveTo>
                    <a:pt x="100012" y="142875"/>
                  </a:moveTo>
                  <a:cubicBezTo>
                    <a:pt x="100012" y="150766"/>
                    <a:pt x="93616" y="157162"/>
                    <a:pt x="85725" y="157162"/>
                  </a:cubicBezTo>
                  <a:cubicBezTo>
                    <a:pt x="77834" y="157162"/>
                    <a:pt x="71438" y="150766"/>
                    <a:pt x="71438" y="142875"/>
                  </a:cubicBezTo>
                  <a:cubicBezTo>
                    <a:pt x="71438" y="134984"/>
                    <a:pt x="77834" y="128588"/>
                    <a:pt x="85725" y="128588"/>
                  </a:cubicBezTo>
                  <a:cubicBezTo>
                    <a:pt x="93616" y="128588"/>
                    <a:pt x="100012" y="134984"/>
                    <a:pt x="100012" y="142875"/>
                  </a:cubicBezTo>
                  <a:close/>
                </a:path>
              </a:pathLst>
            </a:custGeom>
            <a:solidFill>
              <a:srgbClr val="059669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66560" y="4756785"/>
              <a:ext cx="95979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交通 Agent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769894" y="5013722"/>
              <a:ext cx="1119187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城市间交通与方案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3215640" y="4581525"/>
            <a:ext cx="2286000" cy="742950"/>
            <a:chOff x="3810000" y="4581525"/>
            <a:chExt cx="2286000" cy="742950"/>
          </a:xfrm>
        </p:grpSpPr>
        <p:sp>
          <p:nvSpPr>
            <p:cNvPr id="51" name="Rectangle 51"/>
            <p:cNvSpPr/>
            <p:nvPr/>
          </p:nvSpPr>
          <p:spPr>
            <a:xfrm>
              <a:off x="3810000" y="4581525"/>
              <a:ext cx="2286000" cy="74295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95250" dist="38100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52" name="Rectangle 52"/>
            <p:cNvSpPr/>
            <p:nvPr/>
          </p:nvSpPr>
          <p:spPr>
            <a:xfrm>
              <a:off x="3810000" y="4791075"/>
              <a:ext cx="47625" cy="32385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3981450" y="4752975"/>
              <a:ext cx="381000" cy="381000"/>
            </a:xfrm>
            <a:prstGeom prst="roundRect">
              <a:avLst>
                <a:gd name="adj" fmla="val 25000"/>
              </a:avLst>
            </a:prstGeom>
            <a:solidFill>
              <a:srgbClr val="FFFBEB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4086225" y="4829175"/>
              <a:ext cx="171450" cy="228600"/>
            </a:xfrm>
            <a:custGeom>
              <a:avLst/>
              <a:gdLst/>
              <a:ahLst/>
              <a:cxnLst/>
              <a:rect l="l" t="t" r="r" b="b"/>
              <a:pathLst>
                <a:path w="171450" h="228600">
                  <a:moveTo>
                    <a:pt x="0" y="0"/>
                  </a:moveTo>
                  <a:lnTo>
                    <a:pt x="171450" y="0"/>
                  </a:lnTo>
                  <a:lnTo>
                    <a:pt x="17145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  <a:moveTo>
                    <a:pt x="28575" y="28575"/>
                  </a:moveTo>
                  <a:lnTo>
                    <a:pt x="142875" y="28575"/>
                  </a:lnTo>
                  <a:lnTo>
                    <a:pt x="142875" y="85725"/>
                  </a:lnTo>
                  <a:lnTo>
                    <a:pt x="28575" y="85725"/>
                  </a:lnTo>
                  <a:lnTo>
                    <a:pt x="28575" y="28575"/>
                  </a:lnTo>
                  <a:close/>
                  <a:moveTo>
                    <a:pt x="42862" y="142875"/>
                  </a:moveTo>
                  <a:cubicBezTo>
                    <a:pt x="50753" y="142875"/>
                    <a:pt x="57150" y="136478"/>
                    <a:pt x="57150" y="128588"/>
                  </a:cubicBezTo>
                  <a:cubicBezTo>
                    <a:pt x="57150" y="120697"/>
                    <a:pt x="50753" y="114300"/>
                    <a:pt x="42862" y="114300"/>
                  </a:cubicBezTo>
                  <a:cubicBezTo>
                    <a:pt x="34972" y="114300"/>
                    <a:pt x="28575" y="120697"/>
                    <a:pt x="28575" y="128588"/>
                  </a:cubicBezTo>
                  <a:cubicBezTo>
                    <a:pt x="28575" y="136478"/>
                    <a:pt x="34972" y="142875"/>
                    <a:pt x="42862" y="142875"/>
                  </a:cubicBezTo>
                  <a:close/>
                  <a:moveTo>
                    <a:pt x="57150" y="185738"/>
                  </a:moveTo>
                  <a:cubicBezTo>
                    <a:pt x="57150" y="193628"/>
                    <a:pt x="50753" y="200025"/>
                    <a:pt x="42862" y="200025"/>
                  </a:cubicBezTo>
                  <a:cubicBezTo>
                    <a:pt x="34972" y="200025"/>
                    <a:pt x="28575" y="193628"/>
                    <a:pt x="28575" y="185738"/>
                  </a:cubicBezTo>
                  <a:cubicBezTo>
                    <a:pt x="28575" y="177847"/>
                    <a:pt x="34972" y="171450"/>
                    <a:pt x="42862" y="171450"/>
                  </a:cubicBezTo>
                  <a:cubicBezTo>
                    <a:pt x="50753" y="171450"/>
                    <a:pt x="57150" y="177847"/>
                    <a:pt x="57150" y="185738"/>
                  </a:cubicBezTo>
                  <a:close/>
                  <a:moveTo>
                    <a:pt x="85725" y="142875"/>
                  </a:moveTo>
                  <a:cubicBezTo>
                    <a:pt x="93616" y="142875"/>
                    <a:pt x="100012" y="136478"/>
                    <a:pt x="100012" y="128588"/>
                  </a:cubicBezTo>
                  <a:cubicBezTo>
                    <a:pt x="100012" y="120697"/>
                    <a:pt x="93616" y="114300"/>
                    <a:pt x="85725" y="114300"/>
                  </a:cubicBezTo>
                  <a:cubicBezTo>
                    <a:pt x="77834" y="114300"/>
                    <a:pt x="71438" y="120697"/>
                    <a:pt x="71438" y="128588"/>
                  </a:cubicBezTo>
                  <a:cubicBezTo>
                    <a:pt x="71438" y="136478"/>
                    <a:pt x="77834" y="142875"/>
                    <a:pt x="85725" y="142875"/>
                  </a:cubicBezTo>
                  <a:close/>
                  <a:moveTo>
                    <a:pt x="142875" y="128588"/>
                  </a:moveTo>
                  <a:cubicBezTo>
                    <a:pt x="142875" y="136478"/>
                    <a:pt x="136478" y="142875"/>
                    <a:pt x="128588" y="142875"/>
                  </a:cubicBezTo>
                  <a:cubicBezTo>
                    <a:pt x="120697" y="142875"/>
                    <a:pt x="114300" y="136478"/>
                    <a:pt x="114300" y="128588"/>
                  </a:cubicBezTo>
                  <a:cubicBezTo>
                    <a:pt x="114300" y="120697"/>
                    <a:pt x="120697" y="114300"/>
                    <a:pt x="128588" y="114300"/>
                  </a:cubicBezTo>
                  <a:cubicBezTo>
                    <a:pt x="136478" y="114300"/>
                    <a:pt x="142875" y="120697"/>
                    <a:pt x="142875" y="128588"/>
                  </a:cubicBezTo>
                  <a:close/>
                  <a:moveTo>
                    <a:pt x="85725" y="171450"/>
                  </a:moveTo>
                  <a:cubicBezTo>
                    <a:pt x="77834" y="171450"/>
                    <a:pt x="71438" y="177847"/>
                    <a:pt x="71438" y="185738"/>
                  </a:cubicBezTo>
                  <a:cubicBezTo>
                    <a:pt x="71438" y="193628"/>
                    <a:pt x="77834" y="200025"/>
                    <a:pt x="85725" y="200025"/>
                  </a:cubicBezTo>
                  <a:lnTo>
                    <a:pt x="128588" y="200025"/>
                  </a:lnTo>
                  <a:cubicBezTo>
                    <a:pt x="136478" y="200025"/>
                    <a:pt x="142875" y="193628"/>
                    <a:pt x="142875" y="185738"/>
                  </a:cubicBezTo>
                  <a:cubicBezTo>
                    <a:pt x="142875" y="177847"/>
                    <a:pt x="136478" y="171450"/>
                    <a:pt x="128588" y="171450"/>
                  </a:cubicBezTo>
                  <a:lnTo>
                    <a:pt x="85725" y="17145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480560" y="4756785"/>
              <a:ext cx="95979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预算 Agent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483894" y="5013722"/>
              <a:ext cx="1256109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汇总费用与优化建议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2222500" y="2390775"/>
            <a:ext cx="2286000" cy="742950"/>
            <a:chOff x="3048000" y="2390775"/>
            <a:chExt cx="2286000" cy="742950"/>
          </a:xfrm>
        </p:grpSpPr>
        <p:sp>
          <p:nvSpPr>
            <p:cNvPr id="58" name="Rectangle 58"/>
            <p:cNvSpPr/>
            <p:nvPr/>
          </p:nvSpPr>
          <p:spPr>
            <a:xfrm>
              <a:off x="3048000" y="2390775"/>
              <a:ext cx="2286000" cy="742950"/>
            </a:xfrm>
            <a:prstGeom prst="roundRect">
              <a:avLst>
                <a:gd name="adj" fmla="val 1538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95250" dist="38100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59" name="Rectangle 59"/>
            <p:cNvSpPr/>
            <p:nvPr/>
          </p:nvSpPr>
          <p:spPr>
            <a:xfrm>
              <a:off x="3048000" y="2600325"/>
              <a:ext cx="47625" cy="323850"/>
            </a:xfrm>
            <a:prstGeom prst="roundRect">
              <a:avLst>
                <a:gd name="adj" fmla="val 50000"/>
              </a:avLst>
            </a:prstGeom>
            <a:solidFill>
              <a:srgbClr val="DC2626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3219450" y="2562225"/>
              <a:ext cx="381000" cy="381000"/>
            </a:xfrm>
            <a:prstGeom prst="roundRect">
              <a:avLst>
                <a:gd name="adj" fmla="val 25000"/>
              </a:avLst>
            </a:prstGeom>
            <a:solidFill>
              <a:srgbClr val="FEE2E2"/>
            </a:solidFill>
            <a:ln>
              <a:noFill/>
            </a:ln>
          </p:spPr>
        </p:sp>
        <p:sp>
          <p:nvSpPr>
            <p:cNvPr id="61" name="Freeform 61"/>
            <p:cNvSpPr/>
            <p:nvPr/>
          </p:nvSpPr>
          <p:spPr>
            <a:xfrm>
              <a:off x="3309938" y="2638425"/>
              <a:ext cx="200025" cy="228600"/>
            </a:xfrm>
            <a:custGeom>
              <a:avLst/>
              <a:gdLst/>
              <a:ahLst/>
              <a:cxnLst/>
              <a:rect l="l" t="t" r="r" b="b"/>
              <a:pathLst>
                <a:path w="200025" h="228600">
                  <a:moveTo>
                    <a:pt x="47864" y="191351"/>
                  </a:moveTo>
                  <a:lnTo>
                    <a:pt x="100012" y="228600"/>
                  </a:lnTo>
                  <a:lnTo>
                    <a:pt x="152160" y="191351"/>
                  </a:lnTo>
                  <a:cubicBezTo>
                    <a:pt x="182198" y="169896"/>
                    <a:pt x="200025" y="135255"/>
                    <a:pt x="200025" y="98342"/>
                  </a:cubicBezTo>
                  <a:lnTo>
                    <a:pt x="200025" y="42862"/>
                  </a:lnTo>
                  <a:lnTo>
                    <a:pt x="100012" y="0"/>
                  </a:lnTo>
                  <a:lnTo>
                    <a:pt x="0" y="42862"/>
                  </a:lnTo>
                  <a:lnTo>
                    <a:pt x="0" y="98342"/>
                  </a:lnTo>
                  <a:cubicBezTo>
                    <a:pt x="0" y="135255"/>
                    <a:pt x="17827" y="169896"/>
                    <a:pt x="47864" y="191351"/>
                  </a:cubicBezTo>
                  <a:close/>
                </a:path>
              </a:pathLst>
            </a:custGeom>
            <a:solidFill>
              <a:srgbClr val="DC2626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718560" y="2566035"/>
              <a:ext cx="95979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风险 Agent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721894" y="2822972"/>
              <a:ext cx="1434108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4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签证 / 安全 / 行程强度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09600" y="5715000"/>
            <a:ext cx="10972800" cy="647700"/>
            <a:chOff x="609600" y="5715000"/>
            <a:chExt cx="10972800" cy="647700"/>
          </a:xfrm>
        </p:grpSpPr>
        <p:sp>
          <p:nvSpPr>
            <p:cNvPr id="65" name="Rectangle 65"/>
            <p:cNvSpPr/>
            <p:nvPr/>
          </p:nvSpPr>
          <p:spPr>
            <a:xfrm>
              <a:off x="609600" y="5715000"/>
              <a:ext cx="10972800" cy="647700"/>
            </a:xfrm>
            <a:prstGeom prst="roundRect">
              <a:avLst>
                <a:gd name="adj" fmla="val 17647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25818" y="5895499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563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依赖顺序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22960" y="6099810"/>
              <a:ext cx="68485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行程 ∥ 风险 → 确定核心城市 → 酒店 ∥ 交通 → 预算汇总，</a:t>
              </a:r>
              <a:r>
                <a:rPr lang="zh-CN" sz="1200" b="1" dirty="0">
                  <a:solidFill>
                    <a:srgbClr val="D97706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预算超 110% 触发二轮重规划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98170" y="6570345"/>
            <a:ext cx="10995660" cy="182880"/>
            <a:chOff x="598170" y="6570345"/>
            <a:chExt cx="10995660" cy="182880"/>
          </a:xfrm>
        </p:grpSpPr>
        <p:sp>
          <p:nvSpPr>
            <p:cNvPr id="69" name="TextBox 69"/>
            <p:cNvSpPr txBox="1"/>
            <p:nvPr/>
          </p:nvSpPr>
          <p:spPr>
            <a:xfrm>
              <a:off x="598170" y="6570345"/>
              <a:ext cx="17973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旅序 · 多 Agent 旅游规划系统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130629" y="6570345"/>
              <a:ext cx="4632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07 / 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1" grpId="0"/>
      <p:bldP spid="26" grpId="0"/>
      <p:bldP spid="36" grpId="0"/>
      <p:bldP spid="43" grpId="0"/>
      <p:bldP spid="50" grpId="0"/>
      <p:bldP spid="57" grpId="0"/>
      <p:bldP spid="64" grpId="0"/>
      <p:bldP spid="6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609600" y="476250"/>
            <a:ext cx="10725150" cy="652462"/>
            <a:chOff x="609600" y="476250"/>
            <a:chExt cx="10725150" cy="652462"/>
          </a:xfrm>
        </p:grpSpPr>
        <p:sp>
          <p:nvSpPr>
            <p:cNvPr id="3" name="Rectangle 3"/>
            <p:cNvSpPr/>
            <p:nvPr/>
          </p:nvSpPr>
          <p:spPr>
            <a:xfrm>
              <a:off x="609600" y="476250"/>
              <a:ext cx="57150" cy="4191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502920"/>
              <a:ext cx="6354547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ReAct 循环：Agent 与聊天的本质区别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915352"/>
              <a:ext cx="37542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CORE · 思考 → 行动 → 观察 闭环，带出口与上限机制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10972800" y="495300"/>
              <a:ext cx="361950" cy="361950"/>
              <a:chOff x="10972800" y="495300"/>
              <a:chExt cx="361950" cy="36195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018044" y="495300"/>
                <a:ext cx="316706" cy="158353"/>
              </a:xfrm>
              <a:custGeom>
                <a:avLst/>
                <a:gdLst/>
                <a:ahLst/>
                <a:cxnLst/>
                <a:rect l="l" t="t" r="r" b="b"/>
                <a:pathLst>
                  <a:path w="316706" h="158353">
                    <a:moveTo>
                      <a:pt x="180975" y="158353"/>
                    </a:moveTo>
                    <a:lnTo>
                      <a:pt x="158353" y="135731"/>
                    </a:lnTo>
                    <a:lnTo>
                      <a:pt x="210223" y="83862"/>
                    </a:lnTo>
                    <a:lnTo>
                      <a:pt x="196971" y="70610"/>
                    </a:lnTo>
                    <a:cubicBezTo>
                      <a:pt x="180729" y="54368"/>
                      <a:pt x="158701" y="45244"/>
                      <a:pt x="135731" y="45244"/>
                    </a:cubicBezTo>
                    <a:cubicBezTo>
                      <a:pt x="112762" y="45244"/>
                      <a:pt x="90733" y="54368"/>
                      <a:pt x="74491" y="70610"/>
                    </a:cubicBezTo>
                    <a:lnTo>
                      <a:pt x="72551" y="72551"/>
                    </a:lnTo>
                    <a:cubicBezTo>
                      <a:pt x="55066" y="90035"/>
                      <a:pt x="45244" y="113749"/>
                      <a:pt x="45244" y="138476"/>
                    </a:cubicBezTo>
                    <a:lnTo>
                      <a:pt x="45244" y="158353"/>
                    </a:lnTo>
                    <a:lnTo>
                      <a:pt x="0" y="158353"/>
                    </a:lnTo>
                    <a:lnTo>
                      <a:pt x="0" y="138476"/>
                    </a:lnTo>
                    <a:cubicBezTo>
                      <a:pt x="0" y="101750"/>
                      <a:pt x="14589" y="66528"/>
                      <a:pt x="40559" y="40559"/>
                    </a:cubicBezTo>
                    <a:lnTo>
                      <a:pt x="42499" y="38618"/>
                    </a:lnTo>
                    <a:cubicBezTo>
                      <a:pt x="67226" y="13891"/>
                      <a:pt x="100762" y="0"/>
                      <a:pt x="135731" y="0"/>
                    </a:cubicBezTo>
                    <a:cubicBezTo>
                      <a:pt x="170700" y="0"/>
                      <a:pt x="204237" y="13891"/>
                      <a:pt x="228963" y="38618"/>
                    </a:cubicBezTo>
                    <a:lnTo>
                      <a:pt x="242215" y="51869"/>
                    </a:lnTo>
                    <a:lnTo>
                      <a:pt x="294084" y="0"/>
                    </a:lnTo>
                    <a:lnTo>
                      <a:pt x="316706" y="22622"/>
                    </a:lnTo>
                    <a:lnTo>
                      <a:pt x="316706" y="158353"/>
                    </a:lnTo>
                    <a:lnTo>
                      <a:pt x="180975" y="158353"/>
                    </a:ln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972800" y="698897"/>
                <a:ext cx="316706" cy="158353"/>
              </a:xfrm>
              <a:custGeom>
                <a:avLst/>
                <a:gdLst/>
                <a:ahLst/>
                <a:cxnLst/>
                <a:rect l="l" t="t" r="r" b="b"/>
                <a:pathLst>
                  <a:path w="316706" h="158353">
                    <a:moveTo>
                      <a:pt x="119735" y="87743"/>
                    </a:moveTo>
                    <a:cubicBezTo>
                      <a:pt x="135977" y="103984"/>
                      <a:pt x="158006" y="113109"/>
                      <a:pt x="180975" y="113109"/>
                    </a:cubicBezTo>
                    <a:cubicBezTo>
                      <a:pt x="203944" y="113109"/>
                      <a:pt x="225973" y="103986"/>
                      <a:pt x="242215" y="87743"/>
                    </a:cubicBezTo>
                    <a:lnTo>
                      <a:pt x="244156" y="85803"/>
                    </a:lnTo>
                    <a:cubicBezTo>
                      <a:pt x="261640" y="68318"/>
                      <a:pt x="271462" y="44604"/>
                      <a:pt x="271462" y="19877"/>
                    </a:cubicBezTo>
                    <a:lnTo>
                      <a:pt x="271462" y="0"/>
                    </a:lnTo>
                    <a:lnTo>
                      <a:pt x="316706" y="0"/>
                    </a:lnTo>
                    <a:lnTo>
                      <a:pt x="316706" y="19877"/>
                    </a:lnTo>
                    <a:cubicBezTo>
                      <a:pt x="316706" y="56604"/>
                      <a:pt x="302117" y="91824"/>
                      <a:pt x="276147" y="117794"/>
                    </a:cubicBezTo>
                    <a:lnTo>
                      <a:pt x="274207" y="119735"/>
                    </a:lnTo>
                    <a:cubicBezTo>
                      <a:pt x="249481" y="144461"/>
                      <a:pt x="215944" y="158353"/>
                      <a:pt x="180975" y="158353"/>
                    </a:cubicBezTo>
                    <a:cubicBezTo>
                      <a:pt x="146006" y="158353"/>
                      <a:pt x="112470" y="144461"/>
                      <a:pt x="87743" y="119735"/>
                    </a:cubicBezTo>
                    <a:lnTo>
                      <a:pt x="74491" y="106483"/>
                    </a:lnTo>
                    <a:lnTo>
                      <a:pt x="22622" y="158353"/>
                    </a:lnTo>
                    <a:lnTo>
                      <a:pt x="0" y="135731"/>
                    </a:lnTo>
                    <a:lnTo>
                      <a:pt x="0" y="0"/>
                    </a:lnTo>
                    <a:lnTo>
                      <a:pt x="135731" y="0"/>
                    </a:lnTo>
                    <a:lnTo>
                      <a:pt x="158353" y="22622"/>
                    </a:lnTo>
                    <a:lnTo>
                      <a:pt x="106484" y="74492"/>
                    </a:lnTo>
                    <a:lnTo>
                      <a:pt x="119735" y="87743"/>
                    </a:ln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</p:grpSp>
      </p:grpSp>
      <p:sp>
        <p:nvSpPr>
          <p:cNvPr id="10" name="Line 10"/>
          <p:cNvSpPr/>
          <p:nvPr/>
        </p:nvSpPr>
        <p:spPr>
          <a:xfrm>
            <a:off x="609600" y="12573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</p:sp>
      <p:grpSp>
        <p:nvGrpSpPr>
          <p:cNvPr id="43" name="Group 43"/>
          <p:cNvGrpSpPr/>
          <p:nvPr/>
        </p:nvGrpSpPr>
        <p:grpSpPr>
          <a:xfrm>
            <a:off x="750475" y="1292542"/>
            <a:ext cx="4976050" cy="4042410"/>
            <a:chOff x="750475" y="1391602"/>
            <a:chExt cx="4976050" cy="4042410"/>
          </a:xfrm>
        </p:grpSpPr>
        <p:sp>
          <p:nvSpPr>
            <p:cNvPr id="11" name="Ellipse 11"/>
            <p:cNvSpPr/>
            <p:nvPr/>
          </p:nvSpPr>
          <p:spPr>
            <a:xfrm>
              <a:off x="1809750" y="1905000"/>
              <a:ext cx="2857500" cy="2857500"/>
            </a:xfrm>
            <a:prstGeom prst="ellipse">
              <a:avLst/>
            </a:prstGeom>
            <a:noFill/>
            <a:ln w="19050">
              <a:solidFill>
                <a:srgbClr val="E2E8F0"/>
              </a:solidFill>
              <a:prstDash val="lgDash"/>
            </a:ln>
          </p:spPr>
        </p:sp>
        <p:sp>
          <p:nvSpPr>
            <p:cNvPr id="12" name="Freeform 12"/>
            <p:cNvSpPr/>
            <p:nvPr/>
          </p:nvSpPr>
          <p:spPr>
            <a:xfrm>
              <a:off x="3543300" y="2114550"/>
              <a:ext cx="1009650" cy="914400"/>
            </a:xfrm>
            <a:custGeom>
              <a:avLst/>
              <a:gdLst/>
              <a:ahLst/>
              <a:cxnLst/>
              <a:rect l="l" t="t" r="r" b="b"/>
              <a:pathLst>
                <a:path w="1009650" h="914400">
                  <a:moveTo>
                    <a:pt x="0" y="0"/>
                  </a:moveTo>
                  <a:cubicBezTo>
                    <a:pt x="622300" y="114300"/>
                    <a:pt x="958850" y="419100"/>
                    <a:pt x="1009650" y="914400"/>
                  </a:cubicBezTo>
                </a:path>
              </a:pathLst>
            </a:custGeom>
            <a:noFill/>
            <a:ln w="28575">
              <a:solidFill>
                <a:srgbClr val="0EA5E9">
                  <a:alpha val="60000"/>
                </a:srgbClr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4476750" y="2971800"/>
              <a:ext cx="95250" cy="152400"/>
            </a:xfrm>
            <a:custGeom>
              <a:avLst/>
              <a:gdLst/>
              <a:ahLst/>
              <a:cxnLst/>
              <a:rect l="l" t="t" r="r" b="b"/>
              <a:pathLst>
                <a:path w="95250" h="152400">
                  <a:moveTo>
                    <a:pt x="95250" y="95250"/>
                  </a:moveTo>
                  <a:lnTo>
                    <a:pt x="0" y="0"/>
                  </a:lnTo>
                  <a:lnTo>
                    <a:pt x="19050" y="152400"/>
                  </a:lnTo>
                  <a:close/>
                </a:path>
              </a:pathLst>
            </a:custGeom>
            <a:solidFill>
              <a:srgbClr val="0EA5E9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3543300" y="3638550"/>
              <a:ext cx="1009650" cy="914400"/>
            </a:xfrm>
            <a:custGeom>
              <a:avLst/>
              <a:gdLst/>
              <a:ahLst/>
              <a:cxnLst/>
              <a:rect l="l" t="t" r="r" b="b"/>
              <a:pathLst>
                <a:path w="1009650" h="914400">
                  <a:moveTo>
                    <a:pt x="1009650" y="0"/>
                  </a:moveTo>
                  <a:cubicBezTo>
                    <a:pt x="958850" y="495300"/>
                    <a:pt x="622300" y="800100"/>
                    <a:pt x="0" y="914400"/>
                  </a:cubicBezTo>
                </a:path>
              </a:pathLst>
            </a:custGeom>
            <a:noFill/>
            <a:ln w="28575">
              <a:solidFill>
                <a:srgbClr val="059669">
                  <a:alpha val="60000"/>
                </a:srgbClr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3505200" y="4476750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0" y="95250"/>
                  </a:moveTo>
                  <a:lnTo>
                    <a:pt x="95250" y="0"/>
                  </a:lnTo>
                  <a:lnTo>
                    <a:pt x="114300" y="152400"/>
                  </a:lnTo>
                  <a:close/>
                </a:path>
              </a:pathLst>
            </a:custGeom>
            <a:solidFill>
              <a:srgbClr val="059669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1924050" y="3638550"/>
              <a:ext cx="1009650" cy="914400"/>
            </a:xfrm>
            <a:custGeom>
              <a:avLst/>
              <a:gdLst/>
              <a:ahLst/>
              <a:cxnLst/>
              <a:rect l="l" t="t" r="r" b="b"/>
              <a:pathLst>
                <a:path w="1009650" h="914400">
                  <a:moveTo>
                    <a:pt x="1009650" y="914400"/>
                  </a:moveTo>
                  <a:cubicBezTo>
                    <a:pt x="387350" y="800100"/>
                    <a:pt x="50800" y="495300"/>
                    <a:pt x="0" y="0"/>
                  </a:cubicBezTo>
                </a:path>
              </a:pathLst>
            </a:custGeom>
            <a:noFill/>
            <a:ln w="28575">
              <a:solidFill>
                <a:srgbClr val="D97706">
                  <a:alpha val="60000"/>
                </a:srgbClr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1790700" y="3600450"/>
              <a:ext cx="209550" cy="95250"/>
            </a:xfrm>
            <a:custGeom>
              <a:avLst/>
              <a:gdLst/>
              <a:ahLst/>
              <a:cxnLst/>
              <a:rect l="l" t="t" r="r" b="b"/>
              <a:pathLst>
                <a:path w="209550" h="95250">
                  <a:moveTo>
                    <a:pt x="114300" y="0"/>
                  </a:moveTo>
                  <a:lnTo>
                    <a:pt x="209550" y="952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1924050" y="2114550"/>
              <a:ext cx="1009650" cy="914400"/>
            </a:xfrm>
            <a:custGeom>
              <a:avLst/>
              <a:gdLst/>
              <a:ahLst/>
              <a:cxnLst/>
              <a:rect l="l" t="t" r="r" b="b"/>
              <a:pathLst>
                <a:path w="1009650" h="914400">
                  <a:moveTo>
                    <a:pt x="0" y="914400"/>
                  </a:moveTo>
                  <a:cubicBezTo>
                    <a:pt x="50800" y="419100"/>
                    <a:pt x="387350" y="114300"/>
                    <a:pt x="1009650" y="0"/>
                  </a:cubicBezTo>
                </a:path>
              </a:pathLst>
            </a:custGeom>
            <a:noFill/>
            <a:ln w="28575">
              <a:solidFill>
                <a:srgbClr val="2563EB">
                  <a:alpha val="60000"/>
                </a:srgbClr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2857500" y="2038350"/>
              <a:ext cx="114300" cy="152400"/>
            </a:xfrm>
            <a:custGeom>
              <a:avLst/>
              <a:gdLst/>
              <a:ahLst/>
              <a:cxnLst/>
              <a:rect l="l" t="t" r="r" b="b"/>
              <a:pathLst>
                <a:path w="114300" h="152400">
                  <a:moveTo>
                    <a:pt x="114300" y="57150"/>
                  </a:moveTo>
                  <a:lnTo>
                    <a:pt x="1905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2686050" y="2781300"/>
              <a:ext cx="1104900" cy="1104900"/>
            </a:xfrm>
            <a:prstGeom prst="ellipse">
              <a:avLst/>
            </a:prstGeom>
            <a:solidFill>
              <a:srgbClr val="EFF6FF"/>
            </a:solidFill>
            <a:ln w="19050">
              <a:solidFill>
                <a:srgbClr val="2563E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903160" y="3124200"/>
              <a:ext cx="6706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563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ReAct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793302" y="3408045"/>
              <a:ext cx="8903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4748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AgentLoop.cs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2838450" y="1391602"/>
              <a:ext cx="800100" cy="913448"/>
              <a:chOff x="2838450" y="1391602"/>
              <a:chExt cx="800100" cy="913448"/>
            </a:xfrm>
          </p:grpSpPr>
          <p:sp>
            <p:nvSpPr>
              <p:cNvPr id="23" name="Ellipse 23"/>
              <p:cNvSpPr/>
              <p:nvPr/>
            </p:nvSpPr>
            <p:spPr>
              <a:xfrm>
                <a:off x="2838450" y="1504950"/>
                <a:ext cx="800100" cy="8001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  <a:effectLst>
                <a:outerShdw blurRad="95250" dist="28575" dir="5400000" algn="ctr" rotWithShape="0">
                  <a:srgbClr val="0F172A">
                    <a:alpha val="11250"/>
                  </a:srgbClr>
                </a:outerShdw>
              </a:effectLst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3110007" y="1688782"/>
                <a:ext cx="25698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01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974038" y="1960245"/>
                <a:ext cx="52892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E0F2FE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Thought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2903125" y="1391602"/>
                <a:ext cx="6707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E293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思考决策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4362450" y="2933700"/>
              <a:ext cx="1364075" cy="800100"/>
              <a:chOff x="4362450" y="2933700"/>
              <a:chExt cx="1364075" cy="800100"/>
            </a:xfrm>
          </p:grpSpPr>
          <p:sp>
            <p:nvSpPr>
              <p:cNvPr id="28" name="Ellipse 28"/>
              <p:cNvSpPr/>
              <p:nvPr/>
            </p:nvSpPr>
            <p:spPr>
              <a:xfrm>
                <a:off x="4362450" y="2933700"/>
                <a:ext cx="800100" cy="800100"/>
              </a:xfrm>
              <a:prstGeom prst="ellipse">
                <a:avLst/>
              </a:prstGeom>
              <a:solidFill>
                <a:srgbClr val="0EA5E9"/>
              </a:solidFill>
              <a:ln>
                <a:noFill/>
              </a:ln>
              <a:effectLst>
                <a:outerShdw blurRad="95250" dist="28575" dir="5400000" algn="ctr" rotWithShape="0">
                  <a:srgbClr val="0F172A">
                    <a:alpha val="11250"/>
                  </a:srgbClr>
                </a:outerShdw>
              </a:effectLst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4602378" y="3117532"/>
                <a:ext cx="32024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02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550616" y="3388995"/>
                <a:ext cx="42376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E0F2FE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Action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055775" y="3258502"/>
                <a:ext cx="6707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E293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工具调用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2838450" y="4362450"/>
              <a:ext cx="800100" cy="1071562"/>
              <a:chOff x="2838450" y="4362450"/>
              <a:chExt cx="800100" cy="1071562"/>
            </a:xfrm>
          </p:grpSpPr>
          <p:sp>
            <p:nvSpPr>
              <p:cNvPr id="33" name="Ellipse 33"/>
              <p:cNvSpPr/>
              <p:nvPr/>
            </p:nvSpPr>
            <p:spPr>
              <a:xfrm>
                <a:off x="2838450" y="4362450"/>
                <a:ext cx="800100" cy="800100"/>
              </a:xfrm>
              <a:prstGeom prst="ellipse">
                <a:avLst/>
              </a:prstGeom>
              <a:solidFill>
                <a:srgbClr val="059669"/>
              </a:solidFill>
              <a:ln>
                <a:noFill/>
              </a:ln>
              <a:effectLst>
                <a:outerShdw blurRad="95250" dist="28575" dir="5400000" algn="ctr" rotWithShape="0">
                  <a:srgbClr val="0F172A">
                    <a:alpha val="11250"/>
                  </a:srgbClr>
                </a:outerShdw>
              </a:effectLst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3078378" y="4546282"/>
                <a:ext cx="32024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03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2960894" y="4817745"/>
                <a:ext cx="55521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ECFDF5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Observe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2903125" y="5220652"/>
                <a:ext cx="6707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E293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观察结果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750475" y="2933700"/>
              <a:ext cx="1364075" cy="800100"/>
              <a:chOff x="750475" y="2933700"/>
              <a:chExt cx="1364075" cy="800100"/>
            </a:xfrm>
          </p:grpSpPr>
          <p:sp>
            <p:nvSpPr>
              <p:cNvPr id="38" name="Ellipse 38"/>
              <p:cNvSpPr/>
              <p:nvPr/>
            </p:nvSpPr>
            <p:spPr>
              <a:xfrm>
                <a:off x="1314450" y="2933700"/>
                <a:ext cx="800100" cy="800100"/>
              </a:xfrm>
              <a:prstGeom prst="ellipse">
                <a:avLst/>
              </a:prstGeom>
              <a:solidFill>
                <a:srgbClr val="D97706"/>
              </a:solidFill>
              <a:ln>
                <a:noFill/>
              </a:ln>
              <a:effectLst>
                <a:outerShdw blurRad="95250" dist="28575" dir="5400000" algn="ctr" rotWithShape="0">
                  <a:srgbClr val="0F172A">
                    <a:alpha val="11250"/>
                  </a:srgbClr>
                </a:outerShdw>
              </a:effectLst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1554378" y="3117532"/>
                <a:ext cx="32024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04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473041" y="3388995"/>
                <a:ext cx="48291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BE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AskLLM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50475" y="3258502"/>
                <a:ext cx="6707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E293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询问模型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609600" y="5295900"/>
            <a:ext cx="5257800" cy="1066800"/>
            <a:chOff x="609600" y="5295900"/>
            <a:chExt cx="5257800" cy="1066800"/>
          </a:xfrm>
        </p:grpSpPr>
        <p:sp>
          <p:nvSpPr>
            <p:cNvPr id="44" name="Rectangle 44"/>
            <p:cNvSpPr/>
            <p:nvPr/>
          </p:nvSpPr>
          <p:spPr>
            <a:xfrm>
              <a:off x="609600" y="5295900"/>
              <a:ext cx="5257800" cy="1066800"/>
            </a:xfrm>
            <a:prstGeom prst="roundRect">
              <a:avLst>
                <a:gd name="adj" fmla="val 8929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86765" y="5449252"/>
              <a:ext cx="17518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while step &lt; </a:t>
              </a:r>
              <a:r>
                <a:rPr lang="zh-CN" sz="1050" dirty="0">
                  <a:solidFill>
                    <a:srgbClr val="34D3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MaxSteps</a:t>
              </a:r>
              <a:r>
                <a:rPr lang="zh-CN" sz="1050" dirty="0">
                  <a:solidFill>
                    <a:srgbClr val="94A3B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: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39165" y="5658802"/>
              <a:ext cx="20585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2E8F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 = </a:t>
              </a:r>
              <a:r>
                <a:rPr lang="zh-CN" sz="1050" dirty="0">
                  <a:solidFill>
                    <a:srgbClr val="0EA5E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AskLLM</a:t>
              </a:r>
              <a:r>
                <a:rPr lang="zh-CN" sz="1050" dirty="0">
                  <a:solidFill>
                    <a:srgbClr val="E2E8F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(history, tools)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39165" y="5868352"/>
              <a:ext cx="19359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2E8F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if t.final: </a:t>
              </a:r>
              <a:r>
                <a:rPr lang="zh-CN" sz="1050" dirty="0">
                  <a:solidFill>
                    <a:srgbClr val="34D3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return Answer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39165" y="6077902"/>
              <a:ext cx="30937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2E8F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obs = Execute(t.action); history += </a:t>
              </a:r>
              <a:r>
                <a:rPr lang="zh-CN" sz="1050" dirty="0">
                  <a:solidFill>
                    <a:srgbClr val="FBBF2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tool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6477000" y="1524000"/>
            <a:ext cx="5105400" cy="4762500"/>
            <a:chOff x="6477000" y="1524000"/>
            <a:chExt cx="5105400" cy="4762500"/>
          </a:xfrm>
        </p:grpSpPr>
        <p:grpSp>
          <p:nvGrpSpPr>
            <p:cNvPr id="58" name="Group 58"/>
            <p:cNvGrpSpPr/>
            <p:nvPr/>
          </p:nvGrpSpPr>
          <p:grpSpPr>
            <a:xfrm>
              <a:off x="6477000" y="1524000"/>
              <a:ext cx="5105400" cy="1104900"/>
              <a:chOff x="6477000" y="1524000"/>
              <a:chExt cx="5105400" cy="11049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6477000" y="1524000"/>
                <a:ext cx="5105400" cy="1104900"/>
              </a:xfrm>
              <a:prstGeom prst="roundRect">
                <a:avLst>
                  <a:gd name="adj" fmla="val 10345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</p:spPr>
          </p:sp>
          <p:sp>
            <p:nvSpPr>
              <p:cNvPr id="51" name="Rectangle 51"/>
              <p:cNvSpPr/>
              <p:nvPr/>
            </p:nvSpPr>
            <p:spPr>
              <a:xfrm>
                <a:off x="6477000" y="1714500"/>
                <a:ext cx="57150" cy="723900"/>
              </a:xfrm>
              <a:prstGeom prst="roundRect">
                <a:avLst>
                  <a:gd name="adj" fmla="val 50000"/>
                </a:avLst>
              </a:prstGeom>
              <a:solidFill>
                <a:srgbClr val="2563EB"/>
              </a:solidFill>
              <a:ln>
                <a:noFill/>
              </a:ln>
            </p:spPr>
          </p:sp>
          <p:grpSp>
            <p:nvGrpSpPr>
              <p:cNvPr id="54" name="Group 54"/>
              <p:cNvGrpSpPr/>
              <p:nvPr/>
            </p:nvGrpSpPr>
            <p:grpSpPr>
              <a:xfrm>
                <a:off x="6705600" y="1809750"/>
                <a:ext cx="285750" cy="285750"/>
                <a:chOff x="6705600" y="1809750"/>
                <a:chExt cx="285750" cy="285750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6812756" y="1916906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71438"/>
                      </a:moveTo>
                      <a:lnTo>
                        <a:pt x="0" y="0"/>
                      </a:lnTo>
                      <a:lnTo>
                        <a:pt x="71438" y="0"/>
                      </a:lnTo>
                      <a:lnTo>
                        <a:pt x="71438" y="71438"/>
                      </a:lnTo>
                      <a:lnTo>
                        <a:pt x="0" y="71438"/>
                      </a:lnTo>
                      <a:close/>
                    </a:path>
                  </a:pathLst>
                </a:custGeom>
                <a:solidFill>
                  <a:srgbClr val="2563EB"/>
                </a:solidFill>
                <a:ln>
                  <a:noFill/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6705600" y="1809750"/>
                  <a:ext cx="285750" cy="285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0" h="285750">
                      <a:moveTo>
                        <a:pt x="53578" y="35719"/>
                      </a:moveTo>
                      <a:lnTo>
                        <a:pt x="53578" y="0"/>
                      </a:lnTo>
                      <a:lnTo>
                        <a:pt x="89297" y="0"/>
                      </a:lnTo>
                      <a:lnTo>
                        <a:pt x="89297" y="35719"/>
                      </a:lnTo>
                      <a:lnTo>
                        <a:pt x="125016" y="35719"/>
                      </a:lnTo>
                      <a:lnTo>
                        <a:pt x="125016" y="0"/>
                      </a:lnTo>
                      <a:lnTo>
                        <a:pt x="160734" y="0"/>
                      </a:lnTo>
                      <a:lnTo>
                        <a:pt x="160734" y="35719"/>
                      </a:lnTo>
                      <a:lnTo>
                        <a:pt x="196453" y="35719"/>
                      </a:lnTo>
                      <a:lnTo>
                        <a:pt x="196453" y="0"/>
                      </a:lnTo>
                      <a:lnTo>
                        <a:pt x="232172" y="0"/>
                      </a:lnTo>
                      <a:lnTo>
                        <a:pt x="232172" y="35719"/>
                      </a:lnTo>
                      <a:lnTo>
                        <a:pt x="250031" y="35719"/>
                      </a:lnTo>
                      <a:lnTo>
                        <a:pt x="250031" y="53578"/>
                      </a:lnTo>
                      <a:lnTo>
                        <a:pt x="285750" y="53578"/>
                      </a:lnTo>
                      <a:lnTo>
                        <a:pt x="285750" y="89297"/>
                      </a:lnTo>
                      <a:lnTo>
                        <a:pt x="250031" y="89297"/>
                      </a:lnTo>
                      <a:lnTo>
                        <a:pt x="250031" y="125016"/>
                      </a:lnTo>
                      <a:lnTo>
                        <a:pt x="285750" y="125016"/>
                      </a:lnTo>
                      <a:lnTo>
                        <a:pt x="285750" y="160734"/>
                      </a:lnTo>
                      <a:lnTo>
                        <a:pt x="250031" y="160734"/>
                      </a:lnTo>
                      <a:lnTo>
                        <a:pt x="250031" y="196453"/>
                      </a:lnTo>
                      <a:lnTo>
                        <a:pt x="285750" y="196453"/>
                      </a:lnTo>
                      <a:lnTo>
                        <a:pt x="285750" y="232172"/>
                      </a:lnTo>
                      <a:lnTo>
                        <a:pt x="250031" y="232172"/>
                      </a:lnTo>
                      <a:lnTo>
                        <a:pt x="250031" y="250031"/>
                      </a:lnTo>
                      <a:lnTo>
                        <a:pt x="232172" y="250031"/>
                      </a:lnTo>
                      <a:lnTo>
                        <a:pt x="232172" y="285750"/>
                      </a:lnTo>
                      <a:lnTo>
                        <a:pt x="196453" y="285750"/>
                      </a:lnTo>
                      <a:lnTo>
                        <a:pt x="196453" y="250031"/>
                      </a:lnTo>
                      <a:lnTo>
                        <a:pt x="160734" y="250031"/>
                      </a:lnTo>
                      <a:lnTo>
                        <a:pt x="160734" y="285750"/>
                      </a:lnTo>
                      <a:lnTo>
                        <a:pt x="125016" y="285750"/>
                      </a:lnTo>
                      <a:lnTo>
                        <a:pt x="125016" y="250031"/>
                      </a:lnTo>
                      <a:lnTo>
                        <a:pt x="89297" y="250031"/>
                      </a:lnTo>
                      <a:lnTo>
                        <a:pt x="89297" y="285750"/>
                      </a:lnTo>
                      <a:lnTo>
                        <a:pt x="53578" y="285750"/>
                      </a:lnTo>
                      <a:lnTo>
                        <a:pt x="53578" y="250031"/>
                      </a:lnTo>
                      <a:lnTo>
                        <a:pt x="35719" y="250031"/>
                      </a:lnTo>
                      <a:lnTo>
                        <a:pt x="35719" y="232172"/>
                      </a:lnTo>
                      <a:lnTo>
                        <a:pt x="0" y="232172"/>
                      </a:lnTo>
                      <a:lnTo>
                        <a:pt x="0" y="196453"/>
                      </a:lnTo>
                      <a:lnTo>
                        <a:pt x="35719" y="196453"/>
                      </a:lnTo>
                      <a:lnTo>
                        <a:pt x="35719" y="160734"/>
                      </a:lnTo>
                      <a:lnTo>
                        <a:pt x="0" y="160734"/>
                      </a:lnTo>
                      <a:lnTo>
                        <a:pt x="0" y="125016"/>
                      </a:lnTo>
                      <a:lnTo>
                        <a:pt x="35719" y="125016"/>
                      </a:lnTo>
                      <a:lnTo>
                        <a:pt x="35719" y="89297"/>
                      </a:lnTo>
                      <a:lnTo>
                        <a:pt x="0" y="89297"/>
                      </a:lnTo>
                      <a:lnTo>
                        <a:pt x="0" y="53578"/>
                      </a:lnTo>
                      <a:lnTo>
                        <a:pt x="35719" y="53578"/>
                      </a:lnTo>
                      <a:lnTo>
                        <a:pt x="35719" y="35719"/>
                      </a:lnTo>
                      <a:lnTo>
                        <a:pt x="53578" y="35719"/>
                      </a:lnTo>
                      <a:close/>
                      <a:moveTo>
                        <a:pt x="71438" y="71438"/>
                      </a:moveTo>
                      <a:lnTo>
                        <a:pt x="71438" y="214312"/>
                      </a:lnTo>
                      <a:lnTo>
                        <a:pt x="214312" y="214312"/>
                      </a:lnTo>
                      <a:lnTo>
                        <a:pt x="214312" y="71438"/>
                      </a:lnTo>
                      <a:lnTo>
                        <a:pt x="71438" y="71438"/>
                      </a:lnTo>
                      <a:close/>
                    </a:path>
                  </a:pathLst>
                </a:custGeom>
                <a:solidFill>
                  <a:srgbClr val="2563EB"/>
                </a:solidFill>
                <a:ln>
                  <a:noFill/>
                </a:ln>
              </p:spPr>
            </p:sp>
          </p:grpSp>
          <p:sp>
            <p:nvSpPr>
              <p:cNvPr id="55" name="TextBox 55"/>
              <p:cNvSpPr txBox="1"/>
              <p:nvPr/>
            </p:nvSpPr>
            <p:spPr>
              <a:xfrm>
                <a:off x="7107555" y="1778318"/>
                <a:ext cx="230122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E293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完整历史 + 工具 Schema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7111365" y="2096452"/>
                <a:ext cx="202025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每轮传入完整对话与工具定义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7111365" y="2306002"/>
                <a:ext cx="171354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模型据此决定下一步动作</a:t>
                </a: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6477000" y="2743200"/>
              <a:ext cx="5105400" cy="1104900"/>
              <a:chOff x="6477000" y="2743200"/>
              <a:chExt cx="5105400" cy="1104900"/>
            </a:xfrm>
          </p:grpSpPr>
          <p:sp>
            <p:nvSpPr>
              <p:cNvPr id="59" name="Rectangle 59"/>
              <p:cNvSpPr/>
              <p:nvPr/>
            </p:nvSpPr>
            <p:spPr>
              <a:xfrm>
                <a:off x="6477000" y="2743200"/>
                <a:ext cx="5105400" cy="1104900"/>
              </a:xfrm>
              <a:prstGeom prst="roundRect">
                <a:avLst>
                  <a:gd name="adj" fmla="val 10345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</p:spPr>
          </p:sp>
          <p:sp>
            <p:nvSpPr>
              <p:cNvPr id="60" name="Rectangle 60"/>
              <p:cNvSpPr/>
              <p:nvPr/>
            </p:nvSpPr>
            <p:spPr>
              <a:xfrm>
                <a:off x="6477000" y="2933700"/>
                <a:ext cx="57150" cy="723900"/>
              </a:xfrm>
              <a:prstGeom prst="roundRect">
                <a:avLst>
                  <a:gd name="adj" fmla="val 50000"/>
                </a:avLst>
              </a:prstGeom>
              <a:solidFill>
                <a:srgbClr val="0EA5E9"/>
              </a:solidFill>
              <a:ln>
                <a:noFill/>
              </a:ln>
            </p:spPr>
          </p:sp>
          <p:grpSp>
            <p:nvGrpSpPr>
              <p:cNvPr id="64" name="Group 64"/>
              <p:cNvGrpSpPr/>
              <p:nvPr/>
            </p:nvGrpSpPr>
            <p:grpSpPr>
              <a:xfrm>
                <a:off x="6705600" y="3028950"/>
                <a:ext cx="285750" cy="285750"/>
                <a:chOff x="6705600" y="3028950"/>
                <a:chExt cx="285750" cy="285750"/>
              </a:xfrm>
            </p:grpSpPr>
            <p:sp>
              <p:nvSpPr>
                <p:cNvPr id="61" name="Freeform 61"/>
                <p:cNvSpPr/>
                <p:nvPr/>
              </p:nvSpPr>
              <p:spPr>
                <a:xfrm>
                  <a:off x="6794897" y="3028950"/>
                  <a:ext cx="196453" cy="1964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453" h="196453">
                      <a:moveTo>
                        <a:pt x="36616" y="27424"/>
                      </a:moveTo>
                      <a:cubicBezTo>
                        <a:pt x="54175" y="9865"/>
                        <a:pt x="77990" y="0"/>
                        <a:pt x="102824" y="0"/>
                      </a:cubicBezTo>
                      <a:cubicBezTo>
                        <a:pt x="154534" y="0"/>
                        <a:pt x="196453" y="41920"/>
                        <a:pt x="196453" y="93630"/>
                      </a:cubicBezTo>
                      <a:cubicBezTo>
                        <a:pt x="196453" y="118463"/>
                        <a:pt x="186589" y="142278"/>
                        <a:pt x="169030" y="159837"/>
                      </a:cubicBezTo>
                      <a:lnTo>
                        <a:pt x="132413" y="196453"/>
                      </a:lnTo>
                      <a:lnTo>
                        <a:pt x="107156" y="171196"/>
                      </a:lnTo>
                      <a:lnTo>
                        <a:pt x="143773" y="134580"/>
                      </a:lnTo>
                      <a:cubicBezTo>
                        <a:pt x="154634" y="123719"/>
                        <a:pt x="160734" y="108989"/>
                        <a:pt x="160734" y="93630"/>
                      </a:cubicBezTo>
                      <a:cubicBezTo>
                        <a:pt x="160734" y="61647"/>
                        <a:pt x="134806" y="35719"/>
                        <a:pt x="102824" y="35719"/>
                      </a:cubicBezTo>
                      <a:cubicBezTo>
                        <a:pt x="87464" y="35719"/>
                        <a:pt x="72734" y="41820"/>
                        <a:pt x="61873" y="52681"/>
                      </a:cubicBezTo>
                      <a:lnTo>
                        <a:pt x="25257" y="89297"/>
                      </a:lnTo>
                      <a:lnTo>
                        <a:pt x="0" y="64040"/>
                      </a:lnTo>
                      <a:lnTo>
                        <a:pt x="36616" y="27424"/>
                      </a:lnTo>
                      <a:close/>
                    </a:path>
                  </a:pathLst>
                </a:custGeom>
                <a:solidFill>
                  <a:srgbClr val="0EA5E9"/>
                </a:solidFill>
                <a:ln>
                  <a:noFill/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6705600" y="3118247"/>
                  <a:ext cx="196453" cy="1964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453" h="196453">
                      <a:moveTo>
                        <a:pt x="134580" y="143773"/>
                      </a:moveTo>
                      <a:lnTo>
                        <a:pt x="171196" y="107156"/>
                      </a:lnTo>
                      <a:lnTo>
                        <a:pt x="196453" y="132413"/>
                      </a:lnTo>
                      <a:lnTo>
                        <a:pt x="159837" y="169030"/>
                      </a:lnTo>
                      <a:cubicBezTo>
                        <a:pt x="142278" y="186589"/>
                        <a:pt x="118463" y="196453"/>
                        <a:pt x="93630" y="196453"/>
                      </a:cubicBezTo>
                      <a:cubicBezTo>
                        <a:pt x="41920" y="196453"/>
                        <a:pt x="0" y="154534"/>
                        <a:pt x="0" y="102824"/>
                      </a:cubicBezTo>
                      <a:cubicBezTo>
                        <a:pt x="0" y="77991"/>
                        <a:pt x="9865" y="54175"/>
                        <a:pt x="27424" y="36616"/>
                      </a:cubicBezTo>
                      <a:lnTo>
                        <a:pt x="64040" y="0"/>
                      </a:lnTo>
                      <a:lnTo>
                        <a:pt x="89297" y="25257"/>
                      </a:lnTo>
                      <a:lnTo>
                        <a:pt x="52681" y="61873"/>
                      </a:lnTo>
                      <a:cubicBezTo>
                        <a:pt x="41820" y="72734"/>
                        <a:pt x="35719" y="87464"/>
                        <a:pt x="35719" y="102824"/>
                      </a:cubicBezTo>
                      <a:cubicBezTo>
                        <a:pt x="35719" y="134806"/>
                        <a:pt x="61647" y="160734"/>
                        <a:pt x="93630" y="160734"/>
                      </a:cubicBezTo>
                      <a:cubicBezTo>
                        <a:pt x="108989" y="160734"/>
                        <a:pt x="123719" y="154634"/>
                        <a:pt x="134580" y="143773"/>
                      </a:cubicBezTo>
                      <a:close/>
                    </a:path>
                  </a:pathLst>
                </a:custGeom>
                <a:solidFill>
                  <a:srgbClr val="0EA5E9"/>
                </a:solidFill>
                <a:ln>
                  <a:noFill/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6782268" y="3105618"/>
                  <a:ext cx="132413" cy="1324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413" h="132413">
                      <a:moveTo>
                        <a:pt x="25257" y="132413"/>
                      </a:moveTo>
                      <a:lnTo>
                        <a:pt x="132413" y="25257"/>
                      </a:lnTo>
                      <a:lnTo>
                        <a:pt x="107156" y="0"/>
                      </a:lnTo>
                      <a:lnTo>
                        <a:pt x="0" y="107156"/>
                      </a:lnTo>
                      <a:lnTo>
                        <a:pt x="25257" y="132413"/>
                      </a:lnTo>
                      <a:close/>
                    </a:path>
                  </a:pathLst>
                </a:custGeom>
                <a:solidFill>
                  <a:srgbClr val="0EA5E9"/>
                </a:solidFill>
                <a:ln>
                  <a:noFill/>
                </a:ln>
              </p:spPr>
            </p:sp>
          </p:grpSp>
          <p:sp>
            <p:nvSpPr>
              <p:cNvPr id="65" name="TextBox 65"/>
              <p:cNvSpPr txBox="1"/>
              <p:nvPr/>
            </p:nvSpPr>
            <p:spPr>
              <a:xfrm>
                <a:off x="7107555" y="2997518"/>
                <a:ext cx="155593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E293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role = tool 回传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7111365" y="3315652"/>
                <a:ext cx="210459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工具结果以 tool 角色回灌历史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7111365" y="3525202"/>
                <a:ext cx="171354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模型据此继续推理或收尾</a:t>
                </a:r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>
              <a:off x="6477000" y="3962400"/>
              <a:ext cx="5105400" cy="1104900"/>
              <a:chOff x="6477000" y="3962400"/>
              <a:chExt cx="5105400" cy="1104900"/>
            </a:xfrm>
          </p:grpSpPr>
          <p:sp>
            <p:nvSpPr>
              <p:cNvPr id="69" name="Rectangle 69"/>
              <p:cNvSpPr/>
              <p:nvPr/>
            </p:nvSpPr>
            <p:spPr>
              <a:xfrm>
                <a:off x="6477000" y="3962400"/>
                <a:ext cx="5105400" cy="1104900"/>
              </a:xfrm>
              <a:prstGeom prst="roundRect">
                <a:avLst>
                  <a:gd name="adj" fmla="val 10345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</p:spPr>
          </p:sp>
          <p:sp>
            <p:nvSpPr>
              <p:cNvPr id="70" name="Rectangle 70"/>
              <p:cNvSpPr/>
              <p:nvPr/>
            </p:nvSpPr>
            <p:spPr>
              <a:xfrm>
                <a:off x="6477000" y="4152900"/>
                <a:ext cx="57150" cy="723900"/>
              </a:xfrm>
              <a:prstGeom prst="roundRect">
                <a:avLst>
                  <a:gd name="adj" fmla="val 50000"/>
                </a:avLst>
              </a:prstGeom>
              <a:solidFill>
                <a:srgbClr val="D97706"/>
              </a:solidFill>
              <a:ln>
                <a:noFill/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723459" y="4248150"/>
                <a:ext cx="250031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50031" h="285750">
                    <a:moveTo>
                      <a:pt x="125016" y="285750"/>
                    </a:moveTo>
                    <a:lnTo>
                      <a:pt x="59831" y="239189"/>
                    </a:lnTo>
                    <a:cubicBezTo>
                      <a:pt x="22284" y="212369"/>
                      <a:pt x="0" y="169069"/>
                      <a:pt x="0" y="122927"/>
                    </a:cubicBezTo>
                    <a:lnTo>
                      <a:pt x="0" y="53578"/>
                    </a:lnTo>
                    <a:lnTo>
                      <a:pt x="125016" y="0"/>
                    </a:lnTo>
                    <a:lnTo>
                      <a:pt x="250031" y="53578"/>
                    </a:lnTo>
                    <a:lnTo>
                      <a:pt x="250031" y="122927"/>
                    </a:lnTo>
                    <a:cubicBezTo>
                      <a:pt x="250031" y="169069"/>
                      <a:pt x="227748" y="212369"/>
                      <a:pt x="190201" y="239189"/>
                    </a:cubicBezTo>
                    <a:lnTo>
                      <a:pt x="125016" y="285750"/>
                    </a:lnTo>
                    <a:close/>
                    <a:moveTo>
                      <a:pt x="200152" y="101925"/>
                    </a:moveTo>
                    <a:lnTo>
                      <a:pt x="174895" y="76668"/>
                    </a:lnTo>
                    <a:lnTo>
                      <a:pt x="107156" y="144407"/>
                    </a:lnTo>
                    <a:lnTo>
                      <a:pt x="75136" y="112387"/>
                    </a:lnTo>
                    <a:lnTo>
                      <a:pt x="49879" y="137644"/>
                    </a:lnTo>
                    <a:lnTo>
                      <a:pt x="107156" y="194921"/>
                    </a:lnTo>
                    <a:lnTo>
                      <a:pt x="200152" y="101925"/>
                    </a:lnTo>
                    <a:close/>
                  </a:path>
                </a:pathLst>
              </a:custGeom>
              <a:solidFill>
                <a:srgbClr val="D97706"/>
              </a:solidFill>
              <a:ln>
                <a:noFill/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7107555" y="4216718"/>
                <a:ext cx="146276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E293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MaxSteps 上限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7111365" y="4534852"/>
                <a:ext cx="14068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达到最大步数即收尾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7111365" y="4744402"/>
                <a:ext cx="156019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防止死循环与失控调用</a:t>
                </a: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6477000" y="5181600"/>
              <a:ext cx="5105400" cy="1104900"/>
              <a:chOff x="6477000" y="5181600"/>
              <a:chExt cx="5105400" cy="1104900"/>
            </a:xfrm>
          </p:grpSpPr>
          <p:sp>
            <p:nvSpPr>
              <p:cNvPr id="76" name="Rectangle 76"/>
              <p:cNvSpPr/>
              <p:nvPr/>
            </p:nvSpPr>
            <p:spPr>
              <a:xfrm>
                <a:off x="6477000" y="5181600"/>
                <a:ext cx="5105400" cy="1104900"/>
              </a:xfrm>
              <a:prstGeom prst="roundRect">
                <a:avLst>
                  <a:gd name="adj" fmla="val 10345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</p:spPr>
          </p:sp>
          <p:sp>
            <p:nvSpPr>
              <p:cNvPr id="77" name="Rectangle 77"/>
              <p:cNvSpPr/>
              <p:nvPr/>
            </p:nvSpPr>
            <p:spPr>
              <a:xfrm>
                <a:off x="6477000" y="5372100"/>
                <a:ext cx="57150" cy="723900"/>
              </a:xfrm>
              <a:prstGeom prst="roundRect">
                <a:avLst>
                  <a:gd name="adj" fmla="val 50000"/>
                </a:avLst>
              </a:prstGeom>
              <a:solidFill>
                <a:srgbClr val="059669"/>
              </a:solidFill>
              <a:ln>
                <a:noFill/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6705600" y="5467350"/>
                <a:ext cx="285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85750">
                    <a:moveTo>
                      <a:pt x="285750" y="142875"/>
                    </a:moveTo>
                    <a:cubicBezTo>
                      <a:pt x="285750" y="221783"/>
                      <a:pt x="221783" y="285750"/>
                      <a:pt x="142875" y="285750"/>
                    </a:cubicBezTo>
                    <a:cubicBezTo>
                      <a:pt x="63967" y="285750"/>
                      <a:pt x="0" y="221783"/>
                      <a:pt x="0" y="142875"/>
                    </a:cubicBezTo>
                    <a:cubicBezTo>
                      <a:pt x="0" y="63967"/>
                      <a:pt x="63967" y="0"/>
                      <a:pt x="142875" y="0"/>
                    </a:cubicBezTo>
                    <a:cubicBezTo>
                      <a:pt x="221783" y="0"/>
                      <a:pt x="285750" y="63967"/>
                      <a:pt x="285750" y="142875"/>
                    </a:cubicBezTo>
                    <a:close/>
                    <a:moveTo>
                      <a:pt x="125016" y="142875"/>
                    </a:moveTo>
                    <a:lnTo>
                      <a:pt x="107156" y="142875"/>
                    </a:lnTo>
                    <a:lnTo>
                      <a:pt x="107156" y="107156"/>
                    </a:lnTo>
                    <a:lnTo>
                      <a:pt x="160734" y="107156"/>
                    </a:lnTo>
                    <a:lnTo>
                      <a:pt x="160734" y="196453"/>
                    </a:lnTo>
                    <a:lnTo>
                      <a:pt x="178594" y="196453"/>
                    </a:lnTo>
                    <a:lnTo>
                      <a:pt x="178594" y="232172"/>
                    </a:lnTo>
                    <a:lnTo>
                      <a:pt x="125016" y="232172"/>
                    </a:lnTo>
                    <a:lnTo>
                      <a:pt x="125016" y="142875"/>
                    </a:lnTo>
                    <a:close/>
                    <a:moveTo>
                      <a:pt x="160734" y="89297"/>
                    </a:moveTo>
                    <a:lnTo>
                      <a:pt x="160734" y="53578"/>
                    </a:lnTo>
                    <a:lnTo>
                      <a:pt x="125016" y="53578"/>
                    </a:lnTo>
                    <a:lnTo>
                      <a:pt x="125016" y="89297"/>
                    </a:lnTo>
                    <a:lnTo>
                      <a:pt x="160734" y="89297"/>
                    </a:lnTo>
                    <a:close/>
                  </a:path>
                </a:pathLst>
              </a:custGeom>
              <a:solidFill>
                <a:srgbClr val="059669"/>
              </a:solidFill>
              <a:ln>
                <a:noFill/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7107555" y="5435918"/>
                <a:ext cx="148347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E293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轨迹为系统摘要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7111365" y="5754052"/>
                <a:ext cx="23269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展示真实执行轨迹与工具调用记录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7111365" y="5963602"/>
                <a:ext cx="14068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而非伪造模型思维链</a:t>
                </a:r>
              </a:p>
            </p:txBody>
          </p:sp>
        </p:grpSp>
      </p:grpSp>
      <p:grpSp>
        <p:nvGrpSpPr>
          <p:cNvPr id="86" name="Group 86"/>
          <p:cNvGrpSpPr/>
          <p:nvPr/>
        </p:nvGrpSpPr>
        <p:grpSpPr>
          <a:xfrm>
            <a:off x="598170" y="6570345"/>
            <a:ext cx="10995660" cy="182880"/>
            <a:chOff x="598170" y="6570345"/>
            <a:chExt cx="10995660" cy="182880"/>
          </a:xfrm>
        </p:grpSpPr>
        <p:sp>
          <p:nvSpPr>
            <p:cNvPr id="84" name="TextBox 84"/>
            <p:cNvSpPr txBox="1"/>
            <p:nvPr/>
          </p:nvSpPr>
          <p:spPr>
            <a:xfrm>
              <a:off x="598170" y="6570345"/>
              <a:ext cx="17973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旅序 · 多 Agent 旅游规划系统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130629" y="6570345"/>
              <a:ext cx="4632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08 / 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9" grpId="0"/>
      <p:bldP spid="8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609600" y="476250"/>
            <a:ext cx="10725150" cy="652462"/>
            <a:chOff x="609600" y="476250"/>
            <a:chExt cx="10725150" cy="652462"/>
          </a:xfrm>
        </p:grpSpPr>
        <p:sp>
          <p:nvSpPr>
            <p:cNvPr id="3" name="Rectangle 3"/>
            <p:cNvSpPr/>
            <p:nvPr/>
          </p:nvSpPr>
          <p:spPr>
            <a:xfrm>
              <a:off x="609600" y="476250"/>
              <a:ext cx="57150" cy="4191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502920"/>
              <a:ext cx="620732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九项自定义工具经 ToolRegistry 注册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915352"/>
              <a:ext cx="41809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TOOLS · 名称 + 描述 + JSON Schema，模型按白名单调用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10972800" y="517922"/>
              <a:ext cx="361950" cy="316707"/>
              <a:chOff x="10972800" y="517922"/>
              <a:chExt cx="361950" cy="31670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0972800" y="517922"/>
                <a:ext cx="361950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361950" h="180975">
                    <a:moveTo>
                      <a:pt x="90488" y="0"/>
                    </a:moveTo>
                    <a:lnTo>
                      <a:pt x="271462" y="0"/>
                    </a:lnTo>
                    <a:lnTo>
                      <a:pt x="271462" y="90488"/>
                    </a:lnTo>
                    <a:lnTo>
                      <a:pt x="305395" y="90488"/>
                    </a:lnTo>
                    <a:lnTo>
                      <a:pt x="361950" y="147042"/>
                    </a:lnTo>
                    <a:lnTo>
                      <a:pt x="361950" y="180975"/>
                    </a:lnTo>
                    <a:lnTo>
                      <a:pt x="0" y="180975"/>
                    </a:lnTo>
                    <a:lnTo>
                      <a:pt x="0" y="147042"/>
                    </a:lnTo>
                    <a:lnTo>
                      <a:pt x="56555" y="90488"/>
                    </a:lnTo>
                    <a:lnTo>
                      <a:pt x="90488" y="90488"/>
                    </a:lnTo>
                    <a:lnTo>
                      <a:pt x="90488" y="0"/>
                    </a:lnTo>
                    <a:close/>
                    <a:moveTo>
                      <a:pt x="226219" y="45244"/>
                    </a:moveTo>
                    <a:lnTo>
                      <a:pt x="226219" y="90488"/>
                    </a:lnTo>
                    <a:lnTo>
                      <a:pt x="135731" y="90488"/>
                    </a:lnTo>
                    <a:lnTo>
                      <a:pt x="135731" y="45244"/>
                    </a:lnTo>
                    <a:lnTo>
                      <a:pt x="226219" y="45244"/>
                    </a:ln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972800" y="744141"/>
                <a:ext cx="361950" cy="90488"/>
              </a:xfrm>
              <a:custGeom>
                <a:avLst/>
                <a:gdLst/>
                <a:ahLst/>
                <a:cxnLst/>
                <a:rect l="l" t="t" r="r" b="b"/>
                <a:pathLst>
                  <a:path w="361950" h="90488">
                    <a:moveTo>
                      <a:pt x="0" y="0"/>
                    </a:moveTo>
                    <a:lnTo>
                      <a:pt x="0" y="90488"/>
                    </a:lnTo>
                    <a:lnTo>
                      <a:pt x="361950" y="90488"/>
                    </a:lnTo>
                    <a:lnTo>
                      <a:pt x="3619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</p:grpSp>
      </p:grpSp>
      <p:sp>
        <p:nvSpPr>
          <p:cNvPr id="10" name="Line 10"/>
          <p:cNvSpPr/>
          <p:nvPr/>
        </p:nvSpPr>
        <p:spPr>
          <a:xfrm>
            <a:off x="609600" y="12573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</p:sp>
      <p:grpSp>
        <p:nvGrpSpPr>
          <p:cNvPr id="21" name="Group 21"/>
          <p:cNvGrpSpPr/>
          <p:nvPr/>
        </p:nvGrpSpPr>
        <p:grpSpPr>
          <a:xfrm>
            <a:off x="609600" y="1447800"/>
            <a:ext cx="3505200" cy="1104900"/>
            <a:chOff x="609600" y="1447800"/>
            <a:chExt cx="3505200" cy="1104900"/>
          </a:xfrm>
        </p:grpSpPr>
        <p:sp>
          <p:nvSpPr>
            <p:cNvPr id="11" name="Rectangle 11"/>
            <p:cNvSpPr/>
            <p:nvPr/>
          </p:nvSpPr>
          <p:spPr>
            <a:xfrm>
              <a:off x="609600" y="1447800"/>
              <a:ext cx="3505200" cy="11049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2" name="Rectangle 12"/>
            <p:cNvSpPr/>
            <p:nvPr/>
          </p:nvSpPr>
          <p:spPr>
            <a:xfrm>
              <a:off x="800100" y="1619250"/>
              <a:ext cx="419100" cy="419100"/>
            </a:xfrm>
            <a:prstGeom prst="roundRect">
              <a:avLst>
                <a:gd name="adj" fmla="val 25000"/>
              </a:avLst>
            </a:prstGeom>
            <a:solidFill>
              <a:srgbClr val="EFF6FF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909638" y="1695450"/>
              <a:ext cx="200025" cy="266700"/>
              <a:chOff x="909638" y="1695450"/>
              <a:chExt cx="200025" cy="2667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909638" y="1802130"/>
                <a:ext cx="200025" cy="76676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76676">
                    <a:moveTo>
                      <a:pt x="185642" y="8504"/>
                    </a:moveTo>
                    <a:cubicBezTo>
                      <a:pt x="190330" y="6159"/>
                      <a:pt x="195229" y="3330"/>
                      <a:pt x="200025" y="0"/>
                    </a:cubicBezTo>
                    <a:lnTo>
                      <a:pt x="200025" y="26670"/>
                    </a:lnTo>
                    <a:cubicBezTo>
                      <a:pt x="200025" y="54287"/>
                      <a:pt x="155248" y="76676"/>
                      <a:pt x="100012" y="76676"/>
                    </a:cubicBezTo>
                    <a:cubicBezTo>
                      <a:pt x="44777" y="76676"/>
                      <a:pt x="0" y="54287"/>
                      <a:pt x="0" y="26670"/>
                    </a:cubicBezTo>
                    <a:lnTo>
                      <a:pt x="0" y="0"/>
                    </a:lnTo>
                    <a:cubicBezTo>
                      <a:pt x="4796" y="3330"/>
                      <a:pt x="9694" y="6159"/>
                      <a:pt x="14384" y="8504"/>
                    </a:cubicBezTo>
                    <a:cubicBezTo>
                      <a:pt x="38021" y="20322"/>
                      <a:pt x="68342" y="26670"/>
                      <a:pt x="100012" y="26670"/>
                    </a:cubicBezTo>
                    <a:cubicBezTo>
                      <a:pt x="131683" y="26670"/>
                      <a:pt x="162004" y="20322"/>
                      <a:pt x="185642" y="8504"/>
                    </a:cubicBez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909638" y="1885474"/>
                <a:ext cx="200025" cy="76676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76676">
                    <a:moveTo>
                      <a:pt x="0" y="0"/>
                    </a:moveTo>
                    <a:lnTo>
                      <a:pt x="0" y="26670"/>
                    </a:lnTo>
                    <a:cubicBezTo>
                      <a:pt x="0" y="54288"/>
                      <a:pt x="44777" y="76676"/>
                      <a:pt x="100012" y="76676"/>
                    </a:cubicBezTo>
                    <a:cubicBezTo>
                      <a:pt x="155248" y="76676"/>
                      <a:pt x="200025" y="54288"/>
                      <a:pt x="200025" y="26670"/>
                    </a:cubicBezTo>
                    <a:lnTo>
                      <a:pt x="200025" y="0"/>
                    </a:lnTo>
                    <a:cubicBezTo>
                      <a:pt x="195229" y="3330"/>
                      <a:pt x="190330" y="6159"/>
                      <a:pt x="185642" y="8504"/>
                    </a:cubicBezTo>
                    <a:cubicBezTo>
                      <a:pt x="162004" y="20323"/>
                      <a:pt x="131683" y="26670"/>
                      <a:pt x="100012" y="26670"/>
                    </a:cubicBezTo>
                    <a:cubicBezTo>
                      <a:pt x="68342" y="26670"/>
                      <a:pt x="38021" y="20323"/>
                      <a:pt x="14384" y="8504"/>
                    </a:cubicBezTo>
                    <a:cubicBezTo>
                      <a:pt x="9694" y="6159"/>
                      <a:pt x="4796" y="3330"/>
                      <a:pt x="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09638" y="1695450"/>
                <a:ext cx="2000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00012">
                    <a:moveTo>
                      <a:pt x="100012" y="0"/>
                    </a:moveTo>
                    <a:cubicBezTo>
                      <a:pt x="155248" y="0"/>
                      <a:pt x="200025" y="22389"/>
                      <a:pt x="200025" y="50006"/>
                    </a:cubicBezTo>
                    <a:cubicBezTo>
                      <a:pt x="200025" y="77624"/>
                      <a:pt x="155248" y="100012"/>
                      <a:pt x="100012" y="100012"/>
                    </a:cubicBezTo>
                    <a:cubicBezTo>
                      <a:pt x="44777" y="100012"/>
                      <a:pt x="0" y="77624"/>
                      <a:pt x="0" y="50006"/>
                    </a:cubicBezTo>
                    <a:cubicBezTo>
                      <a:pt x="0" y="22389"/>
                      <a:pt x="44777" y="0"/>
                      <a:pt x="100012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319212" y="1707356"/>
              <a:ext cx="171066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preference_memory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22070" y="1922145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读取历史偏好与日均预算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00100" y="2209800"/>
              <a:ext cx="1143000" cy="209550"/>
            </a:xfrm>
            <a:prstGeom prst="roundRect">
              <a:avLst>
                <a:gd name="adj" fmla="val 50000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37295" y="2263616"/>
              <a:ext cx="8686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D4ED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JSON 长期记忆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43400" y="1447800"/>
            <a:ext cx="3505200" cy="1104900"/>
            <a:chOff x="4343400" y="1447800"/>
            <a:chExt cx="3505200" cy="1104900"/>
          </a:xfrm>
        </p:grpSpPr>
        <p:sp>
          <p:nvSpPr>
            <p:cNvPr id="22" name="Rectangle 22"/>
            <p:cNvSpPr/>
            <p:nvPr/>
          </p:nvSpPr>
          <p:spPr>
            <a:xfrm>
              <a:off x="4343400" y="1447800"/>
              <a:ext cx="3505200" cy="11049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3" name="Rectangle 23"/>
            <p:cNvSpPr/>
            <p:nvPr/>
          </p:nvSpPr>
          <p:spPr>
            <a:xfrm>
              <a:off x="4533900" y="1619250"/>
              <a:ext cx="419100" cy="419100"/>
            </a:xfrm>
            <a:prstGeom prst="roundRect">
              <a:avLst>
                <a:gd name="adj" fmla="val 25000"/>
              </a:avLst>
            </a:prstGeom>
            <a:solidFill>
              <a:srgbClr val="E0F2FE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4610100" y="1695450"/>
              <a:ext cx="266700" cy="266700"/>
              <a:chOff x="4610100" y="1695450"/>
              <a:chExt cx="266700" cy="2667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710112" y="1795462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33338" y="66675"/>
                    </a:move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  <a:cubicBezTo>
                      <a:pt x="0" y="51749"/>
                      <a:pt x="14926" y="66675"/>
                      <a:pt x="33338" y="66675"/>
                    </a:cubicBezTo>
                    <a:close/>
                  </a:path>
                </a:pathLst>
              </a:custGeom>
              <a:solidFill>
                <a:srgbClr val="0EA5E9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610100" y="1695450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34720" y="116681"/>
                    </a:moveTo>
                    <a:cubicBezTo>
                      <a:pt x="41747" y="74801"/>
                      <a:pt x="74801" y="41747"/>
                      <a:pt x="116681" y="34720"/>
                    </a:cubicBezTo>
                    <a:lnTo>
                      <a:pt x="116681" y="0"/>
                    </a:lnTo>
                    <a:lnTo>
                      <a:pt x="150019" y="0"/>
                    </a:lnTo>
                    <a:lnTo>
                      <a:pt x="150019" y="34720"/>
                    </a:lnTo>
                    <a:cubicBezTo>
                      <a:pt x="191899" y="41747"/>
                      <a:pt x="224953" y="74801"/>
                      <a:pt x="231979" y="116681"/>
                    </a:cubicBezTo>
                    <a:lnTo>
                      <a:pt x="266700" y="116681"/>
                    </a:lnTo>
                    <a:lnTo>
                      <a:pt x="266700" y="150019"/>
                    </a:lnTo>
                    <a:lnTo>
                      <a:pt x="231979" y="150019"/>
                    </a:lnTo>
                    <a:cubicBezTo>
                      <a:pt x="224953" y="191899"/>
                      <a:pt x="191899" y="224953"/>
                      <a:pt x="150019" y="231979"/>
                    </a:cubicBezTo>
                    <a:lnTo>
                      <a:pt x="150019" y="266700"/>
                    </a:lnTo>
                    <a:lnTo>
                      <a:pt x="116681" y="266700"/>
                    </a:lnTo>
                    <a:lnTo>
                      <a:pt x="116681" y="231979"/>
                    </a:lnTo>
                    <a:cubicBezTo>
                      <a:pt x="74801" y="224953"/>
                      <a:pt x="41747" y="191899"/>
                      <a:pt x="34720" y="150019"/>
                    </a:cubicBezTo>
                    <a:lnTo>
                      <a:pt x="0" y="150019"/>
                    </a:lnTo>
                    <a:lnTo>
                      <a:pt x="0" y="116681"/>
                    </a:lnTo>
                    <a:lnTo>
                      <a:pt x="34720" y="116681"/>
                    </a:lnTo>
                    <a:close/>
                    <a:moveTo>
                      <a:pt x="66675" y="133350"/>
                    </a:moveTo>
                    <a:cubicBezTo>
                      <a:pt x="66675" y="96526"/>
                      <a:pt x="96526" y="66675"/>
                      <a:pt x="133350" y="66675"/>
                    </a:cubicBezTo>
                    <a:cubicBezTo>
                      <a:pt x="170173" y="66675"/>
                      <a:pt x="200025" y="96526"/>
                      <a:pt x="200025" y="133350"/>
                    </a:cubicBezTo>
                    <a:cubicBezTo>
                      <a:pt x="200025" y="170173"/>
                      <a:pt x="170173" y="200025"/>
                      <a:pt x="133350" y="200025"/>
                    </a:cubicBezTo>
                    <a:cubicBezTo>
                      <a:pt x="96526" y="200025"/>
                      <a:pt x="66675" y="170173"/>
                      <a:pt x="66675" y="133350"/>
                    </a:cubicBezTo>
                    <a:close/>
                  </a:path>
                </a:pathLst>
              </a:custGeom>
              <a:solidFill>
                <a:srgbClr val="0EA5E9"/>
              </a:solidFill>
              <a:ln>
                <a:noFill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5053012" y="1707356"/>
              <a:ext cx="15985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attraction_search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055870" y="1922145"/>
              <a:ext cx="17316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按目的地与偏好返回候选体验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533900" y="2209800"/>
              <a:ext cx="914400" cy="209550"/>
            </a:xfrm>
            <a:prstGeom prst="roundRect">
              <a:avLst>
                <a:gd name="adj" fmla="val 50000"/>
              </a:avLst>
            </a:prstGeom>
            <a:solidFill>
              <a:srgbClr val="E0F2FE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664333" y="2263616"/>
              <a:ext cx="6535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0369A1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本地知识库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077200" y="1447800"/>
            <a:ext cx="3505200" cy="1104900"/>
            <a:chOff x="8077200" y="1447800"/>
            <a:chExt cx="3505200" cy="1104900"/>
          </a:xfrm>
        </p:grpSpPr>
        <p:sp>
          <p:nvSpPr>
            <p:cNvPr id="32" name="Rectangle 32"/>
            <p:cNvSpPr/>
            <p:nvPr/>
          </p:nvSpPr>
          <p:spPr>
            <a:xfrm>
              <a:off x="8077200" y="1447800"/>
              <a:ext cx="3505200" cy="11049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33" name="Rectangle 33"/>
            <p:cNvSpPr/>
            <p:nvPr/>
          </p:nvSpPr>
          <p:spPr>
            <a:xfrm>
              <a:off x="8267700" y="1619250"/>
              <a:ext cx="419100" cy="419100"/>
            </a:xfrm>
            <a:prstGeom prst="roundRect">
              <a:avLst>
                <a:gd name="adj" fmla="val 25000"/>
              </a:avLst>
            </a:prstGeom>
            <a:solidFill>
              <a:srgbClr val="ECFDF5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8360569" y="1712119"/>
              <a:ext cx="233362" cy="233362"/>
              <a:chOff x="8360569" y="1712119"/>
              <a:chExt cx="233362" cy="233362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360569" y="1712119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66675" y="33338"/>
                    </a:moveTo>
                    <a:cubicBezTo>
                      <a:pt x="66675" y="51749"/>
                      <a:pt x="51749" y="66675"/>
                      <a:pt x="33338" y="66675"/>
                    </a:cubicBezTo>
                    <a:cubicBezTo>
                      <a:pt x="14926" y="66675"/>
                      <a:pt x="0" y="51749"/>
                      <a:pt x="0" y="33338"/>
                    </a:cubicBezTo>
                    <a:cubicBezTo>
                      <a:pt x="0" y="14926"/>
                      <a:pt x="14926" y="0"/>
                      <a:pt x="33338" y="0"/>
                    </a:cubicBezTo>
                    <a:cubicBezTo>
                      <a:pt x="51749" y="0"/>
                      <a:pt x="66675" y="14926"/>
                      <a:pt x="66675" y="33338"/>
                    </a:cubicBezTo>
                    <a:close/>
                  </a:path>
                </a:pathLst>
              </a:custGeom>
              <a:solidFill>
                <a:srgbClr val="059669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8527256" y="1878806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66675" y="33338"/>
                    </a:moveTo>
                    <a:cubicBezTo>
                      <a:pt x="66675" y="51750"/>
                      <a:pt x="51750" y="66675"/>
                      <a:pt x="33338" y="66675"/>
                    </a:cubicBezTo>
                    <a:cubicBezTo>
                      <a:pt x="14925" y="66675"/>
                      <a:pt x="0" y="51750"/>
                      <a:pt x="0" y="33338"/>
                    </a:cubicBezTo>
                    <a:cubicBezTo>
                      <a:pt x="0" y="14925"/>
                      <a:pt x="14925" y="0"/>
                      <a:pt x="33338" y="0"/>
                    </a:cubicBezTo>
                    <a:cubicBezTo>
                      <a:pt x="51750" y="0"/>
                      <a:pt x="66675" y="14925"/>
                      <a:pt x="66675" y="33338"/>
                    </a:cubicBezTo>
                    <a:close/>
                  </a:path>
                </a:pathLst>
              </a:custGeom>
              <a:solidFill>
                <a:srgbClr val="059669"/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77238" y="1712119"/>
                <a:ext cx="200025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33362">
                    <a:moveTo>
                      <a:pt x="116681" y="58341"/>
                    </a:moveTo>
                    <a:cubicBezTo>
                      <a:pt x="116681" y="44532"/>
                      <a:pt x="127875" y="33338"/>
                      <a:pt x="141684" y="33338"/>
                    </a:cubicBezTo>
                    <a:cubicBezTo>
                      <a:pt x="155493" y="33338"/>
                      <a:pt x="166688" y="44532"/>
                      <a:pt x="166688" y="58341"/>
                    </a:cubicBezTo>
                    <a:lnTo>
                      <a:pt x="166688" y="133350"/>
                    </a:lnTo>
                    <a:lnTo>
                      <a:pt x="200025" y="133350"/>
                    </a:lnTo>
                    <a:lnTo>
                      <a:pt x="200025" y="58341"/>
                    </a:lnTo>
                    <a:cubicBezTo>
                      <a:pt x="200025" y="26120"/>
                      <a:pt x="173905" y="0"/>
                      <a:pt x="141684" y="0"/>
                    </a:cubicBezTo>
                    <a:cubicBezTo>
                      <a:pt x="109464" y="0"/>
                      <a:pt x="83344" y="26120"/>
                      <a:pt x="83344" y="58341"/>
                    </a:cubicBezTo>
                    <a:lnTo>
                      <a:pt x="83344" y="175022"/>
                    </a:lnTo>
                    <a:cubicBezTo>
                      <a:pt x="83344" y="188830"/>
                      <a:pt x="72150" y="200025"/>
                      <a:pt x="58341" y="200025"/>
                    </a:cubicBezTo>
                    <a:cubicBezTo>
                      <a:pt x="44532" y="200025"/>
                      <a:pt x="33338" y="188830"/>
                      <a:pt x="33338" y="175022"/>
                    </a:cubicBezTo>
                    <a:lnTo>
                      <a:pt x="33338" y="100012"/>
                    </a:lnTo>
                    <a:lnTo>
                      <a:pt x="0" y="100012"/>
                    </a:lnTo>
                    <a:lnTo>
                      <a:pt x="0" y="175022"/>
                    </a:lnTo>
                    <a:cubicBezTo>
                      <a:pt x="0" y="207243"/>
                      <a:pt x="26120" y="233362"/>
                      <a:pt x="58341" y="233362"/>
                    </a:cubicBezTo>
                    <a:cubicBezTo>
                      <a:pt x="90561" y="233362"/>
                      <a:pt x="116681" y="207243"/>
                      <a:pt x="116681" y="175022"/>
                    </a:cubicBezTo>
                    <a:lnTo>
                      <a:pt x="116681" y="58341"/>
                    </a:lnTo>
                    <a:close/>
                  </a:path>
                </a:pathLst>
              </a:custGeom>
              <a:solidFill>
                <a:srgbClr val="059669"/>
              </a:solidFill>
              <a:ln>
                <a:noFill/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8786812" y="1707356"/>
              <a:ext cx="9774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route_sort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89670" y="1922145"/>
              <a:ext cx="17842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城市顺序与每日密度（≤3 城）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267700" y="2209800"/>
              <a:ext cx="914400" cy="209550"/>
            </a:xfrm>
            <a:prstGeom prst="roundRect">
              <a:avLst>
                <a:gd name="adj" fmla="val 50000"/>
              </a:avLst>
            </a:prstGeom>
            <a:solidFill>
              <a:srgbClr val="ECFDF5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98133" y="2263616"/>
              <a:ext cx="6535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04785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本地知识库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09600" y="2705100"/>
            <a:ext cx="3505200" cy="1104900"/>
            <a:chOff x="609600" y="2705100"/>
            <a:chExt cx="3505200" cy="1104900"/>
          </a:xfrm>
        </p:grpSpPr>
        <p:sp>
          <p:nvSpPr>
            <p:cNvPr id="43" name="Rectangle 43"/>
            <p:cNvSpPr/>
            <p:nvPr/>
          </p:nvSpPr>
          <p:spPr>
            <a:xfrm>
              <a:off x="609600" y="2705100"/>
              <a:ext cx="3505200" cy="11049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44" name="Rectangle 44"/>
            <p:cNvSpPr/>
            <p:nvPr/>
          </p:nvSpPr>
          <p:spPr>
            <a:xfrm>
              <a:off x="800100" y="2876550"/>
              <a:ext cx="419100" cy="419100"/>
            </a:xfrm>
            <a:prstGeom prst="roundRect">
              <a:avLst>
                <a:gd name="adj" fmla="val 25000"/>
              </a:avLst>
            </a:prstGeom>
            <a:solidFill>
              <a:srgbClr val="E0F2FE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876300" y="2986088"/>
              <a:ext cx="266700" cy="200025"/>
            </a:xfrm>
            <a:custGeom>
              <a:avLst/>
              <a:gdLst/>
              <a:ahLst/>
              <a:cxnLst/>
              <a:rect l="l" t="t" r="r" b="b"/>
              <a:pathLst>
                <a:path w="266700" h="200025">
                  <a:moveTo>
                    <a:pt x="33338" y="0"/>
                  </a:moveTo>
                  <a:lnTo>
                    <a:pt x="0" y="0"/>
                  </a:lnTo>
                  <a:lnTo>
                    <a:pt x="0" y="200025"/>
                  </a:lnTo>
                  <a:lnTo>
                    <a:pt x="33338" y="200025"/>
                  </a:lnTo>
                  <a:lnTo>
                    <a:pt x="33338" y="166688"/>
                  </a:lnTo>
                  <a:lnTo>
                    <a:pt x="233362" y="166688"/>
                  </a:lnTo>
                  <a:lnTo>
                    <a:pt x="233362" y="200025"/>
                  </a:lnTo>
                  <a:lnTo>
                    <a:pt x="266700" y="200025"/>
                  </a:lnTo>
                  <a:lnTo>
                    <a:pt x="266700" y="116681"/>
                  </a:lnTo>
                  <a:cubicBezTo>
                    <a:pt x="266700" y="89064"/>
                    <a:pt x="244312" y="66675"/>
                    <a:pt x="216694" y="66675"/>
                  </a:cubicBezTo>
                  <a:lnTo>
                    <a:pt x="100012" y="66675"/>
                  </a:lnTo>
                  <a:cubicBezTo>
                    <a:pt x="100012" y="48263"/>
                    <a:pt x="85087" y="33338"/>
                    <a:pt x="66675" y="33338"/>
                  </a:cubicBezTo>
                  <a:lnTo>
                    <a:pt x="33338" y="33338"/>
                  </a:lnTo>
                  <a:lnTo>
                    <a:pt x="33338" y="0"/>
                  </a:lnTo>
                  <a:close/>
                </a:path>
              </a:pathLst>
            </a:custGeom>
            <a:solidFill>
              <a:srgbClr val="0EA5E9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319212" y="2964656"/>
              <a:ext cx="11240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hotel_search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322070" y="3179445"/>
              <a:ext cx="14687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酒店列表、价位与便利度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00100" y="3467100"/>
              <a:ext cx="914400" cy="209550"/>
            </a:xfrm>
            <a:prstGeom prst="roundRect">
              <a:avLst>
                <a:gd name="adj" fmla="val 50000"/>
              </a:avLst>
            </a:prstGeom>
            <a:solidFill>
              <a:srgbClr val="E0F2FE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30533" y="3520916"/>
              <a:ext cx="6535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0369A1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本地知识库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4343400" y="2705100"/>
            <a:ext cx="3505200" cy="1104900"/>
            <a:chOff x="4343400" y="2705100"/>
            <a:chExt cx="3505200" cy="1104900"/>
          </a:xfrm>
        </p:grpSpPr>
        <p:sp>
          <p:nvSpPr>
            <p:cNvPr id="51" name="Rectangle 51"/>
            <p:cNvSpPr/>
            <p:nvPr/>
          </p:nvSpPr>
          <p:spPr>
            <a:xfrm>
              <a:off x="4343400" y="2705100"/>
              <a:ext cx="3505200" cy="11049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52" name="Rectangle 52"/>
            <p:cNvSpPr/>
            <p:nvPr/>
          </p:nvSpPr>
          <p:spPr>
            <a:xfrm>
              <a:off x="4533900" y="2876550"/>
              <a:ext cx="419100" cy="419100"/>
            </a:xfrm>
            <a:prstGeom prst="roundRect">
              <a:avLst>
                <a:gd name="adj" fmla="val 25000"/>
              </a:avLst>
            </a:prstGeom>
            <a:solidFill>
              <a:srgbClr val="ECFDF5"/>
            </a:solidFill>
            <a:ln>
              <a:noFill/>
            </a:ln>
          </p:spPr>
        </p:sp>
        <p:sp>
          <p:nvSpPr>
            <p:cNvPr id="53" name="Freeform 53"/>
            <p:cNvSpPr/>
            <p:nvPr/>
          </p:nvSpPr>
          <p:spPr>
            <a:xfrm>
              <a:off x="4643438" y="2952750"/>
              <a:ext cx="200025" cy="266700"/>
            </a:xfrm>
            <a:custGeom>
              <a:avLst/>
              <a:gdLst/>
              <a:ahLst/>
              <a:cxnLst/>
              <a:rect l="l" t="t" r="r" b="b"/>
              <a:pathLst>
                <a:path w="200025" h="266700">
                  <a:moveTo>
                    <a:pt x="0" y="50006"/>
                  </a:moveTo>
                  <a:cubicBezTo>
                    <a:pt x="0" y="22389"/>
                    <a:pt x="22389" y="0"/>
                    <a:pt x="50006" y="0"/>
                  </a:cubicBezTo>
                  <a:lnTo>
                    <a:pt x="150019" y="0"/>
                  </a:lnTo>
                  <a:cubicBezTo>
                    <a:pt x="177637" y="0"/>
                    <a:pt x="200025" y="22389"/>
                    <a:pt x="200025" y="50006"/>
                  </a:cubicBezTo>
                  <a:lnTo>
                    <a:pt x="200025" y="183356"/>
                  </a:lnTo>
                  <a:cubicBezTo>
                    <a:pt x="200025" y="203499"/>
                    <a:pt x="188115" y="220861"/>
                    <a:pt x="170953" y="228784"/>
                  </a:cubicBezTo>
                  <a:lnTo>
                    <a:pt x="187203" y="266700"/>
                  </a:lnTo>
                  <a:lnTo>
                    <a:pt x="150934" y="266700"/>
                  </a:lnTo>
                  <a:lnTo>
                    <a:pt x="136645" y="233362"/>
                  </a:lnTo>
                  <a:lnTo>
                    <a:pt x="63379" y="233362"/>
                  </a:lnTo>
                  <a:lnTo>
                    <a:pt x="49091" y="266700"/>
                  </a:lnTo>
                  <a:lnTo>
                    <a:pt x="12821" y="266700"/>
                  </a:lnTo>
                  <a:lnTo>
                    <a:pt x="29071" y="228782"/>
                  </a:lnTo>
                  <a:cubicBezTo>
                    <a:pt x="11910" y="220861"/>
                    <a:pt x="0" y="203499"/>
                    <a:pt x="0" y="183356"/>
                  </a:cubicBezTo>
                  <a:lnTo>
                    <a:pt x="0" y="50006"/>
                  </a:lnTo>
                  <a:close/>
                  <a:moveTo>
                    <a:pt x="33338" y="50006"/>
                  </a:moveTo>
                  <a:lnTo>
                    <a:pt x="83344" y="50006"/>
                  </a:lnTo>
                  <a:lnTo>
                    <a:pt x="83344" y="116681"/>
                  </a:lnTo>
                  <a:lnTo>
                    <a:pt x="33338" y="116681"/>
                  </a:lnTo>
                  <a:lnTo>
                    <a:pt x="33338" y="50006"/>
                  </a:lnTo>
                  <a:close/>
                  <a:moveTo>
                    <a:pt x="166688" y="50006"/>
                  </a:moveTo>
                  <a:lnTo>
                    <a:pt x="116681" y="50006"/>
                  </a:lnTo>
                  <a:lnTo>
                    <a:pt x="116681" y="116681"/>
                  </a:lnTo>
                  <a:lnTo>
                    <a:pt x="166688" y="116681"/>
                  </a:lnTo>
                  <a:lnTo>
                    <a:pt x="166688" y="50006"/>
                  </a:lnTo>
                  <a:close/>
                  <a:moveTo>
                    <a:pt x="116681" y="166688"/>
                  </a:moveTo>
                  <a:cubicBezTo>
                    <a:pt x="116681" y="175894"/>
                    <a:pt x="109218" y="183356"/>
                    <a:pt x="100012" y="183356"/>
                  </a:cubicBezTo>
                  <a:cubicBezTo>
                    <a:pt x="90807" y="183356"/>
                    <a:pt x="83344" y="175894"/>
                    <a:pt x="83344" y="166688"/>
                  </a:cubicBezTo>
                  <a:cubicBezTo>
                    <a:pt x="83344" y="157482"/>
                    <a:pt x="90807" y="150019"/>
                    <a:pt x="100012" y="150019"/>
                  </a:cubicBezTo>
                  <a:cubicBezTo>
                    <a:pt x="109218" y="150019"/>
                    <a:pt x="116681" y="157482"/>
                    <a:pt x="116681" y="166688"/>
                  </a:cubicBezTo>
                  <a:close/>
                </a:path>
              </a:pathLst>
            </a:custGeom>
            <a:solidFill>
              <a:srgbClr val="059669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053012" y="2964656"/>
              <a:ext cx="17279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transport_estimate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055870" y="3179445"/>
              <a:ext cx="12058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交通费用与耗时估算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4533900" y="3467100"/>
              <a:ext cx="762000" cy="209550"/>
            </a:xfrm>
            <a:prstGeom prst="roundRect">
              <a:avLst>
                <a:gd name="adj" fmla="val 50000"/>
              </a:avLst>
            </a:prstGeom>
            <a:solidFill>
              <a:srgbClr val="ECFDF5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651391" y="3520916"/>
              <a:ext cx="52701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04785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规则估算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077200" y="2705100"/>
            <a:ext cx="3505200" cy="1104900"/>
            <a:chOff x="8077200" y="2705100"/>
            <a:chExt cx="3505200" cy="1104900"/>
          </a:xfrm>
        </p:grpSpPr>
        <p:sp>
          <p:nvSpPr>
            <p:cNvPr id="59" name="Rectangle 59"/>
            <p:cNvSpPr/>
            <p:nvPr/>
          </p:nvSpPr>
          <p:spPr>
            <a:xfrm>
              <a:off x="8077200" y="2705100"/>
              <a:ext cx="3505200" cy="11049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60" name="Rectangle 60"/>
            <p:cNvSpPr/>
            <p:nvPr/>
          </p:nvSpPr>
          <p:spPr>
            <a:xfrm>
              <a:off x="8267700" y="2876550"/>
              <a:ext cx="419100" cy="419100"/>
            </a:xfrm>
            <a:prstGeom prst="roundRect">
              <a:avLst>
                <a:gd name="adj" fmla="val 25000"/>
              </a:avLst>
            </a:prstGeom>
            <a:solidFill>
              <a:srgbClr val="FFFBEB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8343900" y="2952750"/>
              <a:ext cx="266700" cy="250031"/>
              <a:chOff x="8343900" y="2952750"/>
              <a:chExt cx="266700" cy="250031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8477250" y="2952750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33338" y="0"/>
                    </a:moveTo>
                    <a:lnTo>
                      <a:pt x="0" y="0"/>
                    </a:lnTo>
                    <a:lnTo>
                      <a:pt x="0" y="33338"/>
                    </a:lnTo>
                    <a:lnTo>
                      <a:pt x="33338" y="33338"/>
                    </a:lnTo>
                    <a:lnTo>
                      <a:pt x="33338" y="0"/>
                    </a:lnTo>
                    <a:close/>
                  </a:path>
                </a:pathLst>
              </a:custGeom>
              <a:solidFill>
                <a:srgbClr val="D97706"/>
              </a:solidFill>
              <a:ln>
                <a:noFill/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541065" y="2975138"/>
                <a:ext cx="47148" cy="47146"/>
              </a:xfrm>
              <a:custGeom>
                <a:avLst/>
                <a:gdLst/>
                <a:ahLst/>
                <a:cxnLst/>
                <a:rect l="l" t="t" r="r" b="b"/>
                <a:pathLst>
                  <a:path w="47148" h="47146">
                    <a:moveTo>
                      <a:pt x="47148" y="23573"/>
                    </a:moveTo>
                    <a:lnTo>
                      <a:pt x="23573" y="0"/>
                    </a:lnTo>
                    <a:lnTo>
                      <a:pt x="0" y="23573"/>
                    </a:lnTo>
                    <a:lnTo>
                      <a:pt x="23573" y="47146"/>
                    </a:lnTo>
                    <a:lnTo>
                      <a:pt x="47148" y="23573"/>
                    </a:lnTo>
                    <a:close/>
                  </a:path>
                </a:pathLst>
              </a:custGeom>
              <a:solidFill>
                <a:srgbClr val="D97706"/>
              </a:solidFill>
              <a:ln>
                <a:noFill/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399626" y="2975138"/>
                <a:ext cx="47146" cy="47146"/>
              </a:xfrm>
              <a:custGeom>
                <a:avLst/>
                <a:gdLst/>
                <a:ahLst/>
                <a:cxnLst/>
                <a:rect l="l" t="t" r="r" b="b"/>
                <a:pathLst>
                  <a:path w="47146" h="47146">
                    <a:moveTo>
                      <a:pt x="23573" y="0"/>
                    </a:moveTo>
                    <a:lnTo>
                      <a:pt x="47146" y="23573"/>
                    </a:lnTo>
                    <a:lnTo>
                      <a:pt x="23573" y="47146"/>
                    </a:lnTo>
                    <a:lnTo>
                      <a:pt x="0" y="23573"/>
                    </a:lnTo>
                    <a:lnTo>
                      <a:pt x="23573" y="0"/>
                    </a:lnTo>
                    <a:close/>
                  </a:path>
                </a:pathLst>
              </a:custGeom>
              <a:solidFill>
                <a:srgbClr val="D97706"/>
              </a:solidFill>
              <a:ln>
                <a:noFill/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577262" y="3052762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33338" y="0"/>
                    </a:moveTo>
                    <a:lnTo>
                      <a:pt x="0" y="0"/>
                    </a:lnTo>
                    <a:lnTo>
                      <a:pt x="0" y="33338"/>
                    </a:lnTo>
                    <a:lnTo>
                      <a:pt x="33338" y="33338"/>
                    </a:lnTo>
                    <a:lnTo>
                      <a:pt x="33338" y="0"/>
                    </a:lnTo>
                    <a:close/>
                  </a:path>
                </a:pathLst>
              </a:custGeom>
              <a:solidFill>
                <a:srgbClr val="D97706"/>
              </a:solidFill>
              <a:ln>
                <a:noFill/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343900" y="3069431"/>
                <a:ext cx="250031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50031" h="133350">
                    <a:moveTo>
                      <a:pt x="131249" y="50006"/>
                    </a:moveTo>
                    <a:cubicBezTo>
                      <a:pt x="123848" y="21249"/>
                      <a:pt x="97743" y="0"/>
                      <a:pt x="66675" y="0"/>
                    </a:cubicBezTo>
                    <a:cubicBezTo>
                      <a:pt x="29851" y="0"/>
                      <a:pt x="0" y="29851"/>
                      <a:pt x="0" y="66675"/>
                    </a:cubicBezTo>
                    <a:lnTo>
                      <a:pt x="0" y="133350"/>
                    </a:lnTo>
                    <a:lnTo>
                      <a:pt x="250031" y="133350"/>
                    </a:lnTo>
                    <a:lnTo>
                      <a:pt x="250031" y="116681"/>
                    </a:lnTo>
                    <a:cubicBezTo>
                      <a:pt x="250031" y="79858"/>
                      <a:pt x="220179" y="50006"/>
                      <a:pt x="183356" y="50006"/>
                    </a:cubicBezTo>
                    <a:lnTo>
                      <a:pt x="131249" y="50006"/>
                    </a:lnTo>
                    <a:close/>
                  </a:path>
                </a:pathLst>
              </a:custGeom>
              <a:solidFill>
                <a:srgbClr val="D97706"/>
              </a:solidFill>
              <a:ln>
                <a:noFill/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450605" y="3019425"/>
                <a:ext cx="9332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93320" h="66675">
                    <a:moveTo>
                      <a:pt x="93320" y="50006"/>
                    </a:moveTo>
                    <a:cubicBezTo>
                      <a:pt x="93320" y="55851"/>
                      <a:pt x="92317" y="61461"/>
                      <a:pt x="90475" y="66675"/>
                    </a:cubicBezTo>
                    <a:lnTo>
                      <a:pt x="46592" y="66675"/>
                    </a:lnTo>
                    <a:cubicBezTo>
                      <a:pt x="35951" y="48278"/>
                      <a:pt x="19623" y="33580"/>
                      <a:pt x="0" y="24999"/>
                    </a:cubicBezTo>
                    <a:cubicBezTo>
                      <a:pt x="8647" y="10055"/>
                      <a:pt x="24806" y="0"/>
                      <a:pt x="43314" y="0"/>
                    </a:cubicBezTo>
                    <a:cubicBezTo>
                      <a:pt x="70933" y="0"/>
                      <a:pt x="93320" y="22389"/>
                      <a:pt x="93320" y="50006"/>
                    </a:cubicBezTo>
                    <a:close/>
                  </a:path>
                </a:pathLst>
              </a:custGeom>
              <a:solidFill>
                <a:srgbClr val="D97706"/>
              </a:solidFill>
              <a:ln>
                <a:noFill/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8786812" y="2964656"/>
              <a:ext cx="13483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weather_lookup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789670" y="317944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季节天气查询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8267700" y="3467100"/>
              <a:ext cx="914400" cy="209550"/>
            </a:xfrm>
            <a:prstGeom prst="roundRect">
              <a:avLst>
                <a:gd name="adj" fmla="val 50000"/>
              </a:avLst>
            </a:prstGeom>
            <a:solidFill>
              <a:srgbClr val="FFFBE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398133" y="3520916"/>
              <a:ext cx="6535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B4530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本地知识库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609600" y="3962400"/>
            <a:ext cx="3505200" cy="1104900"/>
            <a:chOff x="609600" y="3962400"/>
            <a:chExt cx="3505200" cy="1104900"/>
          </a:xfrm>
        </p:grpSpPr>
        <p:sp>
          <p:nvSpPr>
            <p:cNvPr id="73" name="Rectangle 73"/>
            <p:cNvSpPr/>
            <p:nvPr/>
          </p:nvSpPr>
          <p:spPr>
            <a:xfrm>
              <a:off x="609600" y="3962400"/>
              <a:ext cx="3505200" cy="11049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74" name="Rectangle 74"/>
            <p:cNvSpPr/>
            <p:nvPr/>
          </p:nvSpPr>
          <p:spPr>
            <a:xfrm>
              <a:off x="800100" y="4133850"/>
              <a:ext cx="419100" cy="419100"/>
            </a:xfrm>
            <a:prstGeom prst="roundRect">
              <a:avLst>
                <a:gd name="adj" fmla="val 25000"/>
              </a:avLst>
            </a:prstGeom>
            <a:solidFill>
              <a:srgbClr val="FEE2E2"/>
            </a:solidFill>
            <a:ln>
              <a:noFill/>
            </a:ln>
          </p:spPr>
        </p:sp>
        <p:sp>
          <p:nvSpPr>
            <p:cNvPr id="75" name="Freeform 75"/>
            <p:cNvSpPr/>
            <p:nvPr/>
          </p:nvSpPr>
          <p:spPr>
            <a:xfrm>
              <a:off x="892969" y="4210050"/>
              <a:ext cx="233362" cy="266700"/>
            </a:xfrm>
            <a:custGeom>
              <a:avLst/>
              <a:gdLst/>
              <a:ahLst/>
              <a:cxnLst/>
              <a:rect l="l" t="t" r="r" b="b"/>
              <a:pathLst>
                <a:path w="233362" h="266700">
                  <a:moveTo>
                    <a:pt x="55842" y="223243"/>
                  </a:moveTo>
                  <a:lnTo>
                    <a:pt x="116681" y="266700"/>
                  </a:lnTo>
                  <a:lnTo>
                    <a:pt x="177521" y="223243"/>
                  </a:lnTo>
                  <a:cubicBezTo>
                    <a:pt x="212565" y="198211"/>
                    <a:pt x="233362" y="157798"/>
                    <a:pt x="233362" y="114732"/>
                  </a:cubicBezTo>
                  <a:lnTo>
                    <a:pt x="233362" y="50006"/>
                  </a:lnTo>
                  <a:lnTo>
                    <a:pt x="116681" y="0"/>
                  </a:lnTo>
                  <a:lnTo>
                    <a:pt x="0" y="50006"/>
                  </a:lnTo>
                  <a:lnTo>
                    <a:pt x="0" y="114732"/>
                  </a:lnTo>
                  <a:cubicBezTo>
                    <a:pt x="0" y="157798"/>
                    <a:pt x="20798" y="198211"/>
                    <a:pt x="55842" y="223243"/>
                  </a:cubicBezTo>
                  <a:close/>
                </a:path>
              </a:pathLst>
            </a:custGeom>
            <a:solidFill>
              <a:srgbClr val="DC2626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1319212" y="4221956"/>
              <a:ext cx="9343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risk_check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322070" y="4436745"/>
              <a:ext cx="1600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签证、安全、行程强度风险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800100" y="4724400"/>
              <a:ext cx="1143000" cy="209550"/>
            </a:xfrm>
            <a:prstGeom prst="roundRect">
              <a:avLst>
                <a:gd name="adj" fmla="val 50000"/>
              </a:avLst>
            </a:prstGeom>
            <a:solidFill>
              <a:srgbClr val="FEE2E2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972086" y="4778216"/>
              <a:ext cx="79902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B91C1C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知识库 + 规则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4343400" y="3962400"/>
            <a:ext cx="3505200" cy="1104900"/>
            <a:chOff x="4343400" y="3962400"/>
            <a:chExt cx="3505200" cy="1104900"/>
          </a:xfrm>
        </p:grpSpPr>
        <p:sp>
          <p:nvSpPr>
            <p:cNvPr id="81" name="Rectangle 81"/>
            <p:cNvSpPr/>
            <p:nvPr/>
          </p:nvSpPr>
          <p:spPr>
            <a:xfrm>
              <a:off x="4343400" y="3962400"/>
              <a:ext cx="3505200" cy="11049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82" name="Rectangle 82"/>
            <p:cNvSpPr/>
            <p:nvPr/>
          </p:nvSpPr>
          <p:spPr>
            <a:xfrm>
              <a:off x="4533900" y="4133850"/>
              <a:ext cx="419100" cy="419100"/>
            </a:xfrm>
            <a:prstGeom prst="roundRect">
              <a:avLst>
                <a:gd name="adj" fmla="val 25000"/>
              </a:avLst>
            </a:prstGeom>
            <a:solidFill>
              <a:srgbClr val="FFFBEB"/>
            </a:solidFill>
            <a:ln>
              <a:noFill/>
            </a:ln>
          </p:spPr>
        </p:sp>
        <p:sp>
          <p:nvSpPr>
            <p:cNvPr id="83" name="Freeform 83"/>
            <p:cNvSpPr/>
            <p:nvPr/>
          </p:nvSpPr>
          <p:spPr>
            <a:xfrm>
              <a:off x="4643438" y="4210050"/>
              <a:ext cx="200025" cy="266700"/>
            </a:xfrm>
            <a:custGeom>
              <a:avLst/>
              <a:gdLst/>
              <a:ahLst/>
              <a:cxnLst/>
              <a:rect l="l" t="t" r="r" b="b"/>
              <a:pathLst>
                <a:path w="200025" h="266700">
                  <a:moveTo>
                    <a:pt x="0" y="0"/>
                  </a:moveTo>
                  <a:lnTo>
                    <a:pt x="200025" y="0"/>
                  </a:lnTo>
                  <a:lnTo>
                    <a:pt x="200025" y="266700"/>
                  </a:lnTo>
                  <a:lnTo>
                    <a:pt x="0" y="266700"/>
                  </a:lnTo>
                  <a:lnTo>
                    <a:pt x="0" y="0"/>
                  </a:lnTo>
                  <a:close/>
                  <a:moveTo>
                    <a:pt x="33338" y="33338"/>
                  </a:moveTo>
                  <a:lnTo>
                    <a:pt x="166688" y="33338"/>
                  </a:lnTo>
                  <a:lnTo>
                    <a:pt x="166688" y="100012"/>
                  </a:lnTo>
                  <a:lnTo>
                    <a:pt x="33338" y="100012"/>
                  </a:lnTo>
                  <a:lnTo>
                    <a:pt x="33338" y="33338"/>
                  </a:lnTo>
                  <a:close/>
                  <a:moveTo>
                    <a:pt x="50006" y="166688"/>
                  </a:moveTo>
                  <a:cubicBezTo>
                    <a:pt x="59212" y="166688"/>
                    <a:pt x="66675" y="159225"/>
                    <a:pt x="66675" y="150019"/>
                  </a:cubicBezTo>
                  <a:cubicBezTo>
                    <a:pt x="66675" y="140813"/>
                    <a:pt x="59212" y="133350"/>
                    <a:pt x="50006" y="133350"/>
                  </a:cubicBezTo>
                  <a:cubicBezTo>
                    <a:pt x="40800" y="133350"/>
                    <a:pt x="33338" y="140813"/>
                    <a:pt x="33338" y="150019"/>
                  </a:cubicBezTo>
                  <a:cubicBezTo>
                    <a:pt x="33338" y="159225"/>
                    <a:pt x="40800" y="166688"/>
                    <a:pt x="50006" y="166688"/>
                  </a:cubicBezTo>
                  <a:close/>
                  <a:moveTo>
                    <a:pt x="66675" y="216694"/>
                  </a:moveTo>
                  <a:cubicBezTo>
                    <a:pt x="66675" y="225900"/>
                    <a:pt x="59212" y="233362"/>
                    <a:pt x="50006" y="233362"/>
                  </a:cubicBezTo>
                  <a:cubicBezTo>
                    <a:pt x="40800" y="233362"/>
                    <a:pt x="33338" y="225900"/>
                    <a:pt x="33338" y="216694"/>
                  </a:cubicBezTo>
                  <a:cubicBezTo>
                    <a:pt x="33338" y="207488"/>
                    <a:pt x="40800" y="200025"/>
                    <a:pt x="50006" y="200025"/>
                  </a:cubicBezTo>
                  <a:cubicBezTo>
                    <a:pt x="59212" y="200025"/>
                    <a:pt x="66675" y="207488"/>
                    <a:pt x="66675" y="216694"/>
                  </a:cubicBezTo>
                  <a:close/>
                  <a:moveTo>
                    <a:pt x="100012" y="166688"/>
                  </a:moveTo>
                  <a:cubicBezTo>
                    <a:pt x="109218" y="166688"/>
                    <a:pt x="116681" y="159225"/>
                    <a:pt x="116681" y="150019"/>
                  </a:cubicBezTo>
                  <a:cubicBezTo>
                    <a:pt x="116681" y="140813"/>
                    <a:pt x="109218" y="133350"/>
                    <a:pt x="100012" y="133350"/>
                  </a:cubicBezTo>
                  <a:cubicBezTo>
                    <a:pt x="90807" y="133350"/>
                    <a:pt x="83344" y="140813"/>
                    <a:pt x="83344" y="150019"/>
                  </a:cubicBezTo>
                  <a:cubicBezTo>
                    <a:pt x="83344" y="159225"/>
                    <a:pt x="90807" y="166688"/>
                    <a:pt x="100012" y="166688"/>
                  </a:cubicBezTo>
                  <a:close/>
                  <a:moveTo>
                    <a:pt x="166688" y="150019"/>
                  </a:moveTo>
                  <a:cubicBezTo>
                    <a:pt x="166688" y="159225"/>
                    <a:pt x="159225" y="166688"/>
                    <a:pt x="150019" y="166688"/>
                  </a:cubicBezTo>
                  <a:cubicBezTo>
                    <a:pt x="140813" y="166688"/>
                    <a:pt x="133350" y="159225"/>
                    <a:pt x="133350" y="150019"/>
                  </a:cubicBezTo>
                  <a:cubicBezTo>
                    <a:pt x="133350" y="140813"/>
                    <a:pt x="140813" y="133350"/>
                    <a:pt x="150019" y="133350"/>
                  </a:cubicBezTo>
                  <a:cubicBezTo>
                    <a:pt x="159225" y="133350"/>
                    <a:pt x="166688" y="140813"/>
                    <a:pt x="166688" y="150019"/>
                  </a:cubicBezTo>
                  <a:close/>
                  <a:moveTo>
                    <a:pt x="100012" y="200025"/>
                  </a:moveTo>
                  <a:cubicBezTo>
                    <a:pt x="90807" y="200025"/>
                    <a:pt x="83344" y="207488"/>
                    <a:pt x="83344" y="216694"/>
                  </a:cubicBezTo>
                  <a:cubicBezTo>
                    <a:pt x="83344" y="225900"/>
                    <a:pt x="90807" y="233362"/>
                    <a:pt x="100012" y="233362"/>
                  </a:cubicBezTo>
                  <a:lnTo>
                    <a:pt x="150019" y="233362"/>
                  </a:lnTo>
                  <a:cubicBezTo>
                    <a:pt x="159225" y="233362"/>
                    <a:pt x="166688" y="225900"/>
                    <a:pt x="166688" y="216694"/>
                  </a:cubicBezTo>
                  <a:cubicBezTo>
                    <a:pt x="166688" y="207488"/>
                    <a:pt x="159225" y="200025"/>
                    <a:pt x="150019" y="200025"/>
                  </a:cubicBezTo>
                  <a:lnTo>
                    <a:pt x="100012" y="200025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5053012" y="4221956"/>
              <a:ext cx="15553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budget_calculator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5055870" y="4436745"/>
              <a:ext cx="1600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费用明细、余量与优化建议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4533900" y="4724400"/>
              <a:ext cx="914400" cy="209550"/>
            </a:xfrm>
            <a:prstGeom prst="roundRect">
              <a:avLst>
                <a:gd name="adj" fmla="val 50000"/>
              </a:avLst>
            </a:prstGeom>
            <a:solidFill>
              <a:srgbClr val="FFFBEB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4664333" y="4778216"/>
              <a:ext cx="65353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B4530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确定性计算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8077200" y="3962400"/>
            <a:ext cx="3505200" cy="1104900"/>
            <a:chOff x="8077200" y="3962400"/>
            <a:chExt cx="3505200" cy="1104900"/>
          </a:xfrm>
        </p:grpSpPr>
        <p:sp>
          <p:nvSpPr>
            <p:cNvPr id="89" name="Rectangle 89"/>
            <p:cNvSpPr/>
            <p:nvPr/>
          </p:nvSpPr>
          <p:spPr>
            <a:xfrm>
              <a:off x="8077200" y="3962400"/>
              <a:ext cx="3505200" cy="11049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90" name="Rectangle 90"/>
            <p:cNvSpPr/>
            <p:nvPr/>
          </p:nvSpPr>
          <p:spPr>
            <a:xfrm>
              <a:off x="8267700" y="4133850"/>
              <a:ext cx="419100" cy="419100"/>
            </a:xfrm>
            <a:prstGeom prst="roundRect">
              <a:avLst>
                <a:gd name="adj" fmla="val 25000"/>
              </a:avLst>
            </a:prstGeom>
            <a:solidFill>
              <a:srgbClr val="EFF6FF"/>
            </a:solidFill>
            <a:ln>
              <a:noFill/>
            </a:ln>
          </p:spPr>
        </p:sp>
        <p:grpSp>
          <p:nvGrpSpPr>
            <p:cNvPr id="94" name="Group 94"/>
            <p:cNvGrpSpPr/>
            <p:nvPr/>
          </p:nvGrpSpPr>
          <p:grpSpPr>
            <a:xfrm>
              <a:off x="8360569" y="4226719"/>
              <a:ext cx="233362" cy="233362"/>
              <a:chOff x="8360569" y="4226719"/>
              <a:chExt cx="233362" cy="233362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8360569" y="4226719"/>
                <a:ext cx="233362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233362">
                    <a:moveTo>
                      <a:pt x="33338" y="0"/>
                    </a:moveTo>
                    <a:lnTo>
                      <a:pt x="0" y="0"/>
                    </a:lnTo>
                    <a:lnTo>
                      <a:pt x="0" y="33338"/>
                    </a:lnTo>
                    <a:lnTo>
                      <a:pt x="33338" y="33338"/>
                    </a:lnTo>
                    <a:cubicBezTo>
                      <a:pt x="125397" y="33338"/>
                      <a:pt x="200025" y="107966"/>
                      <a:pt x="200025" y="200025"/>
                    </a:cubicBezTo>
                    <a:lnTo>
                      <a:pt x="200025" y="233362"/>
                    </a:lnTo>
                    <a:lnTo>
                      <a:pt x="233362" y="233362"/>
                    </a:lnTo>
                    <a:lnTo>
                      <a:pt x="233362" y="200025"/>
                    </a:lnTo>
                    <a:cubicBezTo>
                      <a:pt x="233362" y="89554"/>
                      <a:pt x="143808" y="0"/>
                      <a:pt x="33338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8360569" y="4310062"/>
                <a:ext cx="150019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150019" h="150019">
                    <a:moveTo>
                      <a:pt x="33338" y="0"/>
                    </a:moveTo>
                    <a:lnTo>
                      <a:pt x="0" y="0"/>
                    </a:lnTo>
                    <a:lnTo>
                      <a:pt x="0" y="33338"/>
                    </a:lnTo>
                    <a:lnTo>
                      <a:pt x="33338" y="33338"/>
                    </a:lnTo>
                    <a:cubicBezTo>
                      <a:pt x="79367" y="33338"/>
                      <a:pt x="116681" y="70652"/>
                      <a:pt x="116681" y="116681"/>
                    </a:cubicBezTo>
                    <a:lnTo>
                      <a:pt x="116681" y="150019"/>
                    </a:lnTo>
                    <a:lnTo>
                      <a:pt x="150019" y="150019"/>
                    </a:lnTo>
                    <a:lnTo>
                      <a:pt x="150019" y="116681"/>
                    </a:lnTo>
                    <a:cubicBezTo>
                      <a:pt x="150019" y="52240"/>
                      <a:pt x="97779" y="0"/>
                      <a:pt x="33338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8360569" y="4393406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33338" y="66675"/>
                    </a:moveTo>
                    <a:cubicBezTo>
                      <a:pt x="51749" y="66675"/>
                      <a:pt x="66675" y="51750"/>
                      <a:pt x="66675" y="33338"/>
                    </a:cubicBezTo>
                    <a:cubicBezTo>
                      <a:pt x="66675" y="14925"/>
                      <a:pt x="51749" y="0"/>
                      <a:pt x="33338" y="0"/>
                    </a:cubicBezTo>
                    <a:cubicBezTo>
                      <a:pt x="14926" y="0"/>
                      <a:pt x="0" y="14925"/>
                      <a:pt x="0" y="33338"/>
                    </a:cubicBezTo>
                    <a:cubicBezTo>
                      <a:pt x="0" y="51750"/>
                      <a:pt x="14926" y="66675"/>
                      <a:pt x="33338" y="66675"/>
                    </a:cubicBez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</p:grpSp>
        <p:sp>
          <p:nvSpPr>
            <p:cNvPr id="95" name="TextBox 95"/>
            <p:cNvSpPr txBox="1"/>
            <p:nvPr/>
          </p:nvSpPr>
          <p:spPr>
            <a:xfrm>
              <a:off x="8786812" y="4221956"/>
              <a:ext cx="182279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travel_web_research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789670" y="4436745"/>
              <a:ext cx="21654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联网主题检索（景点 / 美食 / 签证）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8267700" y="4724400"/>
              <a:ext cx="1409700" cy="209550"/>
            </a:xfrm>
            <a:prstGeom prst="roundRect">
              <a:avLst>
                <a:gd name="adj" fmla="val 50000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8263073" y="4778216"/>
              <a:ext cx="141895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1D4ED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Bing RSS · 官方域名优先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609600" y="5257800"/>
            <a:ext cx="10972800" cy="1028700"/>
            <a:chOff x="609600" y="5257800"/>
            <a:chExt cx="10972800" cy="1028700"/>
          </a:xfrm>
        </p:grpSpPr>
        <p:sp>
          <p:nvSpPr>
            <p:cNvPr id="100" name="Rectangle 100"/>
            <p:cNvSpPr/>
            <p:nvPr/>
          </p:nvSpPr>
          <p:spPr>
            <a:xfrm>
              <a:off x="609600" y="5257800"/>
              <a:ext cx="10972800" cy="1028700"/>
            </a:xfrm>
            <a:prstGeom prst="roundRect">
              <a:avLst>
                <a:gd name="adj" fmla="val 11111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609600" y="5257800"/>
              <a:ext cx="57150" cy="10287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861060" y="545211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563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工具设计原则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862012" y="5745956"/>
              <a:ext cx="62804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① 每个工具提供</a:t>
              </a:r>
              <a:r>
                <a:rPr lang="zh-CN" sz="1125" b="1" dirty="0">
                  <a:solidFill>
                    <a:srgbClr val="2563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名称 + 描述 + JSON Schema</a:t>
              </a:r>
              <a:r>
                <a:rPr lang="zh-CN" sz="1125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，模型只能按白名单经 ToolRegistry 调用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862012" y="6012656"/>
              <a:ext cx="73073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② 参数错误 / 未注册 / 异常统一转为</a:t>
              </a:r>
              <a:r>
                <a:rPr lang="zh-CN" sz="1125" b="1" dirty="0">
                  <a:solidFill>
                    <a:srgbClr val="D97706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失败 Observation</a:t>
              </a:r>
              <a:r>
                <a:rPr lang="zh-CN" sz="1125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，由 Agent Loop 继续处理，不中断整体规划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598170" y="6570345"/>
            <a:ext cx="10995660" cy="182880"/>
            <a:chOff x="598170" y="6570345"/>
            <a:chExt cx="10995660" cy="182880"/>
          </a:xfrm>
        </p:grpSpPr>
        <p:sp>
          <p:nvSpPr>
            <p:cNvPr id="106" name="TextBox 106"/>
            <p:cNvSpPr txBox="1"/>
            <p:nvPr/>
          </p:nvSpPr>
          <p:spPr>
            <a:xfrm>
              <a:off x="598170" y="6570345"/>
              <a:ext cx="17973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旅序 · 多 Agent 旅游规划系统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1130629" y="6570345"/>
              <a:ext cx="46320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09 / 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9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7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5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4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4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1" grpId="0"/>
      <p:bldP spid="42" grpId="0"/>
      <p:bldP spid="50" grpId="0"/>
      <p:bldP spid="58" grpId="0"/>
      <p:bldP spid="72" grpId="0"/>
      <p:bldP spid="80" grpId="0"/>
      <p:bldP spid="88" grpId="0"/>
      <p:bldP spid="99" grpId="0"/>
      <p:bldP spid="10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609600" y="476250"/>
            <a:ext cx="10679906" cy="652462"/>
            <a:chOff x="609600" y="476250"/>
            <a:chExt cx="10679906" cy="652462"/>
          </a:xfrm>
        </p:grpSpPr>
        <p:sp>
          <p:nvSpPr>
            <p:cNvPr id="3" name="Rectangle 3"/>
            <p:cNvSpPr/>
            <p:nvPr/>
          </p:nvSpPr>
          <p:spPr>
            <a:xfrm>
              <a:off x="609600" y="476250"/>
              <a:ext cx="57150" cy="4191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502920"/>
              <a:ext cx="484555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短期工作记忆与长期用户偏好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915352"/>
              <a:ext cx="35288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MEMORY · 单次规划上下文 vs 跨会话持久化偏好</a:t>
              </a:r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11018044" y="495300"/>
              <a:ext cx="271462" cy="361950"/>
              <a:chOff x="11018044" y="495300"/>
              <a:chExt cx="271462" cy="36195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018044" y="640080"/>
                <a:ext cx="271462" cy="104060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104060">
                    <a:moveTo>
                      <a:pt x="251942" y="11541"/>
                    </a:moveTo>
                    <a:cubicBezTo>
                      <a:pt x="258306" y="8359"/>
                      <a:pt x="264954" y="4520"/>
                      <a:pt x="271462" y="0"/>
                    </a:cubicBezTo>
                    <a:lnTo>
                      <a:pt x="271462" y="36195"/>
                    </a:lnTo>
                    <a:cubicBezTo>
                      <a:pt x="271462" y="73676"/>
                      <a:pt x="210693" y="104060"/>
                      <a:pt x="135731" y="104060"/>
                    </a:cubicBezTo>
                    <a:cubicBezTo>
                      <a:pt x="60769" y="104060"/>
                      <a:pt x="0" y="73676"/>
                      <a:pt x="0" y="36195"/>
                    </a:cubicBezTo>
                    <a:lnTo>
                      <a:pt x="0" y="0"/>
                    </a:lnTo>
                    <a:cubicBezTo>
                      <a:pt x="6509" y="4520"/>
                      <a:pt x="13156" y="8359"/>
                      <a:pt x="19521" y="11541"/>
                    </a:cubicBezTo>
                    <a:cubicBezTo>
                      <a:pt x="51600" y="27580"/>
                      <a:pt x="92749" y="36195"/>
                      <a:pt x="135731" y="36195"/>
                    </a:cubicBezTo>
                    <a:cubicBezTo>
                      <a:pt x="178713" y="36195"/>
                      <a:pt x="219862" y="27580"/>
                      <a:pt x="251942" y="11541"/>
                    </a:cubicBez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1018044" y="753189"/>
                <a:ext cx="271462" cy="104061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104061">
                    <a:moveTo>
                      <a:pt x="0" y="0"/>
                    </a:moveTo>
                    <a:lnTo>
                      <a:pt x="0" y="36195"/>
                    </a:lnTo>
                    <a:cubicBezTo>
                      <a:pt x="0" y="73677"/>
                      <a:pt x="60769" y="104061"/>
                      <a:pt x="135731" y="104061"/>
                    </a:cubicBezTo>
                    <a:cubicBezTo>
                      <a:pt x="210693" y="104061"/>
                      <a:pt x="271462" y="73677"/>
                      <a:pt x="271462" y="36195"/>
                    </a:cubicBezTo>
                    <a:lnTo>
                      <a:pt x="271462" y="0"/>
                    </a:lnTo>
                    <a:cubicBezTo>
                      <a:pt x="264954" y="4520"/>
                      <a:pt x="258306" y="8359"/>
                      <a:pt x="251942" y="11542"/>
                    </a:cubicBezTo>
                    <a:cubicBezTo>
                      <a:pt x="219862" y="27581"/>
                      <a:pt x="178713" y="36195"/>
                      <a:pt x="135731" y="36195"/>
                    </a:cubicBezTo>
                    <a:cubicBezTo>
                      <a:pt x="92749" y="36195"/>
                      <a:pt x="51600" y="27581"/>
                      <a:pt x="19521" y="11542"/>
                    </a:cubicBezTo>
                    <a:cubicBezTo>
                      <a:pt x="13156" y="8359"/>
                      <a:pt x="6509" y="4520"/>
                      <a:pt x="0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1018044" y="495300"/>
                <a:ext cx="271462" cy="135731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135731">
                    <a:moveTo>
                      <a:pt x="135731" y="0"/>
                    </a:moveTo>
                    <a:cubicBezTo>
                      <a:pt x="210693" y="0"/>
                      <a:pt x="271462" y="30385"/>
                      <a:pt x="271462" y="67866"/>
                    </a:cubicBezTo>
                    <a:cubicBezTo>
                      <a:pt x="271462" y="105347"/>
                      <a:pt x="210693" y="135731"/>
                      <a:pt x="135731" y="135731"/>
                    </a:cubicBezTo>
                    <a:cubicBezTo>
                      <a:pt x="60769" y="135731"/>
                      <a:pt x="0" y="105347"/>
                      <a:pt x="0" y="67866"/>
                    </a:cubicBezTo>
                    <a:cubicBezTo>
                      <a:pt x="0" y="30385"/>
                      <a:pt x="60769" y="0"/>
                      <a:pt x="135731" y="0"/>
                    </a:cubicBez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</p:grpSp>
      </p:grpSp>
      <p:sp>
        <p:nvSpPr>
          <p:cNvPr id="11" name="Line 11"/>
          <p:cNvSpPr/>
          <p:nvPr/>
        </p:nvSpPr>
        <p:spPr>
          <a:xfrm>
            <a:off x="609600" y="12573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</p:sp>
      <p:grpSp>
        <p:nvGrpSpPr>
          <p:cNvPr id="25" name="Group 25"/>
          <p:cNvGrpSpPr/>
          <p:nvPr/>
        </p:nvGrpSpPr>
        <p:grpSpPr>
          <a:xfrm>
            <a:off x="609600" y="1485900"/>
            <a:ext cx="10972800" cy="533400"/>
            <a:chOff x="609600" y="1485900"/>
            <a:chExt cx="10972800" cy="533400"/>
          </a:xfrm>
        </p:grpSpPr>
        <p:sp>
          <p:nvSpPr>
            <p:cNvPr id="12" name="Rectangle 12"/>
            <p:cNvSpPr/>
            <p:nvPr/>
          </p:nvSpPr>
          <p:spPr>
            <a:xfrm>
              <a:off x="609600" y="1485900"/>
              <a:ext cx="2819400" cy="533400"/>
            </a:xfrm>
            <a:prstGeom prst="roundRect">
              <a:avLst>
                <a:gd name="adj" fmla="val 14286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59969" y="168830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4755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记忆维度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619500" y="1485900"/>
              <a:ext cx="3905250" cy="533400"/>
            </a:xfrm>
            <a:prstGeom prst="roundRect">
              <a:avLst>
                <a:gd name="adj" fmla="val 14286"/>
              </a:avLst>
            </a:prstGeom>
            <a:solidFill>
              <a:srgbClr val="2563EB"/>
            </a:solidFill>
            <a:ln>
              <a:noFill/>
            </a:ln>
            <a:effectLst>
              <a:outerShdw blurRad="114300" dist="38100" dir="5400000" algn="ctr" rotWithShape="0">
                <a:srgbClr val="0F172A">
                  <a:alpha val="7500"/>
                </a:srgbClr>
              </a:outerShdw>
            </a:effectLst>
          </p:spPr>
        </p:sp>
        <p:grpSp>
          <p:nvGrpSpPr>
            <p:cNvPr id="18" name="Group 18"/>
            <p:cNvGrpSpPr/>
            <p:nvPr/>
          </p:nvGrpSpPr>
          <p:grpSpPr>
            <a:xfrm>
              <a:off x="4112419" y="1619250"/>
              <a:ext cx="233362" cy="250031"/>
              <a:chOff x="4112419" y="1619250"/>
              <a:chExt cx="233362" cy="250031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4145756" y="1619250"/>
                <a:ext cx="16668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33338">
                    <a:moveTo>
                      <a:pt x="166688" y="0"/>
                    </a:moveTo>
                    <a:lnTo>
                      <a:pt x="0" y="0"/>
                    </a:lnTo>
                    <a:lnTo>
                      <a:pt x="0" y="33338"/>
                    </a:lnTo>
                    <a:lnTo>
                      <a:pt x="166688" y="33338"/>
                    </a:lnTo>
                    <a:lnTo>
                      <a:pt x="16668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4129088" y="1685925"/>
                <a:ext cx="20002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33338">
                    <a:moveTo>
                      <a:pt x="0" y="0"/>
                    </a:moveTo>
                    <a:lnTo>
                      <a:pt x="200025" y="0"/>
                    </a:lnTo>
                    <a:lnTo>
                      <a:pt x="200025" y="33338"/>
                    </a:lnTo>
                    <a:lnTo>
                      <a:pt x="0" y="333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4112419" y="1752600"/>
                <a:ext cx="233362" cy="116681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116681">
                    <a:moveTo>
                      <a:pt x="0" y="0"/>
                    </a:moveTo>
                    <a:lnTo>
                      <a:pt x="233362" y="0"/>
                    </a:lnTo>
                    <a:lnTo>
                      <a:pt x="233362" y="116681"/>
                    </a:lnTo>
                    <a:lnTo>
                      <a:pt x="0" y="1166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5283803" y="16735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短期记忆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715250" y="1485900"/>
              <a:ext cx="3867150" cy="533400"/>
            </a:xfrm>
            <a:prstGeom prst="roundRect">
              <a:avLst>
                <a:gd name="adj" fmla="val 14286"/>
              </a:avLst>
            </a:prstGeom>
            <a:solidFill>
              <a:srgbClr val="059669"/>
            </a:solidFill>
            <a:ln>
              <a:noFill/>
            </a:ln>
            <a:effectLst>
              <a:outerShdw blurRad="114300" dist="38100" dir="5400000" algn="ctr" rotWithShape="0">
                <a:srgbClr val="0F172A">
                  <a:alpha val="7500"/>
                </a:srgbClr>
              </a:outerShdw>
            </a:effectLst>
          </p:spPr>
        </p:sp>
        <p:grpSp>
          <p:nvGrpSpPr>
            <p:cNvPr id="23" name="Group 23"/>
            <p:cNvGrpSpPr/>
            <p:nvPr/>
          </p:nvGrpSpPr>
          <p:grpSpPr>
            <a:xfrm>
              <a:off x="8172450" y="1652588"/>
              <a:ext cx="266700" cy="216693"/>
              <a:chOff x="8172450" y="1652588"/>
              <a:chExt cx="266700" cy="21669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172450" y="1652588"/>
                <a:ext cx="266700" cy="50006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50006">
                    <a:moveTo>
                      <a:pt x="266700" y="0"/>
                    </a:moveTo>
                    <a:lnTo>
                      <a:pt x="0" y="0"/>
                    </a:lnTo>
                    <a:lnTo>
                      <a:pt x="0" y="50006"/>
                    </a:lnTo>
                    <a:lnTo>
                      <a:pt x="266700" y="50006"/>
                    </a:lnTo>
                    <a:lnTo>
                      <a:pt x="26670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189119" y="1735931"/>
                <a:ext cx="233362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133350">
                    <a:moveTo>
                      <a:pt x="0" y="0"/>
                    </a:moveTo>
                    <a:lnTo>
                      <a:pt x="66675" y="0"/>
                    </a:lnTo>
                    <a:lnTo>
                      <a:pt x="66675" y="33338"/>
                    </a:lnTo>
                    <a:lnTo>
                      <a:pt x="166688" y="33338"/>
                    </a:lnTo>
                    <a:lnTo>
                      <a:pt x="166688" y="0"/>
                    </a:lnTo>
                    <a:lnTo>
                      <a:pt x="233362" y="0"/>
                    </a:lnTo>
                    <a:lnTo>
                      <a:pt x="233362" y="133350"/>
                    </a:lnTo>
                    <a:lnTo>
                      <a:pt x="0" y="1333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9284303" y="1673542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长期记忆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9600" y="2095500"/>
            <a:ext cx="10972800" cy="762000"/>
            <a:chOff x="609600" y="2095500"/>
            <a:chExt cx="10972800" cy="762000"/>
          </a:xfrm>
        </p:grpSpPr>
        <p:sp>
          <p:nvSpPr>
            <p:cNvPr id="26" name="Rectangle 26"/>
            <p:cNvSpPr/>
            <p:nvPr/>
          </p:nvSpPr>
          <p:spPr>
            <a:xfrm>
              <a:off x="609600" y="2095500"/>
              <a:ext cx="2819400" cy="762000"/>
            </a:xfrm>
            <a:prstGeom prst="roundRect">
              <a:avLst>
                <a:gd name="adj" fmla="val 7500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819910" y="2404110"/>
              <a:ext cx="3985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3415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内容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619500" y="2095500"/>
              <a:ext cx="3905250" cy="762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301490" y="2306002"/>
              <a:ext cx="28406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415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LLM messages 列表、Observation 字典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806315" y="2534602"/>
              <a:ext cx="16138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415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主控 Agent 共享上下文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715250" y="2095500"/>
              <a:ext cx="3867150" cy="762000"/>
            </a:xfrm>
            <a:prstGeom prst="roundRect">
              <a:avLst>
                <a:gd name="adj" fmla="val 7500"/>
              </a:avLst>
            </a:prstGeom>
            <a:solidFill>
              <a:srgbClr val="ECFDF5"/>
            </a:solidFill>
            <a:ln w="14288">
              <a:solidFill>
                <a:srgbClr val="6EE7B7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959215" y="2306002"/>
              <a:ext cx="15601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415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完整 TravelPlan JSON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816340" y="2534602"/>
              <a:ext cx="19742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415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profiles.json 用户偏好聚合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9600" y="2933700"/>
            <a:ext cx="10972800" cy="762000"/>
            <a:chOff x="609600" y="2933700"/>
            <a:chExt cx="10972800" cy="762000"/>
          </a:xfrm>
        </p:grpSpPr>
        <p:sp>
          <p:nvSpPr>
            <p:cNvPr id="35" name="Rectangle 35"/>
            <p:cNvSpPr/>
            <p:nvPr/>
          </p:nvSpPr>
          <p:spPr>
            <a:xfrm>
              <a:off x="609600" y="2933700"/>
              <a:ext cx="2819400" cy="762000"/>
            </a:xfrm>
            <a:prstGeom prst="roundRect">
              <a:avLst>
                <a:gd name="adj" fmla="val 7500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667510" y="32423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3415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生命周期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619500" y="2933700"/>
              <a:ext cx="3905250" cy="762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912804" y="3242310"/>
              <a:ext cx="13186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D4ED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单次规划内有效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715250" y="2933700"/>
              <a:ext cx="3867150" cy="762000"/>
            </a:xfrm>
            <a:prstGeom prst="roundRect">
              <a:avLst>
                <a:gd name="adj" fmla="val 7500"/>
              </a:avLst>
            </a:prstGeom>
            <a:solidFill>
              <a:srgbClr val="ECFDF5"/>
            </a:solidFill>
            <a:ln w="14288">
              <a:solidFill>
                <a:srgbClr val="6EE7B7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442036" y="3242310"/>
              <a:ext cx="24135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4785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跨会话持久化（App_Data/）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9600" y="3771900"/>
            <a:ext cx="10972800" cy="762000"/>
            <a:chOff x="609600" y="3771900"/>
            <a:chExt cx="10972800" cy="762000"/>
          </a:xfrm>
        </p:grpSpPr>
        <p:sp>
          <p:nvSpPr>
            <p:cNvPr id="42" name="Rectangle 42"/>
            <p:cNvSpPr/>
            <p:nvPr/>
          </p:nvSpPr>
          <p:spPr>
            <a:xfrm>
              <a:off x="609600" y="3771900"/>
              <a:ext cx="2819400" cy="762000"/>
            </a:xfrm>
            <a:prstGeom prst="roundRect">
              <a:avLst>
                <a:gd name="adj" fmla="val 7500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661160" y="40805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3415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写入方式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619500" y="3771900"/>
              <a:ext cx="3905250" cy="762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572000" y="4088606"/>
              <a:ext cx="2000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33415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内存对象，随请求结束释放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715250" y="3771900"/>
              <a:ext cx="3867150" cy="762000"/>
            </a:xfrm>
            <a:prstGeom prst="roundRect">
              <a:avLst>
                <a:gd name="adj" fmla="val 7500"/>
              </a:avLst>
            </a:prstGeom>
            <a:solidFill>
              <a:srgbClr val="ECFDF5"/>
            </a:solidFill>
            <a:ln w="14288">
              <a:solidFill>
                <a:srgbClr val="6EE7B7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702100" y="4012406"/>
              <a:ext cx="18934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33415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SemaphoreSlim 串行写入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891052" y="4241006"/>
              <a:ext cx="15155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33415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UTF-8 直接保存中文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09600" y="4610100"/>
            <a:ext cx="10972800" cy="762000"/>
            <a:chOff x="609600" y="4610100"/>
            <a:chExt cx="10972800" cy="762000"/>
          </a:xfrm>
        </p:grpSpPr>
        <p:sp>
          <p:nvSpPr>
            <p:cNvPr id="50" name="Rectangle 50"/>
            <p:cNvSpPr/>
            <p:nvPr/>
          </p:nvSpPr>
          <p:spPr>
            <a:xfrm>
              <a:off x="609600" y="4610100"/>
              <a:ext cx="2819400" cy="762000"/>
            </a:xfrm>
            <a:prstGeom prst="roundRect">
              <a:avLst>
                <a:gd name="adj" fmla="val 7500"/>
              </a:avLst>
            </a:prstGeom>
            <a:solidFill>
              <a:srgbClr val="F1F5F9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642110" y="49187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3415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主要用途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3619500" y="4610100"/>
              <a:ext cx="3905250" cy="762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378940" y="4926806"/>
              <a:ext cx="238637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33415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支撑 ReAct 多轮推理与工具回灌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7715250" y="4610100"/>
              <a:ext cx="3867150" cy="762000"/>
            </a:xfrm>
            <a:prstGeom prst="roundRect">
              <a:avLst>
                <a:gd name="adj" fmla="val 7500"/>
              </a:avLst>
            </a:prstGeom>
            <a:solidFill>
              <a:srgbClr val="ECFDF5"/>
            </a:solidFill>
            <a:ln w="14288">
              <a:solidFill>
                <a:srgbClr val="6EE7B7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730853" y="4926806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33415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复用历史偏好与日均预算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09600" y="5562600"/>
            <a:ext cx="10972800" cy="723900"/>
            <a:chOff x="609600" y="5562600"/>
            <a:chExt cx="10972800" cy="723900"/>
          </a:xfrm>
        </p:grpSpPr>
        <p:sp>
          <p:nvSpPr>
            <p:cNvPr id="57" name="Rectangle 57"/>
            <p:cNvSpPr/>
            <p:nvPr/>
          </p:nvSpPr>
          <p:spPr>
            <a:xfrm>
              <a:off x="609600" y="5562600"/>
              <a:ext cx="10972800" cy="723900"/>
            </a:xfrm>
            <a:prstGeom prst="roundRect">
              <a:avLst>
                <a:gd name="adj" fmla="val 15789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58" name="Freeform 58"/>
            <p:cNvSpPr/>
            <p:nvPr/>
          </p:nvSpPr>
          <p:spPr>
            <a:xfrm>
              <a:off x="876300" y="577215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152400"/>
                  </a:moveTo>
                  <a:cubicBezTo>
                    <a:pt x="304800" y="236569"/>
                    <a:pt x="236569" y="304800"/>
                    <a:pt x="152400" y="304800"/>
                  </a:cubicBezTo>
                  <a:cubicBezTo>
                    <a:pt x="68232" y="304800"/>
                    <a:pt x="0" y="236569"/>
                    <a:pt x="0" y="152400"/>
                  </a:cubicBezTo>
                  <a:cubicBezTo>
                    <a:pt x="0" y="68232"/>
                    <a:pt x="68232" y="0"/>
                    <a:pt x="152400" y="0"/>
                  </a:cubicBezTo>
                  <a:cubicBezTo>
                    <a:pt x="236569" y="0"/>
                    <a:pt x="304800" y="68232"/>
                    <a:pt x="304800" y="152400"/>
                  </a:cubicBezTo>
                  <a:close/>
                  <a:moveTo>
                    <a:pt x="133350" y="152400"/>
                  </a:moveTo>
                  <a:lnTo>
                    <a:pt x="114300" y="152400"/>
                  </a:lnTo>
                  <a:lnTo>
                    <a:pt x="114300" y="114300"/>
                  </a:lnTo>
                  <a:lnTo>
                    <a:pt x="171450" y="114300"/>
                  </a:lnTo>
                  <a:lnTo>
                    <a:pt x="171450" y="209550"/>
                  </a:lnTo>
                  <a:lnTo>
                    <a:pt x="190500" y="209550"/>
                  </a:lnTo>
                  <a:lnTo>
                    <a:pt x="190500" y="247650"/>
                  </a:lnTo>
                  <a:lnTo>
                    <a:pt x="133350" y="247650"/>
                  </a:lnTo>
                  <a:lnTo>
                    <a:pt x="133350" y="152400"/>
                  </a:lnTo>
                  <a:close/>
                  <a:moveTo>
                    <a:pt x="171450" y="95250"/>
                  </a:moveTo>
                  <a:lnTo>
                    <a:pt x="171450" y="57150"/>
                  </a:lnTo>
                  <a:lnTo>
                    <a:pt x="133350" y="57150"/>
                  </a:lnTo>
                  <a:lnTo>
                    <a:pt x="133350" y="95250"/>
                  </a:lnTo>
                  <a:lnTo>
                    <a:pt x="171450" y="9525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300162" y="5765006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563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持久化细节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301115" y="6020752"/>
              <a:ext cx="1609415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运行数据保存于 App_Data/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98170" y="6570345"/>
            <a:ext cx="10995660" cy="182880"/>
            <a:chOff x="598170" y="6570345"/>
            <a:chExt cx="10995660" cy="182880"/>
          </a:xfrm>
        </p:grpSpPr>
        <p:sp>
          <p:nvSpPr>
            <p:cNvPr id="62" name="TextBox 62"/>
            <p:cNvSpPr txBox="1"/>
            <p:nvPr/>
          </p:nvSpPr>
          <p:spPr>
            <a:xfrm>
              <a:off x="598170" y="6570345"/>
              <a:ext cx="17973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旅序 · 多 Agent 旅游规划系统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163490" y="657034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10 / 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41" grpId="0"/>
      <p:bldP spid="49" grpId="0"/>
      <p:bldP spid="56" grpId="0"/>
      <p:bldP spid="6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609600" y="476250"/>
            <a:ext cx="10725150" cy="652462"/>
            <a:chOff x="609600" y="476250"/>
            <a:chExt cx="10725150" cy="652462"/>
          </a:xfrm>
        </p:grpSpPr>
        <p:sp>
          <p:nvSpPr>
            <p:cNvPr id="3" name="Rectangle 3"/>
            <p:cNvSpPr/>
            <p:nvPr/>
          </p:nvSpPr>
          <p:spPr>
            <a:xfrm>
              <a:off x="609600" y="476250"/>
              <a:ext cx="57150" cy="4191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502920"/>
              <a:ext cx="521360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在线 DeepSeek 与离线降级机制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915352"/>
              <a:ext cx="36898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RESILIENT LLM · 失败自动降级，保证课堂演示稳定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10972800" y="540544"/>
              <a:ext cx="361950" cy="271462"/>
              <a:chOff x="10972800" y="540544"/>
              <a:chExt cx="361950" cy="271462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0972800" y="540544"/>
                <a:ext cx="361950" cy="113109"/>
              </a:xfrm>
              <a:custGeom>
                <a:avLst/>
                <a:gdLst/>
                <a:ahLst/>
                <a:cxnLst/>
                <a:rect l="l" t="t" r="r" b="b"/>
                <a:pathLst>
                  <a:path w="361950" h="113109">
                    <a:moveTo>
                      <a:pt x="361950" y="0"/>
                    </a:moveTo>
                    <a:lnTo>
                      <a:pt x="0" y="0"/>
                    </a:lnTo>
                    <a:lnTo>
                      <a:pt x="0" y="113109"/>
                    </a:lnTo>
                    <a:lnTo>
                      <a:pt x="361950" y="113109"/>
                    </a:lnTo>
                    <a:lnTo>
                      <a:pt x="361950" y="0"/>
                    </a:lnTo>
                    <a:close/>
                    <a:moveTo>
                      <a:pt x="90488" y="56555"/>
                    </a:moveTo>
                    <a:cubicBezTo>
                      <a:pt x="90488" y="69048"/>
                      <a:pt x="80359" y="79177"/>
                      <a:pt x="67866" y="79177"/>
                    </a:cubicBezTo>
                    <a:cubicBezTo>
                      <a:pt x="55372" y="79177"/>
                      <a:pt x="45244" y="69048"/>
                      <a:pt x="45244" y="56555"/>
                    </a:cubicBezTo>
                    <a:cubicBezTo>
                      <a:pt x="45244" y="44061"/>
                      <a:pt x="55372" y="33933"/>
                      <a:pt x="67866" y="33933"/>
                    </a:cubicBezTo>
                    <a:cubicBezTo>
                      <a:pt x="80359" y="33933"/>
                      <a:pt x="90488" y="44061"/>
                      <a:pt x="90488" y="56555"/>
                    </a:cubicBez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972800" y="698897"/>
                <a:ext cx="361950" cy="113109"/>
              </a:xfrm>
              <a:custGeom>
                <a:avLst/>
                <a:gdLst/>
                <a:ahLst/>
                <a:cxnLst/>
                <a:rect l="l" t="t" r="r" b="b"/>
                <a:pathLst>
                  <a:path w="361950" h="113109">
                    <a:moveTo>
                      <a:pt x="361950" y="0"/>
                    </a:moveTo>
                    <a:lnTo>
                      <a:pt x="0" y="0"/>
                    </a:lnTo>
                    <a:lnTo>
                      <a:pt x="0" y="113109"/>
                    </a:lnTo>
                    <a:lnTo>
                      <a:pt x="361950" y="113109"/>
                    </a:lnTo>
                    <a:lnTo>
                      <a:pt x="361950" y="0"/>
                    </a:lnTo>
                    <a:close/>
                    <a:moveTo>
                      <a:pt x="67866" y="79177"/>
                    </a:moveTo>
                    <a:cubicBezTo>
                      <a:pt x="80359" y="79177"/>
                      <a:pt x="90488" y="69049"/>
                      <a:pt x="90488" y="56555"/>
                    </a:cubicBezTo>
                    <a:cubicBezTo>
                      <a:pt x="90488" y="44061"/>
                      <a:pt x="80359" y="33933"/>
                      <a:pt x="67866" y="33933"/>
                    </a:cubicBezTo>
                    <a:cubicBezTo>
                      <a:pt x="55372" y="33933"/>
                      <a:pt x="45244" y="44061"/>
                      <a:pt x="45244" y="56555"/>
                    </a:cubicBezTo>
                    <a:cubicBezTo>
                      <a:pt x="45244" y="69049"/>
                      <a:pt x="55372" y="79177"/>
                      <a:pt x="67866" y="79177"/>
                    </a:cubicBez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</p:grpSp>
      </p:grpSp>
      <p:sp>
        <p:nvSpPr>
          <p:cNvPr id="10" name="Line 10"/>
          <p:cNvSpPr/>
          <p:nvPr/>
        </p:nvSpPr>
        <p:spPr>
          <a:xfrm>
            <a:off x="609600" y="12573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</p:sp>
      <p:grpSp>
        <p:nvGrpSpPr>
          <p:cNvPr id="42" name="Group 42"/>
          <p:cNvGrpSpPr/>
          <p:nvPr/>
        </p:nvGrpSpPr>
        <p:grpSpPr>
          <a:xfrm>
            <a:off x="609600" y="1447800"/>
            <a:ext cx="10629900" cy="1809750"/>
            <a:chOff x="609600" y="1447800"/>
            <a:chExt cx="10629900" cy="1809750"/>
          </a:xfrm>
        </p:grpSpPr>
        <p:grpSp>
          <p:nvGrpSpPr>
            <p:cNvPr id="17" name="Group 17"/>
            <p:cNvGrpSpPr/>
            <p:nvPr/>
          </p:nvGrpSpPr>
          <p:grpSpPr>
            <a:xfrm>
              <a:off x="2038350" y="1752600"/>
              <a:ext cx="7391400" cy="1181100"/>
              <a:chOff x="2038350" y="1752600"/>
              <a:chExt cx="7391400" cy="1181100"/>
            </a:xfrm>
          </p:grpSpPr>
          <p:sp>
            <p:nvSpPr>
              <p:cNvPr id="11" name="Line 11"/>
              <p:cNvSpPr/>
              <p:nvPr/>
            </p:nvSpPr>
            <p:spPr>
              <a:xfrm>
                <a:off x="2038350" y="2209800"/>
                <a:ext cx="304800" cy="1"/>
              </a:xfrm>
              <a:prstGeom prst="line">
                <a:avLst/>
              </a:prstGeom>
              <a:noFill/>
              <a:ln w="28575">
                <a:solidFill>
                  <a:srgbClr val="94A3B8"/>
                </a:solidFill>
                <a:tailEnd type="triangle" w="lg" len="lg"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4248150" y="1752600"/>
                <a:ext cx="4762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285750">
                    <a:moveTo>
                      <a:pt x="0" y="285750"/>
                    </a:moveTo>
                    <a:lnTo>
                      <a:pt x="476250" y="0"/>
                    </a:lnTo>
                  </a:path>
                </a:pathLst>
              </a:custGeom>
              <a:noFill/>
              <a:ln w="28575">
                <a:solidFill>
                  <a:srgbClr val="94A3B8"/>
                </a:solidFill>
                <a:tailEnd type="triangle" w="lg" len="lg"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4248150" y="2400300"/>
                <a:ext cx="47625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476250" h="533400">
                    <a:moveTo>
                      <a:pt x="0" y="0"/>
                    </a:moveTo>
                    <a:lnTo>
                      <a:pt x="476250" y="533400"/>
                    </a:lnTo>
                  </a:path>
                </a:pathLst>
              </a:custGeom>
              <a:noFill/>
              <a:ln w="28575">
                <a:solidFill>
                  <a:srgbClr val="94A3B8"/>
                </a:solidFill>
                <a:tailEnd type="triangle" w="lg" len="lg"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6877050" y="1752600"/>
                <a:ext cx="51435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304800">
                    <a:moveTo>
                      <a:pt x="0" y="0"/>
                    </a:moveTo>
                    <a:lnTo>
                      <a:pt x="514350" y="304800"/>
                    </a:lnTo>
                  </a:path>
                </a:pathLst>
              </a:custGeom>
              <a:noFill/>
              <a:ln w="28575">
                <a:solidFill>
                  <a:srgbClr val="94A3B8"/>
                </a:solidFill>
                <a:tailEnd type="triangle" w="lg" len="lg"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6877050" y="2400300"/>
                <a:ext cx="51435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533400">
                    <a:moveTo>
                      <a:pt x="0" y="533400"/>
                    </a:moveTo>
                    <a:lnTo>
                      <a:pt x="514350" y="0"/>
                    </a:lnTo>
                  </a:path>
                </a:pathLst>
              </a:custGeom>
              <a:noFill/>
              <a:ln w="28575">
                <a:solidFill>
                  <a:srgbClr val="94A3B8"/>
                </a:solidFill>
                <a:tailEnd type="triangle" w="lg" len="lg"/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9124950" y="2209800"/>
                <a:ext cx="304800" cy="1"/>
              </a:xfrm>
              <a:prstGeom prst="line">
                <a:avLst/>
              </a:prstGeom>
              <a:noFill/>
              <a:ln w="28575">
                <a:solidFill>
                  <a:srgbClr val="94A3B8"/>
                </a:solidFill>
                <a:tailEnd type="triangle" w="lg" len="lg"/>
              </a:ln>
            </p:spPr>
          </p:sp>
        </p:grpSp>
        <p:grpSp>
          <p:nvGrpSpPr>
            <p:cNvPr id="21" name="Group 21"/>
            <p:cNvGrpSpPr/>
            <p:nvPr/>
          </p:nvGrpSpPr>
          <p:grpSpPr>
            <a:xfrm>
              <a:off x="609600" y="1866900"/>
              <a:ext cx="1428750" cy="685800"/>
              <a:chOff x="609600" y="1866900"/>
              <a:chExt cx="1428750" cy="6858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609600" y="1866900"/>
                <a:ext cx="1428750" cy="685800"/>
              </a:xfrm>
              <a:prstGeom prst="roundRect">
                <a:avLst>
                  <a:gd name="adj" fmla="val 16667"/>
                </a:avLst>
              </a:prstGeom>
              <a:solidFill>
                <a:srgbClr val="1E293B"/>
              </a:solidFill>
              <a:ln>
                <a:noFill/>
              </a:ln>
              <a:effectLst>
                <a:outerShdw blurRad="95250" dist="28575" dir="5400000" algn="ctr" rotWithShape="0">
                  <a:srgbClr val="0F172A">
                    <a:alpha val="6000"/>
                  </a:srgbClr>
                </a:outerShdw>
              </a:effectLst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940689" y="2042160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用户请求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03649" y="2284095"/>
                <a:ext cx="64065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94A3B8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PlanAsync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2381250" y="1866900"/>
              <a:ext cx="1866900" cy="685800"/>
              <a:chOff x="2381250" y="1866900"/>
              <a:chExt cx="1866900" cy="6858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2381250" y="1866900"/>
                <a:ext cx="1866900" cy="685800"/>
              </a:xfrm>
              <a:prstGeom prst="roundRect">
                <a:avLst>
                  <a:gd name="adj" fmla="val 16667"/>
                </a:avLst>
              </a:prstGeom>
              <a:solidFill>
                <a:srgbClr val="2563EB"/>
              </a:solidFill>
              <a:ln>
                <a:noFill/>
              </a:ln>
              <a:effectLst>
                <a:outerShdw blurRad="95250" dist="28575" dir="5400000" algn="ctr" rotWithShape="0">
                  <a:srgbClr val="0F172A">
                    <a:alpha val="6000"/>
                  </a:srgbClr>
                </a:outerShdw>
              </a:effectLst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2800100" y="2031206"/>
                <a:ext cx="10292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ResilientLlm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777490" y="2284095"/>
                <a:ext cx="10744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DBEAFE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判定可用性并路由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4762500" y="1447800"/>
              <a:ext cx="2095500" cy="609600"/>
              <a:chOff x="4762500" y="1447800"/>
              <a:chExt cx="2095500" cy="60960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4762500" y="1447800"/>
                <a:ext cx="2095500" cy="609600"/>
              </a:xfrm>
              <a:prstGeom prst="roundRect">
                <a:avLst>
                  <a:gd name="adj" fmla="val 18750"/>
                </a:avLst>
              </a:prstGeom>
              <a:solidFill>
                <a:srgbClr val="FFFFFF"/>
              </a:solidFill>
              <a:ln w="19050">
                <a:solidFill>
                  <a:srgbClr val="2563EB"/>
                </a:solidFill>
              </a:ln>
              <a:effectLst>
                <a:outerShdw blurRad="95250" dist="28575" dir="5400000" algn="ctr" rotWithShape="0">
                  <a:srgbClr val="0F172A">
                    <a:alpha val="6000"/>
                  </a:srgbClr>
                </a:outerShdw>
              </a:effectLst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5178533" y="1584960"/>
                <a:ext cx="126343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D4ED8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DeepSeek 在线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868847" y="1826895"/>
                <a:ext cx="188280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64748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配置 DEEPSEEK_API_KEY 且可用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4762500" y="2647950"/>
              <a:ext cx="2095500" cy="609600"/>
              <a:chOff x="4762500" y="2647950"/>
              <a:chExt cx="2095500" cy="6096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762500" y="2647950"/>
                <a:ext cx="2095500" cy="609600"/>
              </a:xfrm>
              <a:prstGeom prst="roundRect">
                <a:avLst>
                  <a:gd name="adj" fmla="val 18750"/>
                </a:avLst>
              </a:prstGeom>
              <a:solidFill>
                <a:srgbClr val="FFFFFF"/>
              </a:solidFill>
              <a:ln w="19050">
                <a:solidFill>
                  <a:srgbClr val="D97706"/>
                </a:solidFill>
              </a:ln>
              <a:effectLst>
                <a:outerShdw blurRad="95250" dist="28575" dir="5400000" algn="ctr" rotWithShape="0">
                  <a:srgbClr val="0F172A">
                    <a:alpha val="6000"/>
                  </a:srgbClr>
                </a:outerShdw>
              </a:effectLst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5242941" y="2785110"/>
                <a:ext cx="113461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B45309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离线演示模式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993719" y="3027045"/>
                <a:ext cx="163306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64748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未配置 Key 或 API 调用失败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7429500" y="1866900"/>
              <a:ext cx="1695450" cy="685800"/>
              <a:chOff x="7429500" y="1866900"/>
              <a:chExt cx="1695450" cy="6858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7429500" y="1866900"/>
                <a:ext cx="1695450" cy="685800"/>
              </a:xfrm>
              <a:prstGeom prst="roundRect">
                <a:avLst>
                  <a:gd name="adj" fmla="val 16667"/>
                </a:avLst>
              </a:prstGeom>
              <a:solidFill>
                <a:srgbClr val="0EA5E9"/>
              </a:solidFill>
              <a:ln>
                <a:noFill/>
              </a:ln>
              <a:effectLst>
                <a:outerShdw blurRad="95250" dist="28575" dir="5400000" algn="ctr" rotWithShape="0">
                  <a:srgbClr val="0F172A">
                    <a:alpha val="6000"/>
                  </a:srgbClr>
                </a:outerShdw>
              </a:effectLst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594902" y="2023110"/>
                <a:ext cx="136464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同一 AgentLoop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956899" y="2284095"/>
                <a:ext cx="64065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E0F2FE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+ 9 个工具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9429750" y="1866900"/>
              <a:ext cx="1809750" cy="685800"/>
              <a:chOff x="9429750" y="1866900"/>
              <a:chExt cx="1809750" cy="68580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9429750" y="1866900"/>
                <a:ext cx="1809750" cy="685800"/>
              </a:xfrm>
              <a:prstGeom prst="roundRect">
                <a:avLst>
                  <a:gd name="adj" fmla="val 16667"/>
                </a:avLst>
              </a:prstGeom>
              <a:solidFill>
                <a:srgbClr val="059669"/>
              </a:solidFill>
              <a:ln>
                <a:noFill/>
              </a:ln>
              <a:effectLst>
                <a:outerShdw blurRad="95250" dist="28575" dir="5400000" algn="ctr" rotWithShape="0">
                  <a:srgbClr val="0F172A">
                    <a:alpha val="6000"/>
                  </a:srgbClr>
                </a:outerShdw>
              </a:effectLst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9889034" y="2050256"/>
                <a:ext cx="89118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TravelPlan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994582" y="2284095"/>
                <a:ext cx="68008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D1FAE5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结构化方案</a:t>
                </a:r>
              </a:p>
            </p:txBody>
          </p:sp>
        </p:grpSp>
      </p:grpSp>
      <p:grpSp>
        <p:nvGrpSpPr>
          <p:cNvPr id="58" name="Group 58"/>
          <p:cNvGrpSpPr/>
          <p:nvPr/>
        </p:nvGrpSpPr>
        <p:grpSpPr>
          <a:xfrm>
            <a:off x="609600" y="3733800"/>
            <a:ext cx="5334000" cy="1981200"/>
            <a:chOff x="609600" y="3733800"/>
            <a:chExt cx="5334000" cy="1981200"/>
          </a:xfrm>
        </p:grpSpPr>
        <p:sp>
          <p:nvSpPr>
            <p:cNvPr id="43" name="Rectangle 43"/>
            <p:cNvSpPr/>
            <p:nvPr/>
          </p:nvSpPr>
          <p:spPr>
            <a:xfrm>
              <a:off x="609600" y="3733800"/>
              <a:ext cx="5334000" cy="19812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9525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44" name="Rectangle 44"/>
            <p:cNvSpPr/>
            <p:nvPr/>
          </p:nvSpPr>
          <p:spPr>
            <a:xfrm>
              <a:off x="609600" y="3733800"/>
              <a:ext cx="5334000" cy="457200"/>
            </a:xfrm>
            <a:prstGeom prst="roundRect">
              <a:avLst>
                <a:gd name="adj" fmla="val 25000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09600" y="4000500"/>
              <a:ext cx="5334000" cy="190500"/>
            </a:xfrm>
            <a:prstGeom prst="rect">
              <a:avLst/>
            </a:prstGeom>
            <a:solidFill>
              <a:srgbClr val="EFF6FF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838200" y="3879056"/>
              <a:ext cx="247650" cy="185738"/>
              <a:chOff x="838200" y="3879056"/>
              <a:chExt cx="247650" cy="185738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838200" y="3879056"/>
                <a:ext cx="247650" cy="77391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77391">
                    <a:moveTo>
                      <a:pt x="247650" y="0"/>
                    </a:moveTo>
                    <a:lnTo>
                      <a:pt x="0" y="0"/>
                    </a:lnTo>
                    <a:lnTo>
                      <a:pt x="0" y="77391"/>
                    </a:lnTo>
                    <a:lnTo>
                      <a:pt x="247650" y="77391"/>
                    </a:lnTo>
                    <a:lnTo>
                      <a:pt x="247650" y="0"/>
                    </a:lnTo>
                    <a:close/>
                    <a:moveTo>
                      <a:pt x="61912" y="38695"/>
                    </a:moveTo>
                    <a:cubicBezTo>
                      <a:pt x="61912" y="47244"/>
                      <a:pt x="54983" y="54173"/>
                      <a:pt x="46434" y="54173"/>
                    </a:cubicBezTo>
                    <a:cubicBezTo>
                      <a:pt x="37886" y="54173"/>
                      <a:pt x="30956" y="47244"/>
                      <a:pt x="30956" y="38695"/>
                    </a:cubicBezTo>
                    <a:cubicBezTo>
                      <a:pt x="30956" y="30147"/>
                      <a:pt x="37886" y="23217"/>
                      <a:pt x="46434" y="23217"/>
                    </a:cubicBezTo>
                    <a:cubicBezTo>
                      <a:pt x="54983" y="23217"/>
                      <a:pt x="61912" y="30147"/>
                      <a:pt x="61912" y="38695"/>
                    </a:cubicBez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38200" y="3987403"/>
                <a:ext cx="247650" cy="77391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77391">
                    <a:moveTo>
                      <a:pt x="247650" y="0"/>
                    </a:moveTo>
                    <a:lnTo>
                      <a:pt x="0" y="0"/>
                    </a:lnTo>
                    <a:lnTo>
                      <a:pt x="0" y="77391"/>
                    </a:lnTo>
                    <a:lnTo>
                      <a:pt x="247650" y="77391"/>
                    </a:lnTo>
                    <a:lnTo>
                      <a:pt x="247650" y="0"/>
                    </a:lnTo>
                    <a:close/>
                    <a:moveTo>
                      <a:pt x="46434" y="54173"/>
                    </a:moveTo>
                    <a:cubicBezTo>
                      <a:pt x="54983" y="54173"/>
                      <a:pt x="61912" y="47244"/>
                      <a:pt x="61912" y="38695"/>
                    </a:cubicBezTo>
                    <a:cubicBezTo>
                      <a:pt x="61912" y="30147"/>
                      <a:pt x="54983" y="23217"/>
                      <a:pt x="46434" y="23217"/>
                    </a:cubicBezTo>
                    <a:cubicBezTo>
                      <a:pt x="37886" y="23217"/>
                      <a:pt x="30956" y="30147"/>
                      <a:pt x="30956" y="38695"/>
                    </a:cubicBezTo>
                    <a:cubicBezTo>
                      <a:pt x="30956" y="47244"/>
                      <a:pt x="37886" y="54173"/>
                      <a:pt x="46434" y="54173"/>
                    </a:cubicBez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183005" y="3892868"/>
              <a:ext cx="18354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4ED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DeepSeek 在线模式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24865" y="443960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工具选择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081212" y="4431506"/>
              <a:ext cx="22972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模型自主选择 + 多轮函数调用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838200" y="474345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14288">
              <a:solidFill>
                <a:srgbClr val="F1F5F9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24865" y="49158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适用场景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081212" y="4907756"/>
              <a:ext cx="1926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联网可用、追求方案质量</a:t>
              </a:r>
            </a:p>
          </p:txBody>
        </p:sp>
        <p:sp>
          <p:nvSpPr>
            <p:cNvPr id="55" name="Line 55"/>
            <p:cNvSpPr/>
            <p:nvPr/>
          </p:nvSpPr>
          <p:spPr>
            <a:xfrm>
              <a:off x="838200" y="52197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14288">
              <a:solidFill>
                <a:srgbClr val="F1F5F9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24865" y="539210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控制循环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081212" y="5384006"/>
              <a:ext cx="20298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596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同一套 ReAct Agent Loop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248400" y="3733800"/>
            <a:ext cx="5334000" cy="1981200"/>
            <a:chOff x="6248400" y="3733800"/>
            <a:chExt cx="5334000" cy="1981200"/>
          </a:xfrm>
        </p:grpSpPr>
        <p:sp>
          <p:nvSpPr>
            <p:cNvPr id="59" name="Rectangle 59"/>
            <p:cNvSpPr/>
            <p:nvPr/>
          </p:nvSpPr>
          <p:spPr>
            <a:xfrm>
              <a:off x="6248400" y="3733800"/>
              <a:ext cx="5334000" cy="1981200"/>
            </a:xfrm>
            <a:prstGeom prst="roundRect">
              <a:avLst>
                <a:gd name="adj" fmla="val 576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95250" dist="28575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60" name="Rectangle 60"/>
            <p:cNvSpPr/>
            <p:nvPr/>
          </p:nvSpPr>
          <p:spPr>
            <a:xfrm>
              <a:off x="6248400" y="3733800"/>
              <a:ext cx="5334000" cy="457200"/>
            </a:xfrm>
            <a:prstGeom prst="roundRect">
              <a:avLst>
                <a:gd name="adj" fmla="val 25000"/>
              </a:avLst>
            </a:prstGeom>
            <a:solidFill>
              <a:srgbClr val="FFFBEB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248400" y="4000500"/>
              <a:ext cx="5334000" cy="190500"/>
            </a:xfrm>
            <a:prstGeom prst="rect">
              <a:avLst/>
            </a:prstGeom>
            <a:solidFill>
              <a:srgbClr val="FFFBEB"/>
            </a:solidFill>
            <a:ln>
              <a:noFill/>
            </a:ln>
          </p:spPr>
        </p:sp>
        <p:sp>
          <p:nvSpPr>
            <p:cNvPr id="62" name="Freeform 62"/>
            <p:cNvSpPr/>
            <p:nvPr/>
          </p:nvSpPr>
          <p:spPr>
            <a:xfrm>
              <a:off x="6492478" y="3848100"/>
              <a:ext cx="216694" cy="247650"/>
            </a:xfrm>
            <a:custGeom>
              <a:avLst/>
              <a:gdLst/>
              <a:ahLst/>
              <a:cxnLst/>
              <a:rect l="l" t="t" r="r" b="b"/>
              <a:pathLst>
                <a:path w="216694" h="247650">
                  <a:moveTo>
                    <a:pt x="108347" y="247650"/>
                  </a:moveTo>
                  <a:lnTo>
                    <a:pt x="51853" y="207297"/>
                  </a:lnTo>
                  <a:cubicBezTo>
                    <a:pt x="19313" y="184053"/>
                    <a:pt x="0" y="146526"/>
                    <a:pt x="0" y="106537"/>
                  </a:cubicBezTo>
                  <a:lnTo>
                    <a:pt x="0" y="46434"/>
                  </a:lnTo>
                  <a:lnTo>
                    <a:pt x="108347" y="0"/>
                  </a:lnTo>
                  <a:lnTo>
                    <a:pt x="216694" y="46434"/>
                  </a:lnTo>
                  <a:lnTo>
                    <a:pt x="216694" y="106537"/>
                  </a:lnTo>
                  <a:cubicBezTo>
                    <a:pt x="216694" y="146526"/>
                    <a:pt x="197382" y="184053"/>
                    <a:pt x="164840" y="207297"/>
                  </a:cubicBezTo>
                  <a:lnTo>
                    <a:pt x="108347" y="247650"/>
                  </a:lnTo>
                  <a:close/>
                  <a:moveTo>
                    <a:pt x="173465" y="88335"/>
                  </a:moveTo>
                  <a:lnTo>
                    <a:pt x="151576" y="66446"/>
                  </a:lnTo>
                  <a:lnTo>
                    <a:pt x="92869" y="125153"/>
                  </a:lnTo>
                  <a:lnTo>
                    <a:pt x="65118" y="97402"/>
                  </a:lnTo>
                  <a:lnTo>
                    <a:pt x="43229" y="119292"/>
                  </a:lnTo>
                  <a:lnTo>
                    <a:pt x="92869" y="168931"/>
                  </a:lnTo>
                  <a:lnTo>
                    <a:pt x="173465" y="88335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821805" y="38928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B4530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离线演示模式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63665" y="443960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工具选择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720012" y="4431506"/>
              <a:ext cx="1926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确定性引擎按白名单顺序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6477000" y="474345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14288">
              <a:solidFill>
                <a:srgbClr val="F1F5F9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463665" y="49158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适用场景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720012" y="4907756"/>
              <a:ext cx="100457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断网时稳定运行</a:t>
              </a:r>
            </a:p>
          </p:txBody>
        </p:sp>
        <p:sp>
          <p:nvSpPr>
            <p:cNvPr id="69" name="Line 69"/>
            <p:cNvSpPr/>
            <p:nvPr/>
          </p:nvSpPr>
          <p:spPr>
            <a:xfrm>
              <a:off x="6477000" y="5219700"/>
              <a:ext cx="4876800" cy="9525"/>
            </a:xfrm>
            <a:custGeom>
              <a:avLst/>
              <a:gdLst/>
              <a:ahLst/>
              <a:cxnLst/>
              <a:rect l="l" t="t" r="r" b="b"/>
              <a:pathLst>
                <a:path w="4876800" h="9525">
                  <a:moveTo>
                    <a:pt x="0" y="0"/>
                  </a:moveTo>
                  <a:lnTo>
                    <a:pt x="4876800" y="0"/>
                  </a:lnTo>
                </a:path>
              </a:pathLst>
            </a:custGeom>
            <a:noFill/>
            <a:ln w="14288">
              <a:solidFill>
                <a:srgbClr val="F1F5F9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463665" y="539210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控制循环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720012" y="5384006"/>
              <a:ext cx="20298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05966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同一套 ReAct Agent Loop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598170" y="6570345"/>
            <a:ext cx="10995660" cy="182880"/>
            <a:chOff x="598170" y="6570345"/>
            <a:chExt cx="10995660" cy="182880"/>
          </a:xfrm>
        </p:grpSpPr>
        <p:sp>
          <p:nvSpPr>
            <p:cNvPr id="73" name="TextBox 73"/>
            <p:cNvSpPr txBox="1"/>
            <p:nvPr/>
          </p:nvSpPr>
          <p:spPr>
            <a:xfrm>
              <a:off x="598170" y="6570345"/>
              <a:ext cx="17973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旅序 · 多 Agent 旅游规划系统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196352" y="6570345"/>
              <a:ext cx="3974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11 / 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58" grpId="0"/>
      <p:bldP spid="7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609600" y="476250"/>
            <a:ext cx="10702528" cy="652462"/>
            <a:chOff x="609600" y="476250"/>
            <a:chExt cx="10702528" cy="652462"/>
          </a:xfrm>
        </p:grpSpPr>
        <p:sp>
          <p:nvSpPr>
            <p:cNvPr id="3" name="Rectangle 3"/>
            <p:cNvSpPr/>
            <p:nvPr/>
          </p:nvSpPr>
          <p:spPr>
            <a:xfrm>
              <a:off x="609600" y="476250"/>
              <a:ext cx="57150" cy="4191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502920"/>
              <a:ext cx="519520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SSE 实时推送与执行轨迹可观测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915352"/>
              <a:ext cx="42776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STREAMING · 聊天式即时展示 Agent 回复、工具调用与结果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10995422" y="517922"/>
              <a:ext cx="316706" cy="316707"/>
              <a:chOff x="10995422" y="517922"/>
              <a:chExt cx="316706" cy="31670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0995422" y="517922"/>
                <a:ext cx="316706" cy="198257"/>
              </a:xfrm>
              <a:custGeom>
                <a:avLst/>
                <a:gdLst/>
                <a:ahLst/>
                <a:cxnLst/>
                <a:rect l="l" t="t" r="r" b="b"/>
                <a:pathLst>
                  <a:path w="316706" h="198257">
                    <a:moveTo>
                      <a:pt x="316706" y="0"/>
                    </a:moveTo>
                    <a:lnTo>
                      <a:pt x="0" y="0"/>
                    </a:lnTo>
                    <a:lnTo>
                      <a:pt x="0" y="135731"/>
                    </a:lnTo>
                    <a:lnTo>
                      <a:pt x="53885" y="135731"/>
                    </a:lnTo>
                    <a:lnTo>
                      <a:pt x="87817" y="67866"/>
                    </a:lnTo>
                    <a:lnTo>
                      <a:pt x="138401" y="67866"/>
                    </a:lnTo>
                    <a:lnTo>
                      <a:pt x="203597" y="198257"/>
                    </a:lnTo>
                    <a:lnTo>
                      <a:pt x="234860" y="135731"/>
                    </a:lnTo>
                    <a:lnTo>
                      <a:pt x="316706" y="135731"/>
                    </a:lnTo>
                    <a:lnTo>
                      <a:pt x="316706" y="0"/>
                    </a:ln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995422" y="636372"/>
                <a:ext cx="316706" cy="198257"/>
              </a:xfrm>
              <a:custGeom>
                <a:avLst/>
                <a:gdLst/>
                <a:ahLst/>
                <a:cxnLst/>
                <a:rect l="l" t="t" r="r" b="b"/>
                <a:pathLst>
                  <a:path w="316706" h="198257">
                    <a:moveTo>
                      <a:pt x="316706" y="62525"/>
                    </a:moveTo>
                    <a:lnTo>
                      <a:pt x="262821" y="62525"/>
                    </a:lnTo>
                    <a:lnTo>
                      <a:pt x="228888" y="130391"/>
                    </a:lnTo>
                    <a:lnTo>
                      <a:pt x="178305" y="130391"/>
                    </a:lnTo>
                    <a:lnTo>
                      <a:pt x="113109" y="0"/>
                    </a:lnTo>
                    <a:lnTo>
                      <a:pt x="81847" y="62525"/>
                    </a:lnTo>
                    <a:lnTo>
                      <a:pt x="0" y="62525"/>
                    </a:lnTo>
                    <a:lnTo>
                      <a:pt x="0" y="198257"/>
                    </a:lnTo>
                    <a:lnTo>
                      <a:pt x="316706" y="198257"/>
                    </a:lnTo>
                    <a:lnTo>
                      <a:pt x="316706" y="62525"/>
                    </a:ln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</p:grpSp>
      </p:grpSp>
      <p:sp>
        <p:nvSpPr>
          <p:cNvPr id="10" name="Line 10"/>
          <p:cNvSpPr/>
          <p:nvPr/>
        </p:nvSpPr>
        <p:spPr>
          <a:xfrm>
            <a:off x="609600" y="12573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</p:sp>
      <p:grpSp>
        <p:nvGrpSpPr>
          <p:cNvPr id="39" name="Group 39"/>
          <p:cNvGrpSpPr/>
          <p:nvPr/>
        </p:nvGrpSpPr>
        <p:grpSpPr>
          <a:xfrm>
            <a:off x="594360" y="1565910"/>
            <a:ext cx="5158740" cy="4644390"/>
            <a:chOff x="594360" y="1565910"/>
            <a:chExt cx="5158740" cy="4644390"/>
          </a:xfrm>
        </p:grpSpPr>
        <p:sp>
          <p:nvSpPr>
            <p:cNvPr id="11" name="TextBox 11"/>
            <p:cNvSpPr txBox="1"/>
            <p:nvPr/>
          </p:nvSpPr>
          <p:spPr>
            <a:xfrm>
              <a:off x="594360" y="1565910"/>
              <a:ext cx="11806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563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五类 SSE 事件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609600" y="1847850"/>
              <a:ext cx="5143500" cy="647700"/>
              <a:chOff x="609600" y="1847850"/>
              <a:chExt cx="5143500" cy="6477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609600" y="1847850"/>
                <a:ext cx="5143500" cy="647700"/>
              </a:xfrm>
              <a:prstGeom prst="roundRect">
                <a:avLst>
                  <a:gd name="adj" fmla="val 14706"/>
                </a:avLst>
              </a:prstGeom>
              <a:solidFill>
                <a:srgbClr val="F8FAFC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762000" y="2057400"/>
                <a:ext cx="1257300" cy="304800"/>
              </a:xfrm>
              <a:prstGeom prst="roundRect">
                <a:avLst>
                  <a:gd name="adj" fmla="val 25000"/>
                </a:avLst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996815" y="2145506"/>
                <a:ext cx="78767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progress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195512" y="2107406"/>
                <a:ext cx="158126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E293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系统阶段与保存进度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609600" y="2609850"/>
              <a:ext cx="5143500" cy="647700"/>
              <a:chOff x="609600" y="2609850"/>
              <a:chExt cx="5143500" cy="6477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609600" y="2609850"/>
                <a:ext cx="5143500" cy="647700"/>
              </a:xfrm>
              <a:prstGeom prst="roundRect">
                <a:avLst>
                  <a:gd name="adj" fmla="val 14706"/>
                </a:avLst>
              </a:prstGeom>
              <a:solidFill>
                <a:srgbClr val="F8FAFC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762000" y="2819400"/>
                <a:ext cx="1257300" cy="304800"/>
              </a:xfrm>
              <a:prstGeom prst="roundRect">
                <a:avLst>
                  <a:gd name="adj" fmla="val 25000"/>
                </a:avLst>
              </a:prstGeom>
              <a:solidFill>
                <a:srgbClr val="0EA5E9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139145" y="2907506"/>
                <a:ext cx="50300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trace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195512" y="2869406"/>
                <a:ext cx="304770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E293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Thought / Action / Observation 摘要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609600" y="3371850"/>
              <a:ext cx="5143500" cy="647700"/>
              <a:chOff x="609600" y="3371850"/>
              <a:chExt cx="5143500" cy="6477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09600" y="3371850"/>
                <a:ext cx="5143500" cy="647700"/>
              </a:xfrm>
              <a:prstGeom prst="roundRect">
                <a:avLst>
                  <a:gd name="adj" fmla="val 14706"/>
                </a:avLst>
              </a:prstGeom>
              <a:solidFill>
                <a:srgbClr val="F8FAFC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762000" y="3581400"/>
                <a:ext cx="1257300" cy="304800"/>
              </a:xfrm>
              <a:prstGeom prst="roundRect">
                <a:avLst>
                  <a:gd name="adj" fmla="val 25000"/>
                </a:avLst>
              </a:prstGeom>
              <a:solidFill>
                <a:srgbClr val="059669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160711" y="3669506"/>
                <a:ext cx="45987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delta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195512" y="3631406"/>
                <a:ext cx="221959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E293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DeepSeek 文本增量逐字推送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609600" y="4133850"/>
              <a:ext cx="5143500" cy="647700"/>
              <a:chOff x="609600" y="4133850"/>
              <a:chExt cx="5143500" cy="6477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609600" y="4133850"/>
                <a:ext cx="5143500" cy="647700"/>
              </a:xfrm>
              <a:prstGeom prst="roundRect">
                <a:avLst>
                  <a:gd name="adj" fmla="val 14706"/>
                </a:avLst>
              </a:prstGeom>
              <a:solidFill>
                <a:srgbClr val="F8FAFC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762000" y="4343400"/>
                <a:ext cx="1257300" cy="304800"/>
              </a:xfrm>
              <a:prstGeom prst="roundRect">
                <a:avLst>
                  <a:gd name="adj" fmla="val 25000"/>
                </a:avLst>
              </a:prstGeom>
              <a:solidFill>
                <a:srgbClr val="047857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982816" y="4439602"/>
                <a:ext cx="81566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completed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2195512" y="4393406"/>
                <a:ext cx="220234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E293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完整 TravelPlan 一次性下发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609600" y="4895850"/>
              <a:ext cx="5143500" cy="647700"/>
              <a:chOff x="609600" y="4895850"/>
              <a:chExt cx="5143500" cy="6477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609600" y="4895850"/>
                <a:ext cx="5143500" cy="647700"/>
              </a:xfrm>
              <a:prstGeom prst="roundRect">
                <a:avLst>
                  <a:gd name="adj" fmla="val 14706"/>
                </a:avLst>
              </a:prstGeom>
              <a:solidFill>
                <a:srgbClr val="F8FAFC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762000" y="5105400"/>
                <a:ext cx="1257300" cy="304800"/>
              </a:xfrm>
              <a:prstGeom prst="roundRect">
                <a:avLst>
                  <a:gd name="adj" fmla="val 25000"/>
                </a:avLst>
              </a:prstGeom>
              <a:solidFill>
                <a:srgbClr val="DC2626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139145" y="5193506"/>
                <a:ext cx="50300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Consolas" panose="020B0609020204030204"/>
                    <a:ea typeface="微软雅黑" panose="020B0503020204020204" charset="-122"/>
                    <a:cs typeface="Consolas" panose="020B0609020204030204"/>
                  </a:rPr>
                  <a:t>error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2195512" y="5155406"/>
                <a:ext cx="19263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E293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流式执行错误与降级提示</a:t>
                </a:r>
              </a:p>
            </p:txBody>
          </p:sp>
        </p:grpSp>
        <p:sp>
          <p:nvSpPr>
            <p:cNvPr id="37" name="Rectangle 37"/>
            <p:cNvSpPr/>
            <p:nvPr/>
          </p:nvSpPr>
          <p:spPr>
            <a:xfrm>
              <a:off x="609600" y="5676900"/>
              <a:ext cx="5143500" cy="533400"/>
            </a:xfrm>
            <a:prstGeom prst="roundRect">
              <a:avLst>
                <a:gd name="adj" fmla="val 17857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86765" y="5887402"/>
              <a:ext cx="34694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2E8F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POST </a:t>
              </a:r>
              <a:r>
                <a:rPr lang="zh-CN" sz="1050" dirty="0">
                  <a:solidFill>
                    <a:srgbClr val="34D3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/api/plans/stream</a:t>
              </a:r>
              <a:r>
                <a:rPr lang="zh-CN" sz="1050" dirty="0">
                  <a:solidFill>
                    <a:srgbClr val="E2E8F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 · text/event-stream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6156960" y="1565910"/>
            <a:ext cx="13188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563EB"/>
                </a:solidFill>
                <a:latin typeface="Segoe UI" panose="020B0502040204020203"/>
                <a:ea typeface="微软雅黑" panose="020B0503020204020204" charset="-122"/>
                <a:cs typeface="Segoe UI" panose="020B0502040204020203"/>
              </a:rPr>
              <a:t>聊天式生成界面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598170" y="6570345"/>
            <a:ext cx="10995660" cy="182880"/>
            <a:chOff x="598170" y="6570345"/>
            <a:chExt cx="10995660" cy="182880"/>
          </a:xfrm>
        </p:grpSpPr>
        <p:sp>
          <p:nvSpPr>
            <p:cNvPr id="55" name="TextBox 55"/>
            <p:cNvSpPr txBox="1"/>
            <p:nvPr/>
          </p:nvSpPr>
          <p:spPr>
            <a:xfrm>
              <a:off x="598170" y="6570345"/>
              <a:ext cx="17973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旅序 · 多 Agent 旅游规划系统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163490" y="657034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12 / 20</a:t>
              </a:r>
            </a:p>
          </p:txBody>
        </p:sp>
      </p:grpSp>
      <p:pic>
        <p:nvPicPr>
          <p:cNvPr id="58" name="图片 5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1245" y="2147570"/>
            <a:ext cx="2846070" cy="2004060"/>
          </a:xfrm>
          <a:prstGeom prst="rect">
            <a:avLst/>
          </a:prstGeom>
        </p:spPr>
      </p:pic>
      <p:pic>
        <p:nvPicPr>
          <p:cNvPr id="59" name="图片 58"/>
          <p:cNvPicPr>
            <a:picLocks noChangeAspect="1"/>
          </p:cNvPicPr>
          <p:nvPr/>
        </p:nvPicPr>
        <p:blipFill>
          <a:blip r:embed="rId4"/>
          <a:srcRect r="16670"/>
          <a:stretch>
            <a:fillRect/>
          </a:stretch>
        </p:blipFill>
        <p:spPr>
          <a:xfrm>
            <a:off x="8997315" y="2147570"/>
            <a:ext cx="2596515" cy="2054225"/>
          </a:xfrm>
          <a:prstGeom prst="rect">
            <a:avLst/>
          </a:prstGeom>
        </p:spPr>
      </p:pic>
      <p:pic>
        <p:nvPicPr>
          <p:cNvPr id="60" name="图片 5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1245" y="4201795"/>
            <a:ext cx="2851150" cy="1285875"/>
          </a:xfrm>
          <a:prstGeom prst="rect">
            <a:avLst/>
          </a:prstGeom>
        </p:spPr>
      </p:pic>
      <p:pic>
        <p:nvPicPr>
          <p:cNvPr id="61" name="图片 6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7315" y="4151630"/>
            <a:ext cx="2596515" cy="14490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0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09600" y="476250"/>
            <a:ext cx="10702528" cy="652462"/>
            <a:chOff x="609600" y="476250"/>
            <a:chExt cx="10702528" cy="652462"/>
          </a:xfrm>
        </p:grpSpPr>
        <p:sp>
          <p:nvSpPr>
            <p:cNvPr id="3" name="Rectangle 3"/>
            <p:cNvSpPr/>
            <p:nvPr/>
          </p:nvSpPr>
          <p:spPr>
            <a:xfrm>
              <a:off x="609600" y="476250"/>
              <a:ext cx="57150" cy="4191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502920"/>
              <a:ext cx="574727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MCP Server：工具能力标准化暴露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915352"/>
              <a:ext cx="32470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MCP · 加分项，让外部客户端复用同一套工具</a:t>
              </a:r>
            </a:p>
          </p:txBody>
        </p:sp>
        <p:sp>
          <p:nvSpPr>
            <p:cNvPr id="6" name="Freeform 6"/>
            <p:cNvSpPr/>
            <p:nvPr/>
          </p:nvSpPr>
          <p:spPr>
            <a:xfrm>
              <a:off x="10995422" y="495300"/>
              <a:ext cx="316706" cy="361950"/>
            </a:xfrm>
            <a:custGeom>
              <a:avLst/>
              <a:gdLst/>
              <a:ahLst/>
              <a:cxnLst/>
              <a:rect l="l" t="t" r="r" b="b"/>
              <a:pathLst>
                <a:path w="316706" h="361950">
                  <a:moveTo>
                    <a:pt x="113109" y="0"/>
                  </a:moveTo>
                  <a:lnTo>
                    <a:pt x="113109" y="90488"/>
                  </a:lnTo>
                  <a:lnTo>
                    <a:pt x="203597" y="90488"/>
                  </a:lnTo>
                  <a:lnTo>
                    <a:pt x="203597" y="0"/>
                  </a:lnTo>
                  <a:lnTo>
                    <a:pt x="248841" y="0"/>
                  </a:lnTo>
                  <a:lnTo>
                    <a:pt x="248841" y="90488"/>
                  </a:lnTo>
                  <a:lnTo>
                    <a:pt x="316706" y="90488"/>
                  </a:lnTo>
                  <a:lnTo>
                    <a:pt x="316706" y="135731"/>
                  </a:lnTo>
                  <a:lnTo>
                    <a:pt x="271462" y="135731"/>
                  </a:lnTo>
                  <a:lnTo>
                    <a:pt x="271462" y="180975"/>
                  </a:lnTo>
                  <a:cubicBezTo>
                    <a:pt x="271462" y="235697"/>
                    <a:pt x="232603" y="281341"/>
                    <a:pt x="180975" y="291822"/>
                  </a:cubicBezTo>
                  <a:lnTo>
                    <a:pt x="180975" y="361950"/>
                  </a:lnTo>
                  <a:lnTo>
                    <a:pt x="135731" y="361950"/>
                  </a:lnTo>
                  <a:lnTo>
                    <a:pt x="135731" y="291822"/>
                  </a:lnTo>
                  <a:cubicBezTo>
                    <a:pt x="84103" y="281341"/>
                    <a:pt x="45244" y="235697"/>
                    <a:pt x="45244" y="180975"/>
                  </a:cubicBezTo>
                  <a:lnTo>
                    <a:pt x="45244" y="135731"/>
                  </a:lnTo>
                  <a:lnTo>
                    <a:pt x="0" y="135731"/>
                  </a:lnTo>
                  <a:lnTo>
                    <a:pt x="0" y="90488"/>
                  </a:lnTo>
                  <a:lnTo>
                    <a:pt x="67866" y="90488"/>
                  </a:lnTo>
                  <a:lnTo>
                    <a:pt x="67866" y="0"/>
                  </a:lnTo>
                  <a:lnTo>
                    <a:pt x="113109" y="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</p:grpSp>
      <p:sp>
        <p:nvSpPr>
          <p:cNvPr id="8" name="Line 8"/>
          <p:cNvSpPr/>
          <p:nvPr/>
        </p:nvSpPr>
        <p:spPr>
          <a:xfrm>
            <a:off x="609600" y="12573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</p:sp>
      <p:sp>
        <p:nvSpPr>
          <p:cNvPr id="9" name="Line 9"/>
          <p:cNvSpPr/>
          <p:nvPr/>
        </p:nvSpPr>
        <p:spPr>
          <a:xfrm>
            <a:off x="1428750" y="1695450"/>
            <a:ext cx="9525" cy="2667000"/>
          </a:xfrm>
          <a:custGeom>
            <a:avLst/>
            <a:gdLst/>
            <a:ahLst/>
            <a:cxnLst/>
            <a:rect l="l" t="t" r="r" b="b"/>
            <a:pathLst>
              <a:path w="9525" h="2667000">
                <a:moveTo>
                  <a:pt x="0" y="0"/>
                </a:moveTo>
                <a:lnTo>
                  <a:pt x="0" y="2667000"/>
                </a:lnTo>
              </a:path>
            </a:pathLst>
          </a:custGeom>
          <a:noFill/>
          <a:ln w="38100" cap="rnd">
            <a:gradFill>
              <a:gsLst>
                <a:gs pos="0">
                  <a:srgbClr val="2563EB"/>
                </a:gs>
                <a:gs pos="100000">
                  <a:srgbClr val="D97706"/>
                </a:gs>
              </a:gsLst>
              <a:lin ang="5400000" scaled="1"/>
            </a:gradFill>
          </a:ln>
        </p:spPr>
      </p:sp>
      <p:grpSp>
        <p:nvGrpSpPr>
          <p:cNvPr id="17" name="Group 17"/>
          <p:cNvGrpSpPr/>
          <p:nvPr/>
        </p:nvGrpSpPr>
        <p:grpSpPr>
          <a:xfrm>
            <a:off x="1219200" y="1543050"/>
            <a:ext cx="10363200" cy="685800"/>
            <a:chOff x="1219200" y="1543050"/>
            <a:chExt cx="10363200" cy="685800"/>
          </a:xfrm>
        </p:grpSpPr>
        <p:sp>
          <p:nvSpPr>
            <p:cNvPr id="10" name="Ellipse 10"/>
            <p:cNvSpPr/>
            <p:nvPr/>
          </p:nvSpPr>
          <p:spPr>
            <a:xfrm>
              <a:off x="1219200" y="1676400"/>
              <a:ext cx="419100" cy="4191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41141" y="1821656"/>
              <a:ext cx="1752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01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000250" y="1543050"/>
              <a:ext cx="958215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3" name="Rectangle 13"/>
            <p:cNvSpPr/>
            <p:nvPr/>
          </p:nvSpPr>
          <p:spPr>
            <a:xfrm>
              <a:off x="2000250" y="1543050"/>
              <a:ext cx="57150" cy="6858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2266950" y="173355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95250" y="0"/>
                  </a:moveTo>
                  <a:lnTo>
                    <a:pt x="95250" y="76200"/>
                  </a:lnTo>
                  <a:lnTo>
                    <a:pt x="171450" y="76200"/>
                  </a:lnTo>
                  <a:lnTo>
                    <a:pt x="171450" y="0"/>
                  </a:lnTo>
                  <a:lnTo>
                    <a:pt x="209550" y="0"/>
                  </a:lnTo>
                  <a:lnTo>
                    <a:pt x="209550" y="76200"/>
                  </a:lnTo>
                  <a:lnTo>
                    <a:pt x="266700" y="76200"/>
                  </a:lnTo>
                  <a:lnTo>
                    <a:pt x="266700" y="114300"/>
                  </a:lnTo>
                  <a:lnTo>
                    <a:pt x="228600" y="114300"/>
                  </a:lnTo>
                  <a:lnTo>
                    <a:pt x="228600" y="152400"/>
                  </a:lnTo>
                  <a:cubicBezTo>
                    <a:pt x="228600" y="198482"/>
                    <a:pt x="195876" y="236919"/>
                    <a:pt x="152400" y="245745"/>
                  </a:cubicBezTo>
                  <a:lnTo>
                    <a:pt x="152400" y="304800"/>
                  </a:lnTo>
                  <a:lnTo>
                    <a:pt x="114300" y="304800"/>
                  </a:lnTo>
                  <a:lnTo>
                    <a:pt x="114300" y="245745"/>
                  </a:lnTo>
                  <a:cubicBezTo>
                    <a:pt x="70823" y="236919"/>
                    <a:pt x="38100" y="198482"/>
                    <a:pt x="38100" y="152400"/>
                  </a:cubicBezTo>
                  <a:lnTo>
                    <a:pt x="38100" y="114300"/>
                  </a:lnTo>
                  <a:lnTo>
                    <a:pt x="0" y="114300"/>
                  </a:lnTo>
                  <a:lnTo>
                    <a:pt x="0" y="76200"/>
                  </a:lnTo>
                  <a:lnTo>
                    <a:pt x="57150" y="76200"/>
                  </a:lnTo>
                  <a:lnTo>
                    <a:pt x="5715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745105" y="1721168"/>
              <a:ext cx="13282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官方 SDK 集成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748915" y="2001202"/>
              <a:ext cx="62221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使用 ModelContextProtocol.AspNetCore 1.4.0，应用启动后通过 Streamable HTTP 暴露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19200" y="2343150"/>
            <a:ext cx="10363200" cy="685800"/>
            <a:chOff x="1219200" y="2343150"/>
            <a:chExt cx="10363200" cy="685800"/>
          </a:xfrm>
        </p:grpSpPr>
        <p:sp>
          <p:nvSpPr>
            <p:cNvPr id="18" name="Ellipse 18"/>
            <p:cNvSpPr/>
            <p:nvPr/>
          </p:nvSpPr>
          <p:spPr>
            <a:xfrm>
              <a:off x="1219200" y="2476500"/>
              <a:ext cx="419100" cy="419100"/>
            </a:xfrm>
            <a:prstGeom prst="ellipse">
              <a:avLst/>
            </a:prstGeom>
            <a:solidFill>
              <a:srgbClr val="0EA5E9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319576" y="262175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02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000250" y="2343150"/>
              <a:ext cx="958215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1" name="Rectangle 21"/>
            <p:cNvSpPr/>
            <p:nvPr/>
          </p:nvSpPr>
          <p:spPr>
            <a:xfrm>
              <a:off x="2000250" y="2343150"/>
              <a:ext cx="57150" cy="685800"/>
            </a:xfrm>
            <a:prstGeom prst="roundRect">
              <a:avLst>
                <a:gd name="adj" fmla="val 50000"/>
              </a:avLst>
            </a:prstGeom>
            <a:solidFill>
              <a:srgbClr val="0EA5E9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2247900" y="2533650"/>
              <a:ext cx="304800" cy="304800"/>
              <a:chOff x="2247900" y="2533650"/>
              <a:chExt cx="304800" cy="304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2343150" y="2533650"/>
                <a:ext cx="2095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09550">
                    <a:moveTo>
                      <a:pt x="39057" y="29252"/>
                    </a:moveTo>
                    <a:cubicBezTo>
                      <a:pt x="57787" y="10522"/>
                      <a:pt x="83190" y="0"/>
                      <a:pt x="109678" y="0"/>
                    </a:cubicBezTo>
                    <a:cubicBezTo>
                      <a:pt x="164836" y="0"/>
                      <a:pt x="209550" y="44714"/>
                      <a:pt x="209550" y="99872"/>
                    </a:cubicBezTo>
                    <a:cubicBezTo>
                      <a:pt x="209550" y="126360"/>
                      <a:pt x="199029" y="151763"/>
                      <a:pt x="180299" y="170493"/>
                    </a:cubicBezTo>
                    <a:lnTo>
                      <a:pt x="141241" y="209550"/>
                    </a:lnTo>
                    <a:lnTo>
                      <a:pt x="114300" y="182609"/>
                    </a:lnTo>
                    <a:lnTo>
                      <a:pt x="153358" y="143552"/>
                    </a:lnTo>
                    <a:cubicBezTo>
                      <a:pt x="164943" y="131967"/>
                      <a:pt x="171450" y="116255"/>
                      <a:pt x="171450" y="99872"/>
                    </a:cubicBezTo>
                    <a:cubicBezTo>
                      <a:pt x="171450" y="65756"/>
                      <a:pt x="143793" y="38100"/>
                      <a:pt x="109678" y="38100"/>
                    </a:cubicBezTo>
                    <a:cubicBezTo>
                      <a:pt x="93295" y="38100"/>
                      <a:pt x="77583" y="44608"/>
                      <a:pt x="65998" y="56193"/>
                    </a:cubicBezTo>
                    <a:lnTo>
                      <a:pt x="26941" y="95250"/>
                    </a:lnTo>
                    <a:lnTo>
                      <a:pt x="0" y="68309"/>
                    </a:lnTo>
                    <a:lnTo>
                      <a:pt x="39057" y="29252"/>
                    </a:lnTo>
                    <a:close/>
                  </a:path>
                </a:pathLst>
              </a:custGeom>
              <a:solidFill>
                <a:srgbClr val="0EA5E9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2247900" y="2628900"/>
                <a:ext cx="2095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09550">
                    <a:moveTo>
                      <a:pt x="143552" y="153358"/>
                    </a:moveTo>
                    <a:lnTo>
                      <a:pt x="182609" y="114300"/>
                    </a:lnTo>
                    <a:lnTo>
                      <a:pt x="209550" y="141241"/>
                    </a:lnTo>
                    <a:lnTo>
                      <a:pt x="170493" y="180299"/>
                    </a:lnTo>
                    <a:cubicBezTo>
                      <a:pt x="151763" y="199029"/>
                      <a:pt x="126360" y="209550"/>
                      <a:pt x="99872" y="209550"/>
                    </a:cubicBezTo>
                    <a:cubicBezTo>
                      <a:pt x="44714" y="209550"/>
                      <a:pt x="0" y="164836"/>
                      <a:pt x="0" y="109678"/>
                    </a:cubicBezTo>
                    <a:cubicBezTo>
                      <a:pt x="0" y="83190"/>
                      <a:pt x="10522" y="57787"/>
                      <a:pt x="29252" y="39057"/>
                    </a:cubicBezTo>
                    <a:lnTo>
                      <a:pt x="68309" y="0"/>
                    </a:lnTo>
                    <a:lnTo>
                      <a:pt x="95250" y="26941"/>
                    </a:lnTo>
                    <a:lnTo>
                      <a:pt x="56193" y="65998"/>
                    </a:lnTo>
                    <a:cubicBezTo>
                      <a:pt x="44608" y="77583"/>
                      <a:pt x="38100" y="93295"/>
                      <a:pt x="38100" y="109678"/>
                    </a:cubicBezTo>
                    <a:cubicBezTo>
                      <a:pt x="38100" y="143793"/>
                      <a:pt x="65756" y="171450"/>
                      <a:pt x="99872" y="171450"/>
                    </a:cubicBezTo>
                    <a:cubicBezTo>
                      <a:pt x="116255" y="171450"/>
                      <a:pt x="131967" y="164943"/>
                      <a:pt x="143552" y="153358"/>
                    </a:cubicBezTo>
                    <a:close/>
                  </a:path>
                </a:pathLst>
              </a:custGeom>
              <a:solidFill>
                <a:srgbClr val="0EA5E9"/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2329680" y="2615430"/>
                <a:ext cx="141241" cy="141241"/>
              </a:xfrm>
              <a:custGeom>
                <a:avLst/>
                <a:gdLst/>
                <a:ahLst/>
                <a:cxnLst/>
                <a:rect l="l" t="t" r="r" b="b"/>
                <a:pathLst>
                  <a:path w="141241" h="141241">
                    <a:moveTo>
                      <a:pt x="26941" y="141241"/>
                    </a:moveTo>
                    <a:lnTo>
                      <a:pt x="141241" y="26941"/>
                    </a:lnTo>
                    <a:lnTo>
                      <a:pt x="114300" y="0"/>
                    </a:lnTo>
                    <a:lnTo>
                      <a:pt x="0" y="114300"/>
                    </a:lnTo>
                    <a:lnTo>
                      <a:pt x="26941" y="141241"/>
                    </a:lnTo>
                    <a:close/>
                  </a:path>
                </a:pathLst>
              </a:custGeom>
              <a:solidFill>
                <a:srgbClr val="0EA5E9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2745105" y="2521268"/>
              <a:ext cx="14213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统一端点 /mcp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748915" y="2801302"/>
              <a:ext cx="53173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支持 initialize、tools/list、tools/call，对外提供标准 MCP 能力发现与调用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219200" y="3143250"/>
            <a:ext cx="10363200" cy="685800"/>
            <a:chOff x="1219200" y="3143250"/>
            <a:chExt cx="10363200" cy="685800"/>
          </a:xfrm>
        </p:grpSpPr>
        <p:sp>
          <p:nvSpPr>
            <p:cNvPr id="29" name="Ellipse 29"/>
            <p:cNvSpPr/>
            <p:nvPr/>
          </p:nvSpPr>
          <p:spPr>
            <a:xfrm>
              <a:off x="1219200" y="3276600"/>
              <a:ext cx="419100" cy="419100"/>
            </a:xfrm>
            <a:prstGeom prst="ellipse">
              <a:avLst/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319576" y="342185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03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2000250" y="3143250"/>
              <a:ext cx="958215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32" name="Rectangle 32"/>
            <p:cNvSpPr/>
            <p:nvPr/>
          </p:nvSpPr>
          <p:spPr>
            <a:xfrm>
              <a:off x="2000250" y="3143250"/>
              <a:ext cx="57150" cy="685800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2247974" y="3333750"/>
              <a:ext cx="304650" cy="304798"/>
              <a:chOff x="2247974" y="3333750"/>
              <a:chExt cx="304650" cy="304798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2334833" y="3333750"/>
                <a:ext cx="187924" cy="137770"/>
              </a:xfrm>
              <a:custGeom>
                <a:avLst/>
                <a:gdLst/>
                <a:ahLst/>
                <a:cxnLst/>
                <a:rect l="l" t="t" r="r" b="b"/>
                <a:pathLst>
                  <a:path w="187924" h="137770">
                    <a:moveTo>
                      <a:pt x="21389" y="0"/>
                    </a:moveTo>
                    <a:lnTo>
                      <a:pt x="109545" y="0"/>
                    </a:lnTo>
                    <a:lnTo>
                      <a:pt x="145058" y="62453"/>
                    </a:lnTo>
                    <a:lnTo>
                      <a:pt x="178399" y="43203"/>
                    </a:lnTo>
                    <a:lnTo>
                      <a:pt x="187924" y="59701"/>
                    </a:lnTo>
                    <a:lnTo>
                      <a:pt x="167005" y="137770"/>
                    </a:lnTo>
                    <a:lnTo>
                      <a:pt x="88937" y="116851"/>
                    </a:lnTo>
                    <a:lnTo>
                      <a:pt x="79412" y="100353"/>
                    </a:lnTo>
                    <a:lnTo>
                      <a:pt x="112061" y="81503"/>
                    </a:lnTo>
                    <a:lnTo>
                      <a:pt x="87380" y="38100"/>
                    </a:lnTo>
                    <a:lnTo>
                      <a:pt x="43553" y="38100"/>
                    </a:lnTo>
                    <a:lnTo>
                      <a:pt x="32996" y="56664"/>
                    </a:lnTo>
                    <a:lnTo>
                      <a:pt x="0" y="37613"/>
                    </a:lnTo>
                    <a:lnTo>
                      <a:pt x="21389" y="0"/>
                    </a:lnTo>
                    <a:close/>
                  </a:path>
                </a:pathLst>
              </a:custGeom>
              <a:solidFill>
                <a:srgbClr val="059669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2362200" y="3487286"/>
                <a:ext cx="190424" cy="151262"/>
              </a:xfrm>
              <a:custGeom>
                <a:avLst/>
                <a:gdLst/>
                <a:ahLst/>
                <a:cxnLst/>
                <a:rect l="l" t="t" r="r" b="b"/>
                <a:pathLst>
                  <a:path w="190424" h="151262">
                    <a:moveTo>
                      <a:pt x="136492" y="19050"/>
                    </a:moveTo>
                    <a:lnTo>
                      <a:pt x="146760" y="37109"/>
                    </a:lnTo>
                    <a:lnTo>
                      <a:pt x="125835" y="75064"/>
                    </a:lnTo>
                    <a:lnTo>
                      <a:pt x="76200" y="75064"/>
                    </a:lnTo>
                    <a:lnTo>
                      <a:pt x="76200" y="36963"/>
                    </a:lnTo>
                    <a:lnTo>
                      <a:pt x="57150" y="36963"/>
                    </a:lnTo>
                    <a:lnTo>
                      <a:pt x="0" y="94112"/>
                    </a:lnTo>
                    <a:lnTo>
                      <a:pt x="57150" y="151262"/>
                    </a:lnTo>
                    <a:lnTo>
                      <a:pt x="76200" y="151262"/>
                    </a:lnTo>
                    <a:lnTo>
                      <a:pt x="76200" y="113164"/>
                    </a:lnTo>
                    <a:lnTo>
                      <a:pt x="148339" y="113164"/>
                    </a:lnTo>
                    <a:lnTo>
                      <a:pt x="190424" y="36820"/>
                    </a:lnTo>
                    <a:lnTo>
                      <a:pt x="169486" y="0"/>
                    </a:lnTo>
                    <a:lnTo>
                      <a:pt x="136492" y="19050"/>
                    </a:lnTo>
                    <a:close/>
                  </a:path>
                </a:pathLst>
              </a:custGeom>
              <a:solidFill>
                <a:srgbClr val="059669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2247974" y="3405528"/>
                <a:ext cx="109805" cy="194922"/>
              </a:xfrm>
              <a:custGeom>
                <a:avLst/>
                <a:gdLst/>
                <a:ahLst/>
                <a:cxnLst/>
                <a:rect l="l" t="t" r="r" b="b"/>
                <a:pathLst>
                  <a:path w="109805" h="194922">
                    <a:moveTo>
                      <a:pt x="64590" y="156822"/>
                    </a:moveTo>
                    <a:lnTo>
                      <a:pt x="85650" y="156822"/>
                    </a:lnTo>
                    <a:lnTo>
                      <a:pt x="85650" y="194922"/>
                    </a:lnTo>
                    <a:lnTo>
                      <a:pt x="42088" y="194922"/>
                    </a:lnTo>
                    <a:lnTo>
                      <a:pt x="0" y="118577"/>
                    </a:lnTo>
                    <a:lnTo>
                      <a:pt x="35065" y="56915"/>
                    </a:lnTo>
                    <a:lnTo>
                      <a:pt x="1293" y="37416"/>
                    </a:lnTo>
                    <a:lnTo>
                      <a:pt x="10818" y="20918"/>
                    </a:lnTo>
                    <a:lnTo>
                      <a:pt x="88886" y="0"/>
                    </a:lnTo>
                    <a:lnTo>
                      <a:pt x="109805" y="78068"/>
                    </a:lnTo>
                    <a:lnTo>
                      <a:pt x="100280" y="94566"/>
                    </a:lnTo>
                    <a:lnTo>
                      <a:pt x="68062" y="75965"/>
                    </a:lnTo>
                    <a:lnTo>
                      <a:pt x="43665" y="118866"/>
                    </a:lnTo>
                    <a:lnTo>
                      <a:pt x="64590" y="156822"/>
                    </a:lnTo>
                    <a:close/>
                  </a:path>
                </a:pathLst>
              </a:custGeom>
              <a:solidFill>
                <a:srgbClr val="059669"/>
              </a:solidFill>
              <a:ln>
                <a:noFill/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2745105" y="3321368"/>
              <a:ext cx="177330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复用 ToolRegistry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748915" y="3601402"/>
              <a:ext cx="42822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直接复用内部 ToolRegistry，内外 Agent 不维护两套业务逻辑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219200" y="3943350"/>
            <a:ext cx="10363200" cy="685800"/>
            <a:chOff x="1219200" y="3943350"/>
            <a:chExt cx="10363200" cy="685800"/>
          </a:xfrm>
        </p:grpSpPr>
        <p:sp>
          <p:nvSpPr>
            <p:cNvPr id="40" name="Ellipse 40"/>
            <p:cNvSpPr/>
            <p:nvPr/>
          </p:nvSpPr>
          <p:spPr>
            <a:xfrm>
              <a:off x="1219200" y="4076700"/>
              <a:ext cx="419100" cy="4191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319576" y="422195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04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000250" y="3943350"/>
              <a:ext cx="958215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43" name="Rectangle 43"/>
            <p:cNvSpPr/>
            <p:nvPr/>
          </p:nvSpPr>
          <p:spPr>
            <a:xfrm>
              <a:off x="2000250" y="3943350"/>
              <a:ext cx="57150" cy="68580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2266950" y="413385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133350" y="304800"/>
                  </a:moveTo>
                  <a:lnTo>
                    <a:pt x="63819" y="255135"/>
                  </a:lnTo>
                  <a:cubicBezTo>
                    <a:pt x="23769" y="226527"/>
                    <a:pt x="0" y="180340"/>
                    <a:pt x="0" y="131122"/>
                  </a:cubicBezTo>
                  <a:lnTo>
                    <a:pt x="0" y="57150"/>
                  </a:lnTo>
                  <a:lnTo>
                    <a:pt x="133350" y="0"/>
                  </a:lnTo>
                  <a:lnTo>
                    <a:pt x="266700" y="57150"/>
                  </a:lnTo>
                  <a:lnTo>
                    <a:pt x="266700" y="131122"/>
                  </a:lnTo>
                  <a:cubicBezTo>
                    <a:pt x="266700" y="180340"/>
                    <a:pt x="242931" y="226527"/>
                    <a:pt x="202881" y="255135"/>
                  </a:cubicBezTo>
                  <a:lnTo>
                    <a:pt x="133350" y="304800"/>
                  </a:lnTo>
                  <a:close/>
                  <a:moveTo>
                    <a:pt x="213495" y="108720"/>
                  </a:moveTo>
                  <a:lnTo>
                    <a:pt x="186555" y="81780"/>
                  </a:lnTo>
                  <a:lnTo>
                    <a:pt x="114300" y="154034"/>
                  </a:lnTo>
                  <a:lnTo>
                    <a:pt x="80145" y="119880"/>
                  </a:lnTo>
                  <a:lnTo>
                    <a:pt x="53205" y="146820"/>
                  </a:lnTo>
                  <a:lnTo>
                    <a:pt x="114300" y="207916"/>
                  </a:lnTo>
                  <a:lnTo>
                    <a:pt x="213495" y="10872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745105" y="412146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安全约束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748915" y="4401502"/>
              <a:ext cx="62144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无状态、readOnly、idempotent、非破坏性；/api/status 返回 MCP 启用状态与工具数量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09600" y="4781550"/>
            <a:ext cx="10972800" cy="1485900"/>
            <a:chOff x="609600" y="4781550"/>
            <a:chExt cx="10972800" cy="1485900"/>
          </a:xfrm>
        </p:grpSpPr>
        <p:sp>
          <p:nvSpPr>
            <p:cNvPr id="48" name="Rectangle 48"/>
            <p:cNvSpPr/>
            <p:nvPr/>
          </p:nvSpPr>
          <p:spPr>
            <a:xfrm>
              <a:off x="609600" y="4781550"/>
              <a:ext cx="10972800" cy="1485900"/>
            </a:xfrm>
            <a:prstGeom prst="roundRect">
              <a:avLst>
                <a:gd name="adj" fmla="val 7692"/>
              </a:avLst>
            </a:prstGeom>
            <a:solidFill>
              <a:srgbClr val="0F172A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849526" y="4985760"/>
              <a:ext cx="202988" cy="181553"/>
              <a:chOff x="849526" y="4985760"/>
              <a:chExt cx="202988" cy="181553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849526" y="4985760"/>
                <a:ext cx="101746" cy="163080"/>
              </a:xfrm>
              <a:custGeom>
                <a:avLst/>
                <a:gdLst/>
                <a:ahLst/>
                <a:cxnLst/>
                <a:rect l="l" t="t" r="r" b="b"/>
                <a:pathLst>
                  <a:path w="101746" h="163080">
                    <a:moveTo>
                      <a:pt x="0" y="142875"/>
                    </a:moveTo>
                    <a:lnTo>
                      <a:pt x="61335" y="81540"/>
                    </a:lnTo>
                    <a:lnTo>
                      <a:pt x="0" y="20206"/>
                    </a:lnTo>
                    <a:lnTo>
                      <a:pt x="20206" y="0"/>
                    </a:lnTo>
                    <a:lnTo>
                      <a:pt x="101746" y="81540"/>
                    </a:lnTo>
                    <a:lnTo>
                      <a:pt x="20206" y="163080"/>
                    </a:lnTo>
                    <a:lnTo>
                      <a:pt x="0" y="142875"/>
                    </a:lnTo>
                    <a:close/>
                  </a:path>
                </a:pathLst>
              </a:custGeom>
              <a:solidFill>
                <a:srgbClr val="34D399"/>
              </a:solidFill>
              <a:ln>
                <a:noFill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938213" y="5138738"/>
                <a:ext cx="114301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14301" h="28575">
                    <a:moveTo>
                      <a:pt x="0" y="28575"/>
                    </a:moveTo>
                    <a:lnTo>
                      <a:pt x="114301" y="28575"/>
                    </a:lnTo>
                    <a:lnTo>
                      <a:pt x="114301" y="0"/>
                    </a:lnTo>
                    <a:lnTo>
                      <a:pt x="0" y="0"/>
                    </a:lnTo>
                    <a:lnTo>
                      <a:pt x="0" y="28575"/>
                    </a:lnTo>
                    <a:close/>
                  </a:path>
                </a:pathLst>
              </a:custGeom>
              <a:solidFill>
                <a:srgbClr val="34D399"/>
              </a:solidFill>
              <a:ln>
                <a:noFill/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149668" y="5019199"/>
              <a:ext cx="18047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客户端连接配置 · mcp.json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38212" y="5326856"/>
              <a:ext cx="15155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2E8F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{ </a:t>
              </a:r>
              <a:r>
                <a:rPr lang="zh-CN" sz="1125" dirty="0">
                  <a:solidFill>
                    <a:srgbClr val="94A3B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"mcpServers"</a:t>
              </a:r>
              <a:r>
                <a:rPr lang="zh-CN" sz="1125" dirty="0">
                  <a:solidFill>
                    <a:srgbClr val="E2E8F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: {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319212" y="5555456"/>
              <a:ext cx="403764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4D3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"lvxu"</a:t>
              </a:r>
              <a:r>
                <a:rPr lang="zh-CN" sz="1125" dirty="0">
                  <a:solidFill>
                    <a:srgbClr val="E2E8F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: { </a:t>
              </a:r>
              <a:r>
                <a:rPr lang="zh-CN" sz="1125" dirty="0">
                  <a:solidFill>
                    <a:srgbClr val="94A3B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"url"</a:t>
              </a:r>
              <a:r>
                <a:rPr lang="zh-CN" sz="1125" dirty="0">
                  <a:solidFill>
                    <a:srgbClr val="E2E8F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: </a:t>
              </a:r>
              <a:r>
                <a:rPr lang="zh-CN" sz="1125" dirty="0">
                  <a:solidFill>
                    <a:srgbClr val="FBBF24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"http://localhost:&lt;端口&gt;/mcp"</a:t>
              </a:r>
              <a:r>
                <a:rPr lang="zh-CN" sz="1125" dirty="0">
                  <a:solidFill>
                    <a:srgbClr val="E2E8F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 }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38212" y="5784056"/>
              <a:ext cx="2586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2E8F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} }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40118" y="6047899"/>
              <a:ext cx="358473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// AllowedHosts 限制回环地址，默认仅面向本机客户端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98170" y="6570345"/>
            <a:ext cx="10995660" cy="182880"/>
            <a:chOff x="598170" y="6570345"/>
            <a:chExt cx="10995660" cy="182880"/>
          </a:xfrm>
        </p:grpSpPr>
        <p:sp>
          <p:nvSpPr>
            <p:cNvPr id="58" name="TextBox 58"/>
            <p:cNvSpPr txBox="1"/>
            <p:nvPr/>
          </p:nvSpPr>
          <p:spPr>
            <a:xfrm>
              <a:off x="598170" y="6570345"/>
              <a:ext cx="17973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旅序 · 多 Agent 旅游规划系统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163490" y="657034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13 / 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9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8" grpId="0"/>
      <p:bldP spid="39" grpId="0"/>
      <p:bldP spid="47" grpId="0"/>
      <p:bldP spid="5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09600" y="476250"/>
            <a:ext cx="10725150" cy="652462"/>
            <a:chOff x="609600" y="476250"/>
            <a:chExt cx="10725150" cy="652462"/>
          </a:xfrm>
        </p:grpSpPr>
        <p:sp>
          <p:nvSpPr>
            <p:cNvPr id="3" name="Rectangle 3"/>
            <p:cNvSpPr/>
            <p:nvPr/>
          </p:nvSpPr>
          <p:spPr>
            <a:xfrm>
              <a:off x="609600" y="476250"/>
              <a:ext cx="57150" cy="4191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502920"/>
              <a:ext cx="532401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系统演示：上海 → 日本 7 天规划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915352"/>
              <a:ext cx="35691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LIVE DEMO · 从需求输入到结构化方案的完整链路</a:t>
              </a:r>
            </a:p>
          </p:txBody>
        </p:sp>
        <p:sp>
          <p:nvSpPr>
            <p:cNvPr id="6" name="Freeform 6"/>
            <p:cNvSpPr/>
            <p:nvPr/>
          </p:nvSpPr>
          <p:spPr>
            <a:xfrm>
              <a:off x="10972800" y="540544"/>
              <a:ext cx="361950" cy="316706"/>
            </a:xfrm>
            <a:custGeom>
              <a:avLst/>
              <a:gdLst/>
              <a:ahLst/>
              <a:cxnLst/>
              <a:rect l="l" t="t" r="r" b="b"/>
              <a:pathLst>
                <a:path w="361950" h="316706">
                  <a:moveTo>
                    <a:pt x="0" y="0"/>
                  </a:moveTo>
                  <a:lnTo>
                    <a:pt x="361950" y="0"/>
                  </a:lnTo>
                  <a:lnTo>
                    <a:pt x="361950" y="226219"/>
                  </a:lnTo>
                  <a:lnTo>
                    <a:pt x="226219" y="226219"/>
                  </a:lnTo>
                  <a:lnTo>
                    <a:pt x="226219" y="248841"/>
                  </a:lnTo>
                  <a:lnTo>
                    <a:pt x="271462" y="294084"/>
                  </a:lnTo>
                  <a:lnTo>
                    <a:pt x="271462" y="316706"/>
                  </a:lnTo>
                  <a:lnTo>
                    <a:pt x="90488" y="316706"/>
                  </a:lnTo>
                  <a:lnTo>
                    <a:pt x="90488" y="294084"/>
                  </a:lnTo>
                  <a:lnTo>
                    <a:pt x="135731" y="248841"/>
                  </a:lnTo>
                  <a:lnTo>
                    <a:pt x="135731" y="226219"/>
                  </a:lnTo>
                  <a:lnTo>
                    <a:pt x="0" y="226219"/>
                  </a:lnTo>
                  <a:lnTo>
                    <a:pt x="0" y="0"/>
                  </a:lnTo>
                  <a:close/>
                  <a:moveTo>
                    <a:pt x="45244" y="45244"/>
                  </a:moveTo>
                  <a:lnTo>
                    <a:pt x="316706" y="45244"/>
                  </a:lnTo>
                  <a:lnTo>
                    <a:pt x="316706" y="180975"/>
                  </a:lnTo>
                  <a:lnTo>
                    <a:pt x="45244" y="180975"/>
                  </a:lnTo>
                  <a:lnTo>
                    <a:pt x="45244" y="45244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</p:grpSp>
      <p:sp>
        <p:nvSpPr>
          <p:cNvPr id="8" name="Line 8"/>
          <p:cNvSpPr/>
          <p:nvPr/>
        </p:nvSpPr>
        <p:spPr>
          <a:xfrm>
            <a:off x="609600" y="12573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</p:sp>
      <p:grpSp>
        <p:nvGrpSpPr>
          <p:cNvPr id="26" name="Group 26"/>
          <p:cNvGrpSpPr/>
          <p:nvPr/>
        </p:nvGrpSpPr>
        <p:grpSpPr>
          <a:xfrm>
            <a:off x="594360" y="1565910"/>
            <a:ext cx="3381685" cy="3756184"/>
            <a:chOff x="594360" y="1565910"/>
            <a:chExt cx="3381685" cy="3756184"/>
          </a:xfrm>
        </p:grpSpPr>
        <p:sp>
          <p:nvSpPr>
            <p:cNvPr id="9" name="TextBox 9"/>
            <p:cNvSpPr txBox="1"/>
            <p:nvPr/>
          </p:nvSpPr>
          <p:spPr>
            <a:xfrm>
              <a:off x="594360" y="1565910"/>
              <a:ext cx="7665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563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演示步骤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609600" y="19621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228600"/>
                  </a:moveTo>
                  <a:cubicBezTo>
                    <a:pt x="177426" y="228600"/>
                    <a:pt x="228600" y="177426"/>
                    <a:pt x="228600" y="114300"/>
                  </a:cubicBezTo>
                  <a:cubicBezTo>
                    <a:pt x="228600" y="51174"/>
                    <a:pt x="177426" y="0"/>
                    <a:pt x="114300" y="0"/>
                  </a:cubicBezTo>
                  <a:cubicBezTo>
                    <a:pt x="51174" y="0"/>
                    <a:pt x="0" y="51174"/>
                    <a:pt x="0" y="114300"/>
                  </a:cubicBezTo>
                  <a:cubicBezTo>
                    <a:pt x="0" y="177426"/>
                    <a:pt x="51174" y="228600"/>
                    <a:pt x="114300" y="228600"/>
                  </a:cubicBezTo>
                  <a:close/>
                  <a:moveTo>
                    <a:pt x="181553" y="81540"/>
                  </a:moveTo>
                  <a:lnTo>
                    <a:pt x="161347" y="61335"/>
                  </a:lnTo>
                  <a:lnTo>
                    <a:pt x="92869" y="129813"/>
                  </a:lnTo>
                  <a:lnTo>
                    <a:pt x="67253" y="104197"/>
                  </a:lnTo>
                  <a:lnTo>
                    <a:pt x="47047" y="124403"/>
                  </a:lnTo>
                  <a:lnTo>
                    <a:pt x="92869" y="170224"/>
                  </a:lnTo>
                  <a:lnTo>
                    <a:pt x="181553" y="81540"/>
                  </a:lnTo>
                  <a:close/>
                </a:path>
              </a:pathLst>
            </a:custGeom>
            <a:solidFill>
              <a:srgbClr val="05966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36308" y="1995964"/>
              <a:ext cx="247178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一键“填入示例”加载旅行需求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609600" y="24003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228600"/>
                  </a:moveTo>
                  <a:cubicBezTo>
                    <a:pt x="177426" y="228600"/>
                    <a:pt x="228600" y="177426"/>
                    <a:pt x="228600" y="114300"/>
                  </a:cubicBezTo>
                  <a:cubicBezTo>
                    <a:pt x="228600" y="51174"/>
                    <a:pt x="177426" y="0"/>
                    <a:pt x="114300" y="0"/>
                  </a:cubicBezTo>
                  <a:cubicBezTo>
                    <a:pt x="51174" y="0"/>
                    <a:pt x="0" y="51174"/>
                    <a:pt x="0" y="114300"/>
                  </a:cubicBezTo>
                  <a:cubicBezTo>
                    <a:pt x="0" y="177426"/>
                    <a:pt x="51174" y="228600"/>
                    <a:pt x="114300" y="228600"/>
                  </a:cubicBezTo>
                  <a:close/>
                  <a:moveTo>
                    <a:pt x="181553" y="81540"/>
                  </a:moveTo>
                  <a:lnTo>
                    <a:pt x="161347" y="61335"/>
                  </a:lnTo>
                  <a:lnTo>
                    <a:pt x="92869" y="129813"/>
                  </a:lnTo>
                  <a:lnTo>
                    <a:pt x="67253" y="104197"/>
                  </a:lnTo>
                  <a:lnTo>
                    <a:pt x="47047" y="124403"/>
                  </a:lnTo>
                  <a:lnTo>
                    <a:pt x="92869" y="170224"/>
                  </a:lnTo>
                  <a:lnTo>
                    <a:pt x="181553" y="81540"/>
                  </a:lnTo>
                  <a:close/>
                </a:path>
              </a:pathLst>
            </a:custGeom>
            <a:solidFill>
              <a:srgbClr val="059669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6308" y="2434114"/>
              <a:ext cx="303973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显示当前 DeepSeek 在线 / 离线模式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609600" y="28384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228600"/>
                  </a:moveTo>
                  <a:cubicBezTo>
                    <a:pt x="177426" y="228600"/>
                    <a:pt x="228600" y="177426"/>
                    <a:pt x="228600" y="114300"/>
                  </a:cubicBezTo>
                  <a:cubicBezTo>
                    <a:pt x="228600" y="51174"/>
                    <a:pt x="177426" y="0"/>
                    <a:pt x="114300" y="0"/>
                  </a:cubicBezTo>
                  <a:cubicBezTo>
                    <a:pt x="51174" y="0"/>
                    <a:pt x="0" y="51174"/>
                    <a:pt x="0" y="114300"/>
                  </a:cubicBezTo>
                  <a:cubicBezTo>
                    <a:pt x="0" y="177426"/>
                    <a:pt x="51174" y="228600"/>
                    <a:pt x="114300" y="228600"/>
                  </a:cubicBezTo>
                  <a:close/>
                  <a:moveTo>
                    <a:pt x="181553" y="81540"/>
                  </a:moveTo>
                  <a:lnTo>
                    <a:pt x="161347" y="61335"/>
                  </a:lnTo>
                  <a:lnTo>
                    <a:pt x="92869" y="129813"/>
                  </a:lnTo>
                  <a:lnTo>
                    <a:pt x="67253" y="104197"/>
                  </a:lnTo>
                  <a:lnTo>
                    <a:pt x="47047" y="124403"/>
                  </a:lnTo>
                  <a:lnTo>
                    <a:pt x="92869" y="170224"/>
                  </a:lnTo>
                  <a:lnTo>
                    <a:pt x="181553" y="81540"/>
                  </a:lnTo>
                  <a:close/>
                </a:path>
              </a:pathLst>
            </a:custGeom>
            <a:solidFill>
              <a:srgbClr val="05966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6308" y="2872264"/>
              <a:ext cx="249971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提交后观察 SSE 实时执行轨迹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609600" y="32766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228600"/>
                  </a:moveTo>
                  <a:cubicBezTo>
                    <a:pt x="177426" y="228600"/>
                    <a:pt x="228600" y="177426"/>
                    <a:pt x="228600" y="114300"/>
                  </a:cubicBezTo>
                  <a:cubicBezTo>
                    <a:pt x="228600" y="51174"/>
                    <a:pt x="177426" y="0"/>
                    <a:pt x="114300" y="0"/>
                  </a:cubicBezTo>
                  <a:cubicBezTo>
                    <a:pt x="51174" y="0"/>
                    <a:pt x="0" y="51174"/>
                    <a:pt x="0" y="114300"/>
                  </a:cubicBezTo>
                  <a:cubicBezTo>
                    <a:pt x="0" y="177426"/>
                    <a:pt x="51174" y="228600"/>
                    <a:pt x="114300" y="228600"/>
                  </a:cubicBezTo>
                  <a:close/>
                  <a:moveTo>
                    <a:pt x="181553" y="81540"/>
                  </a:moveTo>
                  <a:lnTo>
                    <a:pt x="161347" y="61335"/>
                  </a:lnTo>
                  <a:lnTo>
                    <a:pt x="92869" y="129813"/>
                  </a:lnTo>
                  <a:lnTo>
                    <a:pt x="67253" y="104197"/>
                  </a:lnTo>
                  <a:lnTo>
                    <a:pt x="47047" y="124403"/>
                  </a:lnTo>
                  <a:lnTo>
                    <a:pt x="92869" y="170224"/>
                  </a:lnTo>
                  <a:lnTo>
                    <a:pt x="181553" y="81540"/>
                  </a:lnTo>
                  <a:close/>
                </a:path>
              </a:pathLst>
            </a:custGeom>
            <a:solidFill>
              <a:srgbClr val="05966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6308" y="3310414"/>
              <a:ext cx="251833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多 Agent 交错输出与工具调用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609600" y="37147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228600"/>
                  </a:moveTo>
                  <a:cubicBezTo>
                    <a:pt x="177426" y="228600"/>
                    <a:pt x="228600" y="177426"/>
                    <a:pt x="228600" y="114300"/>
                  </a:cubicBezTo>
                  <a:cubicBezTo>
                    <a:pt x="228600" y="51174"/>
                    <a:pt x="177426" y="0"/>
                    <a:pt x="114300" y="0"/>
                  </a:cubicBezTo>
                  <a:cubicBezTo>
                    <a:pt x="51174" y="0"/>
                    <a:pt x="0" y="51174"/>
                    <a:pt x="0" y="114300"/>
                  </a:cubicBezTo>
                  <a:cubicBezTo>
                    <a:pt x="0" y="177426"/>
                    <a:pt x="51174" y="228600"/>
                    <a:pt x="114300" y="228600"/>
                  </a:cubicBezTo>
                  <a:close/>
                  <a:moveTo>
                    <a:pt x="181553" y="81540"/>
                  </a:moveTo>
                  <a:lnTo>
                    <a:pt x="161347" y="61335"/>
                  </a:lnTo>
                  <a:lnTo>
                    <a:pt x="92869" y="129813"/>
                  </a:lnTo>
                  <a:lnTo>
                    <a:pt x="67253" y="104197"/>
                  </a:lnTo>
                  <a:lnTo>
                    <a:pt x="47047" y="124403"/>
                  </a:lnTo>
                  <a:lnTo>
                    <a:pt x="92869" y="170224"/>
                  </a:lnTo>
                  <a:lnTo>
                    <a:pt x="181553" y="81540"/>
                  </a:lnTo>
                  <a:close/>
                </a:path>
              </a:pathLst>
            </a:custGeom>
            <a:solidFill>
              <a:srgbClr val="059669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36308" y="3748564"/>
              <a:ext cx="250902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预算超 110% 时触发</a:t>
              </a:r>
              <a:r>
                <a:rPr lang="zh-CN" sz="1275" b="1" dirty="0">
                  <a:solidFill>
                    <a:srgbClr val="D97706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二轮重规划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609600" y="41529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228600"/>
                  </a:moveTo>
                  <a:cubicBezTo>
                    <a:pt x="177426" y="228600"/>
                    <a:pt x="228600" y="177426"/>
                    <a:pt x="228600" y="114300"/>
                  </a:cubicBezTo>
                  <a:cubicBezTo>
                    <a:pt x="228600" y="51174"/>
                    <a:pt x="177426" y="0"/>
                    <a:pt x="114300" y="0"/>
                  </a:cubicBezTo>
                  <a:cubicBezTo>
                    <a:pt x="51174" y="0"/>
                    <a:pt x="0" y="51174"/>
                    <a:pt x="0" y="114300"/>
                  </a:cubicBezTo>
                  <a:cubicBezTo>
                    <a:pt x="0" y="177426"/>
                    <a:pt x="51174" y="228600"/>
                    <a:pt x="114300" y="228600"/>
                  </a:cubicBezTo>
                  <a:close/>
                  <a:moveTo>
                    <a:pt x="181553" y="81540"/>
                  </a:moveTo>
                  <a:lnTo>
                    <a:pt x="161347" y="61335"/>
                  </a:lnTo>
                  <a:lnTo>
                    <a:pt x="92869" y="129813"/>
                  </a:lnTo>
                  <a:lnTo>
                    <a:pt x="67253" y="104197"/>
                  </a:lnTo>
                  <a:lnTo>
                    <a:pt x="47047" y="124403"/>
                  </a:lnTo>
                  <a:lnTo>
                    <a:pt x="92869" y="170224"/>
                  </a:lnTo>
                  <a:lnTo>
                    <a:pt x="181553" y="81540"/>
                  </a:lnTo>
                  <a:close/>
                </a:path>
              </a:pathLst>
            </a:custGeom>
            <a:solidFill>
              <a:srgbClr val="059669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36308" y="4186714"/>
              <a:ext cx="208073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查看方案总览与每日行程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609600" y="459105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228600"/>
                  </a:moveTo>
                  <a:cubicBezTo>
                    <a:pt x="177426" y="228600"/>
                    <a:pt x="228600" y="177426"/>
                    <a:pt x="228600" y="114300"/>
                  </a:cubicBezTo>
                  <a:cubicBezTo>
                    <a:pt x="228600" y="51174"/>
                    <a:pt x="177426" y="0"/>
                    <a:pt x="114300" y="0"/>
                  </a:cubicBezTo>
                  <a:cubicBezTo>
                    <a:pt x="51174" y="0"/>
                    <a:pt x="0" y="51174"/>
                    <a:pt x="0" y="114300"/>
                  </a:cubicBezTo>
                  <a:cubicBezTo>
                    <a:pt x="0" y="177426"/>
                    <a:pt x="51174" y="228600"/>
                    <a:pt x="114300" y="228600"/>
                  </a:cubicBezTo>
                  <a:close/>
                  <a:moveTo>
                    <a:pt x="181553" y="81540"/>
                  </a:moveTo>
                  <a:lnTo>
                    <a:pt x="161347" y="61335"/>
                  </a:lnTo>
                  <a:lnTo>
                    <a:pt x="92869" y="129813"/>
                  </a:lnTo>
                  <a:lnTo>
                    <a:pt x="67253" y="104197"/>
                  </a:lnTo>
                  <a:lnTo>
                    <a:pt x="47047" y="124403"/>
                  </a:lnTo>
                  <a:lnTo>
                    <a:pt x="92869" y="170224"/>
                  </a:lnTo>
                  <a:lnTo>
                    <a:pt x="181553" y="81540"/>
                  </a:lnTo>
                  <a:close/>
                </a:path>
              </a:pathLst>
            </a:custGeom>
            <a:solidFill>
              <a:srgbClr val="05966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36308" y="4624864"/>
              <a:ext cx="263937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预算明细、交通方案与风险提醒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609600" y="5029200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228600"/>
                  </a:moveTo>
                  <a:cubicBezTo>
                    <a:pt x="177426" y="228600"/>
                    <a:pt x="228600" y="177426"/>
                    <a:pt x="228600" y="114300"/>
                  </a:cubicBezTo>
                  <a:cubicBezTo>
                    <a:pt x="228600" y="51174"/>
                    <a:pt x="177426" y="0"/>
                    <a:pt x="114300" y="0"/>
                  </a:cubicBezTo>
                  <a:cubicBezTo>
                    <a:pt x="51174" y="0"/>
                    <a:pt x="0" y="51174"/>
                    <a:pt x="0" y="114300"/>
                  </a:cubicBezTo>
                  <a:cubicBezTo>
                    <a:pt x="0" y="177426"/>
                    <a:pt x="51174" y="228600"/>
                    <a:pt x="114300" y="228600"/>
                  </a:cubicBezTo>
                  <a:close/>
                  <a:moveTo>
                    <a:pt x="181553" y="81540"/>
                  </a:moveTo>
                  <a:lnTo>
                    <a:pt x="161347" y="61335"/>
                  </a:lnTo>
                  <a:lnTo>
                    <a:pt x="92869" y="129813"/>
                  </a:lnTo>
                  <a:lnTo>
                    <a:pt x="67253" y="104197"/>
                  </a:lnTo>
                  <a:lnTo>
                    <a:pt x="47047" y="124403"/>
                  </a:lnTo>
                  <a:lnTo>
                    <a:pt x="92869" y="170224"/>
                  </a:lnTo>
                  <a:lnTo>
                    <a:pt x="181553" y="81540"/>
                  </a:lnTo>
                  <a:close/>
                </a:path>
              </a:pathLst>
            </a:custGeom>
            <a:solidFill>
              <a:srgbClr val="059669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36308" y="5063014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历史方案与用户偏好已持久化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9600" y="5600700"/>
            <a:ext cx="10972800" cy="762000"/>
            <a:chOff x="609600" y="5600700"/>
            <a:chExt cx="10972800" cy="762000"/>
          </a:xfrm>
        </p:grpSpPr>
        <p:sp>
          <p:nvSpPr>
            <p:cNvPr id="34" name="Rectangle 34"/>
            <p:cNvSpPr/>
            <p:nvPr/>
          </p:nvSpPr>
          <p:spPr>
            <a:xfrm>
              <a:off x="609600" y="5600700"/>
              <a:ext cx="10972800" cy="762000"/>
            </a:xfrm>
            <a:prstGeom prst="roundRect">
              <a:avLst>
                <a:gd name="adj" fmla="val 15000"/>
              </a:avLst>
            </a:prstGeom>
            <a:solidFill>
              <a:srgbClr val="EFF6FF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914400" y="5829300"/>
              <a:ext cx="228600" cy="304800"/>
              <a:chOff x="914400" y="5829300"/>
              <a:chExt cx="228600" cy="3048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990600" y="5829300"/>
                <a:ext cx="762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7150">
                    <a:moveTo>
                      <a:pt x="76200" y="0"/>
                    </a:moveTo>
                    <a:lnTo>
                      <a:pt x="0" y="0"/>
                    </a:lnTo>
                    <a:lnTo>
                      <a:pt x="0" y="57150"/>
                    </a:lnTo>
                    <a:lnTo>
                      <a:pt x="76200" y="57150"/>
                    </a:lnTo>
                    <a:lnTo>
                      <a:pt x="76200" y="0"/>
                    </a:ln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914400" y="5867400"/>
                <a:ext cx="2286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66700">
                    <a:moveTo>
                      <a:pt x="38100" y="0"/>
                    </a:moveTo>
                    <a:lnTo>
                      <a:pt x="0" y="0"/>
                    </a:lnTo>
                    <a:lnTo>
                      <a:pt x="0" y="266700"/>
                    </a:lnTo>
                    <a:lnTo>
                      <a:pt x="228600" y="266700"/>
                    </a:lnTo>
                    <a:lnTo>
                      <a:pt x="228600" y="0"/>
                    </a:lnTo>
                    <a:lnTo>
                      <a:pt x="190500" y="0"/>
                    </a:lnTo>
                    <a:lnTo>
                      <a:pt x="190500" y="57150"/>
                    </a:lnTo>
                    <a:lnTo>
                      <a:pt x="38100" y="5715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2563EB"/>
              </a:solidFill>
              <a:ln>
                <a:noFill/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1301115" y="583025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563E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推荐演示输入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299210" y="6061710"/>
              <a:ext cx="56339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上海 → 日本 · 7 天 · 1 人 · 12000 元 · 轻松节奏 · 美食 / 人文 / 夜景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98170" y="6570345"/>
            <a:ext cx="10995660" cy="182880"/>
            <a:chOff x="598170" y="6570345"/>
            <a:chExt cx="10995660" cy="182880"/>
          </a:xfrm>
        </p:grpSpPr>
        <p:sp>
          <p:nvSpPr>
            <p:cNvPr id="41" name="TextBox 41"/>
            <p:cNvSpPr txBox="1"/>
            <p:nvPr/>
          </p:nvSpPr>
          <p:spPr>
            <a:xfrm>
              <a:off x="598170" y="6570345"/>
              <a:ext cx="17973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旅序 · 多 Agent 旅游规划系统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163490" y="657034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14 / 20</a:t>
              </a:r>
            </a:p>
          </p:txBody>
        </p:sp>
      </p:grpSp>
      <p:pic>
        <p:nvPicPr>
          <p:cNvPr id="44" name="图片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6830" y="1342390"/>
            <a:ext cx="2707640" cy="2086610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6830" y="3429000"/>
            <a:ext cx="3330575" cy="2088515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9390" y="1342390"/>
            <a:ext cx="3942715" cy="2356485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3280" y="3714750"/>
            <a:ext cx="3293110" cy="18853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4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09600" y="476250"/>
            <a:ext cx="10702528" cy="600392"/>
            <a:chOff x="609600" y="476250"/>
            <a:chExt cx="10702528" cy="600392"/>
          </a:xfrm>
        </p:grpSpPr>
        <p:sp>
          <p:nvSpPr>
            <p:cNvPr id="3" name="Rectangle 3"/>
            <p:cNvSpPr/>
            <p:nvPr/>
          </p:nvSpPr>
          <p:spPr>
            <a:xfrm>
              <a:off x="609600" y="476250"/>
              <a:ext cx="57150" cy="4191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502920"/>
              <a:ext cx="1219200" cy="368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关键代码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915352"/>
              <a:ext cx="213741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CODE MAP · 可快速定位的核心文件</a:t>
              </a:r>
            </a:p>
          </p:txBody>
        </p:sp>
        <p:sp>
          <p:nvSpPr>
            <p:cNvPr id="6" name="Freeform 6"/>
            <p:cNvSpPr/>
            <p:nvPr/>
          </p:nvSpPr>
          <p:spPr>
            <a:xfrm>
              <a:off x="10995422" y="517922"/>
              <a:ext cx="316706" cy="316706"/>
            </a:xfrm>
            <a:custGeom>
              <a:avLst/>
              <a:gdLst/>
              <a:ahLst/>
              <a:cxnLst/>
              <a:rect l="l" t="t" r="r" b="b"/>
              <a:pathLst>
                <a:path w="316706" h="316706">
                  <a:moveTo>
                    <a:pt x="316706" y="0"/>
                  </a:moveTo>
                  <a:lnTo>
                    <a:pt x="0" y="0"/>
                  </a:lnTo>
                  <a:lnTo>
                    <a:pt x="0" y="316706"/>
                  </a:lnTo>
                  <a:lnTo>
                    <a:pt x="316706" y="316706"/>
                  </a:lnTo>
                  <a:lnTo>
                    <a:pt x="316706" y="0"/>
                  </a:lnTo>
                  <a:close/>
                  <a:moveTo>
                    <a:pt x="113109" y="90488"/>
                  </a:moveTo>
                  <a:lnTo>
                    <a:pt x="145101" y="122480"/>
                  </a:lnTo>
                  <a:lnTo>
                    <a:pt x="109228" y="158353"/>
                  </a:lnTo>
                  <a:lnTo>
                    <a:pt x="145101" y="194227"/>
                  </a:lnTo>
                  <a:lnTo>
                    <a:pt x="113109" y="226219"/>
                  </a:lnTo>
                  <a:lnTo>
                    <a:pt x="45244" y="158353"/>
                  </a:lnTo>
                  <a:lnTo>
                    <a:pt x="113109" y="90488"/>
                  </a:lnTo>
                  <a:close/>
                  <a:moveTo>
                    <a:pt x="203597" y="90488"/>
                  </a:moveTo>
                  <a:lnTo>
                    <a:pt x="171605" y="122480"/>
                  </a:lnTo>
                  <a:lnTo>
                    <a:pt x="207479" y="158353"/>
                  </a:lnTo>
                  <a:lnTo>
                    <a:pt x="171605" y="194227"/>
                  </a:lnTo>
                  <a:lnTo>
                    <a:pt x="203597" y="226219"/>
                  </a:lnTo>
                  <a:lnTo>
                    <a:pt x="271462" y="158353"/>
                  </a:lnTo>
                  <a:lnTo>
                    <a:pt x="203597" y="90488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</p:grpSp>
      <p:sp>
        <p:nvSpPr>
          <p:cNvPr id="8" name="Line 8"/>
          <p:cNvSpPr/>
          <p:nvPr/>
        </p:nvSpPr>
        <p:spPr>
          <a:xfrm>
            <a:off x="609600" y="12573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</p:sp>
      <p:grpSp>
        <p:nvGrpSpPr>
          <p:cNvPr id="42" name="Group 42"/>
          <p:cNvGrpSpPr/>
          <p:nvPr/>
        </p:nvGrpSpPr>
        <p:grpSpPr>
          <a:xfrm>
            <a:off x="609600" y="1827530"/>
            <a:ext cx="10972800" cy="3924300"/>
            <a:chOff x="609600" y="1447800"/>
            <a:chExt cx="10972800" cy="3924300"/>
          </a:xfrm>
        </p:grpSpPr>
        <p:sp>
          <p:nvSpPr>
            <p:cNvPr id="9" name="Rectangle 9"/>
            <p:cNvSpPr/>
            <p:nvPr/>
          </p:nvSpPr>
          <p:spPr>
            <a:xfrm>
              <a:off x="609600" y="1447800"/>
              <a:ext cx="10972800" cy="419100"/>
            </a:xfrm>
            <a:prstGeom prst="roundRect">
              <a:avLst>
                <a:gd name="adj" fmla="val 18182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04862" y="1593056"/>
              <a:ext cx="3736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文件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291012" y="1593056"/>
              <a:ext cx="54614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所在层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100762" y="1593056"/>
              <a:ext cx="28702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作用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09600" y="1905000"/>
              <a:ext cx="10972800" cy="4953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4862" y="2088356"/>
              <a:ext cx="11672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D4ED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AgentLoop.cs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91965" y="2096452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应用层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101715" y="2096452"/>
              <a:ext cx="46962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ReAct 主循环：Thought / Action / Observation 调度与 MaxSteps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09600" y="2400300"/>
              <a:ext cx="10972800" cy="495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4862" y="2583656"/>
              <a:ext cx="231448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D4ED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TravelCoordinatorAgent.cs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91965" y="2591752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应用层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01715" y="2591752"/>
              <a:ext cx="31013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主控 Agent：任务拆解、并行调度与方案整合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09600" y="2895600"/>
              <a:ext cx="10972800" cy="4953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4862" y="3078956"/>
              <a:ext cx="18314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D4ED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DeepSeekLlmClient.cs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291965" y="30870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基础设施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101715" y="3087052"/>
              <a:ext cx="29403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DeepSeek HTTP / SSE 调用与函数调用解析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09600" y="3390900"/>
              <a:ext cx="10972800" cy="495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04862" y="3574256"/>
              <a:ext cx="17969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D4ED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ResilientLlmClient.cs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91965" y="35823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基础设施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101715" y="3582352"/>
              <a:ext cx="26336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在线调用失败时自动降级到离线客户端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09600" y="3886200"/>
              <a:ext cx="10972800" cy="4953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04862" y="4069556"/>
              <a:ext cx="136561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D4ED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ToolRegistry.cs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291965" y="40776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基础设施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101715" y="4077652"/>
              <a:ext cx="30630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工具注册、白名单约束与 JSON Schema 校验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09600" y="4381500"/>
              <a:ext cx="10972800" cy="495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04862" y="4564856"/>
              <a:ext cx="158989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D4ED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TravelMcpTools.cs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291965" y="4572952"/>
              <a:ext cx="486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表现层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01715" y="4572952"/>
              <a:ext cx="35844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MCP 工具暴露：initialize / tools/list / tools/call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09600" y="4876800"/>
              <a:ext cx="10972800" cy="4953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04862" y="5060156"/>
              <a:ext cx="20988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D4ED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PlanningMemoryStore.cs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291965" y="5068252"/>
              <a:ext cx="6400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基础设施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101715" y="5068252"/>
              <a:ext cx="40521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长期记忆 JSON 持久化（SemaphoreSlim 串行写 + UTF-8）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09600" y="1905000"/>
              <a:ext cx="10972800" cy="3467100"/>
            </a:xfrm>
            <a:prstGeom prst="roundRect">
              <a:avLst>
                <a:gd name="adj" fmla="val 2198"/>
              </a:avLst>
            </a:prstGeom>
            <a:noFill/>
            <a:ln w="14288">
              <a:solidFill>
                <a:srgbClr val="E2E8F0"/>
              </a:solidFill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598170" y="6570345"/>
            <a:ext cx="10995660" cy="182880"/>
            <a:chOff x="598170" y="6570345"/>
            <a:chExt cx="10995660" cy="182880"/>
          </a:xfrm>
        </p:grpSpPr>
        <p:sp>
          <p:nvSpPr>
            <p:cNvPr id="48" name="TextBox 48"/>
            <p:cNvSpPr txBox="1"/>
            <p:nvPr/>
          </p:nvSpPr>
          <p:spPr>
            <a:xfrm>
              <a:off x="598170" y="6570345"/>
              <a:ext cx="17973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旅序 · 多 Agent 旅游规划系统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163490" y="657034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15 / 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09600" y="476250"/>
            <a:ext cx="10702528" cy="652462"/>
            <a:chOff x="609600" y="476250"/>
            <a:chExt cx="10702528" cy="652462"/>
          </a:xfrm>
        </p:grpSpPr>
        <p:sp>
          <p:nvSpPr>
            <p:cNvPr id="3" name="Rectangle 3"/>
            <p:cNvSpPr/>
            <p:nvPr/>
          </p:nvSpPr>
          <p:spPr>
            <a:xfrm>
              <a:off x="609600" y="476250"/>
              <a:ext cx="57150" cy="4191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502920"/>
              <a:ext cx="337337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测试覆盖与质量保障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915352"/>
              <a:ext cx="32792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QUALITY · 17 个 xUnit 测试覆盖四类关键路径</a:t>
              </a:r>
            </a:p>
          </p:txBody>
        </p:sp>
        <p:sp>
          <p:nvSpPr>
            <p:cNvPr id="6" name="Freeform 6"/>
            <p:cNvSpPr/>
            <p:nvPr/>
          </p:nvSpPr>
          <p:spPr>
            <a:xfrm>
              <a:off x="10995422" y="495300"/>
              <a:ext cx="316706" cy="361950"/>
            </a:xfrm>
            <a:custGeom>
              <a:avLst/>
              <a:gdLst/>
              <a:ahLst/>
              <a:cxnLst/>
              <a:rect l="l" t="t" r="r" b="b"/>
              <a:pathLst>
                <a:path w="316706" h="361950">
                  <a:moveTo>
                    <a:pt x="158353" y="361950"/>
                  </a:moveTo>
                  <a:lnTo>
                    <a:pt x="75785" y="302973"/>
                  </a:lnTo>
                  <a:cubicBezTo>
                    <a:pt x="28226" y="269001"/>
                    <a:pt x="0" y="214154"/>
                    <a:pt x="0" y="155708"/>
                  </a:cubicBezTo>
                  <a:lnTo>
                    <a:pt x="0" y="67866"/>
                  </a:lnTo>
                  <a:lnTo>
                    <a:pt x="158353" y="0"/>
                  </a:lnTo>
                  <a:lnTo>
                    <a:pt x="316706" y="67866"/>
                  </a:lnTo>
                  <a:lnTo>
                    <a:pt x="316706" y="155708"/>
                  </a:lnTo>
                  <a:cubicBezTo>
                    <a:pt x="316706" y="214154"/>
                    <a:pt x="288481" y="269001"/>
                    <a:pt x="240921" y="302973"/>
                  </a:cubicBezTo>
                  <a:lnTo>
                    <a:pt x="158353" y="361950"/>
                  </a:lnTo>
                  <a:close/>
                  <a:moveTo>
                    <a:pt x="253526" y="129106"/>
                  </a:moveTo>
                  <a:lnTo>
                    <a:pt x="221534" y="97113"/>
                  </a:lnTo>
                  <a:lnTo>
                    <a:pt x="135731" y="182916"/>
                  </a:lnTo>
                  <a:lnTo>
                    <a:pt x="95173" y="142357"/>
                  </a:lnTo>
                  <a:lnTo>
                    <a:pt x="63180" y="174349"/>
                  </a:lnTo>
                  <a:lnTo>
                    <a:pt x="135731" y="246900"/>
                  </a:lnTo>
                  <a:lnTo>
                    <a:pt x="253526" y="129106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</p:grpSp>
      <p:sp>
        <p:nvSpPr>
          <p:cNvPr id="8" name="Line 8"/>
          <p:cNvSpPr/>
          <p:nvPr/>
        </p:nvSpPr>
        <p:spPr>
          <a:xfrm>
            <a:off x="609600" y="12573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</p:sp>
      <p:sp>
        <p:nvSpPr>
          <p:cNvPr id="9" name="Line 9"/>
          <p:cNvSpPr/>
          <p:nvPr/>
        </p:nvSpPr>
        <p:spPr>
          <a:xfrm>
            <a:off x="1428750" y="1695450"/>
            <a:ext cx="9525" cy="2667000"/>
          </a:xfrm>
          <a:custGeom>
            <a:avLst/>
            <a:gdLst/>
            <a:ahLst/>
            <a:cxnLst/>
            <a:rect l="l" t="t" r="r" b="b"/>
            <a:pathLst>
              <a:path w="9525" h="2667000">
                <a:moveTo>
                  <a:pt x="0" y="0"/>
                </a:moveTo>
                <a:lnTo>
                  <a:pt x="0" y="2667000"/>
                </a:lnTo>
              </a:path>
            </a:pathLst>
          </a:custGeom>
          <a:noFill/>
          <a:ln w="38100" cap="rnd">
            <a:gradFill>
              <a:gsLst>
                <a:gs pos="0">
                  <a:srgbClr val="2563EB"/>
                </a:gs>
                <a:gs pos="100000">
                  <a:srgbClr val="059669"/>
                </a:gs>
              </a:gsLst>
              <a:lin ang="5400000" scaled="1"/>
            </a:gradFill>
          </a:ln>
        </p:spPr>
      </p:sp>
      <p:grpSp>
        <p:nvGrpSpPr>
          <p:cNvPr id="17" name="Group 17"/>
          <p:cNvGrpSpPr/>
          <p:nvPr/>
        </p:nvGrpSpPr>
        <p:grpSpPr>
          <a:xfrm>
            <a:off x="1219200" y="1543050"/>
            <a:ext cx="10363200" cy="685800"/>
            <a:chOff x="1219200" y="1543050"/>
            <a:chExt cx="10363200" cy="685800"/>
          </a:xfrm>
        </p:grpSpPr>
        <p:sp>
          <p:nvSpPr>
            <p:cNvPr id="10" name="Ellipse 10"/>
            <p:cNvSpPr/>
            <p:nvPr/>
          </p:nvSpPr>
          <p:spPr>
            <a:xfrm>
              <a:off x="1219200" y="1676400"/>
              <a:ext cx="419100" cy="4191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41141" y="1821656"/>
              <a:ext cx="1752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01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000250" y="1543050"/>
              <a:ext cx="958215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3" name="Rectangle 13"/>
            <p:cNvSpPr/>
            <p:nvPr/>
          </p:nvSpPr>
          <p:spPr>
            <a:xfrm>
              <a:off x="2000250" y="1543050"/>
              <a:ext cx="57150" cy="6858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2266950" y="17526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57150"/>
                  </a:moveTo>
                  <a:cubicBezTo>
                    <a:pt x="0" y="25587"/>
                    <a:pt x="25587" y="0"/>
                    <a:pt x="57150" y="0"/>
                  </a:cubicBezTo>
                  <a:lnTo>
                    <a:pt x="266700" y="0"/>
                  </a:lnTo>
                  <a:lnTo>
                    <a:pt x="266700" y="38100"/>
                  </a:lnTo>
                  <a:lnTo>
                    <a:pt x="57150" y="38100"/>
                  </a:lnTo>
                  <a:lnTo>
                    <a:pt x="57150" y="76200"/>
                  </a:lnTo>
                  <a:lnTo>
                    <a:pt x="266700" y="76200"/>
                  </a:lnTo>
                  <a:lnTo>
                    <a:pt x="266700" y="266700"/>
                  </a:lnTo>
                  <a:lnTo>
                    <a:pt x="57150" y="266700"/>
                  </a:lnTo>
                  <a:cubicBezTo>
                    <a:pt x="25587" y="266700"/>
                    <a:pt x="0" y="241114"/>
                    <a:pt x="0" y="209550"/>
                  </a:cubicBezTo>
                  <a:lnTo>
                    <a:pt x="0" y="57150"/>
                  </a:lnTo>
                  <a:close/>
                  <a:moveTo>
                    <a:pt x="209550" y="190500"/>
                  </a:moveTo>
                  <a:cubicBezTo>
                    <a:pt x="220071" y="190500"/>
                    <a:pt x="228600" y="181971"/>
                    <a:pt x="228600" y="171450"/>
                  </a:cubicBezTo>
                  <a:cubicBezTo>
                    <a:pt x="228600" y="160929"/>
                    <a:pt x="220071" y="152400"/>
                    <a:pt x="209550" y="152400"/>
                  </a:cubicBezTo>
                  <a:cubicBezTo>
                    <a:pt x="199029" y="152400"/>
                    <a:pt x="190500" y="160929"/>
                    <a:pt x="190500" y="171450"/>
                  </a:cubicBezTo>
                  <a:cubicBezTo>
                    <a:pt x="190500" y="181971"/>
                    <a:pt x="199029" y="190500"/>
                    <a:pt x="209550" y="190500"/>
                  </a:cubicBez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745105" y="1721168"/>
              <a:ext cx="23115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预算边界与超限二次规划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748915" y="2001202"/>
              <a:ext cx="37531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验证预算超 110% 触发重规划，校验余量计算与优化建议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19200" y="2343150"/>
            <a:ext cx="10363200" cy="685800"/>
            <a:chOff x="1219200" y="2343150"/>
            <a:chExt cx="10363200" cy="685800"/>
          </a:xfrm>
        </p:grpSpPr>
        <p:sp>
          <p:nvSpPr>
            <p:cNvPr id="18" name="Ellipse 18"/>
            <p:cNvSpPr/>
            <p:nvPr/>
          </p:nvSpPr>
          <p:spPr>
            <a:xfrm>
              <a:off x="1219200" y="2476500"/>
              <a:ext cx="419100" cy="419100"/>
            </a:xfrm>
            <a:prstGeom prst="ellipse">
              <a:avLst/>
            </a:prstGeom>
            <a:solidFill>
              <a:srgbClr val="0EA5E9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319576" y="262175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02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000250" y="2343150"/>
              <a:ext cx="958215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1" name="Rectangle 21"/>
            <p:cNvSpPr/>
            <p:nvPr/>
          </p:nvSpPr>
          <p:spPr>
            <a:xfrm>
              <a:off x="2000250" y="2343150"/>
              <a:ext cx="57150" cy="685800"/>
            </a:xfrm>
            <a:prstGeom prst="roundRect">
              <a:avLst>
                <a:gd name="adj" fmla="val 50000"/>
              </a:avLst>
            </a:prstGeom>
            <a:solidFill>
              <a:srgbClr val="0EA5E9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2247900" y="2533650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304800"/>
                  </a:moveTo>
                  <a:cubicBezTo>
                    <a:pt x="236569" y="304800"/>
                    <a:pt x="304800" y="236569"/>
                    <a:pt x="304800" y="152400"/>
                  </a:cubicBezTo>
                  <a:cubicBezTo>
                    <a:pt x="304800" y="68232"/>
                    <a:pt x="236569" y="0"/>
                    <a:pt x="152400" y="0"/>
                  </a:cubicBezTo>
                  <a:cubicBezTo>
                    <a:pt x="68232" y="0"/>
                    <a:pt x="0" y="68232"/>
                    <a:pt x="0" y="152400"/>
                  </a:cubicBezTo>
                  <a:cubicBezTo>
                    <a:pt x="0" y="236569"/>
                    <a:pt x="68232" y="304800"/>
                    <a:pt x="152400" y="304800"/>
                  </a:cubicBezTo>
                  <a:close/>
                  <a:moveTo>
                    <a:pt x="242070" y="108720"/>
                  </a:moveTo>
                  <a:lnTo>
                    <a:pt x="215130" y="81780"/>
                  </a:lnTo>
                  <a:lnTo>
                    <a:pt x="123825" y="173084"/>
                  </a:lnTo>
                  <a:lnTo>
                    <a:pt x="89670" y="138930"/>
                  </a:lnTo>
                  <a:lnTo>
                    <a:pt x="62730" y="165870"/>
                  </a:lnTo>
                  <a:lnTo>
                    <a:pt x="123825" y="226966"/>
                  </a:lnTo>
                  <a:lnTo>
                    <a:pt x="242070" y="108720"/>
                  </a:lnTo>
                  <a:close/>
                </a:path>
              </a:pathLst>
            </a:custGeom>
            <a:solidFill>
              <a:srgbClr val="0EA5E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745105" y="2521268"/>
              <a:ext cx="23115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输入校验与离线工具顺序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48915" y="2801302"/>
              <a:ext cx="46732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非法输入转为失败 Observation；离线引擎按白名单确定性顺序执行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19200" y="3143250"/>
            <a:ext cx="10363200" cy="685800"/>
            <a:chOff x="1219200" y="3143250"/>
            <a:chExt cx="10363200" cy="685800"/>
          </a:xfrm>
        </p:grpSpPr>
        <p:sp>
          <p:nvSpPr>
            <p:cNvPr id="26" name="Ellipse 26"/>
            <p:cNvSpPr/>
            <p:nvPr/>
          </p:nvSpPr>
          <p:spPr>
            <a:xfrm>
              <a:off x="1219200" y="3276600"/>
              <a:ext cx="419100" cy="419100"/>
            </a:xfrm>
            <a:prstGeom prst="ellipse">
              <a:avLst/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319576" y="342185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03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000250" y="3143250"/>
              <a:ext cx="958215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9" name="Rectangle 29"/>
            <p:cNvSpPr/>
            <p:nvPr/>
          </p:nvSpPr>
          <p:spPr>
            <a:xfrm>
              <a:off x="2000250" y="3143250"/>
              <a:ext cx="57150" cy="685800"/>
            </a:xfrm>
            <a:prstGeom prst="roundRect">
              <a:avLst>
                <a:gd name="adj" fmla="val 50000"/>
              </a:avLst>
            </a:prstGeom>
            <a:solidFill>
              <a:srgbClr val="059669"/>
            </a:solidFill>
            <a:ln>
              <a:noFill/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2286000" y="3333750"/>
              <a:ext cx="228600" cy="304800"/>
              <a:chOff x="2286000" y="3333750"/>
              <a:chExt cx="228600" cy="3048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2286000" y="3455670"/>
                <a:ext cx="22860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87630">
                    <a:moveTo>
                      <a:pt x="212162" y="9719"/>
                    </a:moveTo>
                    <a:cubicBezTo>
                      <a:pt x="217521" y="7039"/>
                      <a:pt x="223119" y="3806"/>
                      <a:pt x="228600" y="0"/>
                    </a:cubicBezTo>
                    <a:lnTo>
                      <a:pt x="228600" y="30480"/>
                    </a:lnTo>
                    <a:cubicBezTo>
                      <a:pt x="228600" y="62043"/>
                      <a:pt x="177426" y="87630"/>
                      <a:pt x="114300" y="87630"/>
                    </a:cubicBezTo>
                    <a:cubicBezTo>
                      <a:pt x="51174" y="87630"/>
                      <a:pt x="0" y="62043"/>
                      <a:pt x="0" y="30480"/>
                    </a:cubicBezTo>
                    <a:lnTo>
                      <a:pt x="0" y="0"/>
                    </a:lnTo>
                    <a:cubicBezTo>
                      <a:pt x="5481" y="3806"/>
                      <a:pt x="11079" y="7039"/>
                      <a:pt x="16439" y="9719"/>
                    </a:cubicBezTo>
                    <a:cubicBezTo>
                      <a:pt x="43452" y="23225"/>
                      <a:pt x="78105" y="30480"/>
                      <a:pt x="114300" y="30480"/>
                    </a:cubicBezTo>
                    <a:cubicBezTo>
                      <a:pt x="150495" y="30480"/>
                      <a:pt x="185147" y="23225"/>
                      <a:pt x="212162" y="9719"/>
                    </a:cubicBezTo>
                    <a:close/>
                  </a:path>
                </a:pathLst>
              </a:custGeom>
              <a:solidFill>
                <a:srgbClr val="059669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2286000" y="3550920"/>
                <a:ext cx="228600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87630">
                    <a:moveTo>
                      <a:pt x="0" y="0"/>
                    </a:moveTo>
                    <a:lnTo>
                      <a:pt x="0" y="30480"/>
                    </a:lnTo>
                    <a:cubicBezTo>
                      <a:pt x="0" y="62044"/>
                      <a:pt x="51174" y="87630"/>
                      <a:pt x="114300" y="87630"/>
                    </a:cubicBezTo>
                    <a:cubicBezTo>
                      <a:pt x="177426" y="87630"/>
                      <a:pt x="228600" y="62044"/>
                      <a:pt x="228600" y="30480"/>
                    </a:cubicBezTo>
                    <a:lnTo>
                      <a:pt x="228600" y="0"/>
                    </a:lnTo>
                    <a:cubicBezTo>
                      <a:pt x="223119" y="3806"/>
                      <a:pt x="217521" y="7039"/>
                      <a:pt x="212162" y="9719"/>
                    </a:cubicBezTo>
                    <a:cubicBezTo>
                      <a:pt x="185147" y="23226"/>
                      <a:pt x="150495" y="30480"/>
                      <a:pt x="114300" y="30480"/>
                    </a:cubicBezTo>
                    <a:cubicBezTo>
                      <a:pt x="78105" y="30480"/>
                      <a:pt x="43452" y="23226"/>
                      <a:pt x="16439" y="9719"/>
                    </a:cubicBezTo>
                    <a:cubicBezTo>
                      <a:pt x="11079" y="7039"/>
                      <a:pt x="5481" y="3806"/>
                      <a:pt x="0" y="0"/>
                    </a:cubicBezTo>
                    <a:close/>
                  </a:path>
                </a:pathLst>
              </a:custGeom>
              <a:solidFill>
                <a:srgbClr val="059669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2286000" y="3333750"/>
                <a:ext cx="2286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14300">
                    <a:moveTo>
                      <a:pt x="114300" y="0"/>
                    </a:moveTo>
                    <a:cubicBezTo>
                      <a:pt x="177426" y="0"/>
                      <a:pt x="228600" y="25587"/>
                      <a:pt x="228600" y="57150"/>
                    </a:cubicBezTo>
                    <a:cubicBezTo>
                      <a:pt x="228600" y="88713"/>
                      <a:pt x="177426" y="114300"/>
                      <a:pt x="114300" y="114300"/>
                    </a:cubicBezTo>
                    <a:cubicBezTo>
                      <a:pt x="51174" y="114300"/>
                      <a:pt x="0" y="88713"/>
                      <a:pt x="0" y="57150"/>
                    </a:cubicBezTo>
                    <a:cubicBezTo>
                      <a:pt x="0" y="25587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rgbClr val="059669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2745105" y="3321368"/>
              <a:ext cx="29326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本地知识库与中文 JSON 持久化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748915" y="3601402"/>
              <a:ext cx="41978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景点 / 酒店检索命中，profiles.json 以 UTF-8 中文正确读写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19200" y="3943350"/>
            <a:ext cx="10363200" cy="685800"/>
            <a:chOff x="1219200" y="3943350"/>
            <a:chExt cx="10363200" cy="685800"/>
          </a:xfrm>
        </p:grpSpPr>
        <p:sp>
          <p:nvSpPr>
            <p:cNvPr id="37" name="Ellipse 37"/>
            <p:cNvSpPr/>
            <p:nvPr/>
          </p:nvSpPr>
          <p:spPr>
            <a:xfrm>
              <a:off x="1219200" y="4076700"/>
              <a:ext cx="419100" cy="419100"/>
            </a:xfrm>
            <a:prstGeom prst="ellipse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319576" y="422195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04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000250" y="3943350"/>
              <a:ext cx="9582150" cy="685800"/>
            </a:xfrm>
            <a:prstGeom prst="roundRect">
              <a:avLst>
                <a:gd name="adj" fmla="val 1388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95250" dist="28575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40" name="Rectangle 40"/>
            <p:cNvSpPr/>
            <p:nvPr/>
          </p:nvSpPr>
          <p:spPr>
            <a:xfrm>
              <a:off x="2000250" y="3943350"/>
              <a:ext cx="57150" cy="68580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2266950" y="413385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95250" y="0"/>
                  </a:moveTo>
                  <a:lnTo>
                    <a:pt x="95250" y="76200"/>
                  </a:lnTo>
                  <a:lnTo>
                    <a:pt x="171450" y="76200"/>
                  </a:lnTo>
                  <a:lnTo>
                    <a:pt x="171450" y="0"/>
                  </a:lnTo>
                  <a:lnTo>
                    <a:pt x="209550" y="0"/>
                  </a:lnTo>
                  <a:lnTo>
                    <a:pt x="209550" y="76200"/>
                  </a:lnTo>
                  <a:lnTo>
                    <a:pt x="266700" y="76200"/>
                  </a:lnTo>
                  <a:lnTo>
                    <a:pt x="266700" y="114300"/>
                  </a:lnTo>
                  <a:lnTo>
                    <a:pt x="228600" y="114300"/>
                  </a:lnTo>
                  <a:lnTo>
                    <a:pt x="228600" y="152400"/>
                  </a:lnTo>
                  <a:cubicBezTo>
                    <a:pt x="228600" y="198482"/>
                    <a:pt x="195876" y="236919"/>
                    <a:pt x="152400" y="245745"/>
                  </a:cubicBezTo>
                  <a:lnTo>
                    <a:pt x="152400" y="304800"/>
                  </a:lnTo>
                  <a:lnTo>
                    <a:pt x="114300" y="304800"/>
                  </a:lnTo>
                  <a:lnTo>
                    <a:pt x="114300" y="245745"/>
                  </a:lnTo>
                  <a:cubicBezTo>
                    <a:pt x="70823" y="236919"/>
                    <a:pt x="38100" y="198482"/>
                    <a:pt x="38100" y="152400"/>
                  </a:cubicBezTo>
                  <a:lnTo>
                    <a:pt x="38100" y="114300"/>
                  </a:lnTo>
                  <a:lnTo>
                    <a:pt x="0" y="114300"/>
                  </a:lnTo>
                  <a:lnTo>
                    <a:pt x="0" y="76200"/>
                  </a:lnTo>
                  <a:lnTo>
                    <a:pt x="57150" y="76200"/>
                  </a:lnTo>
                  <a:lnTo>
                    <a:pt x="5715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745105" y="4121468"/>
              <a:ext cx="337775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MCP 工具发现与 DeepSeek 流式解析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748915" y="4401502"/>
              <a:ext cx="43205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tools/list 返回完整工具集；SSE 文本增量正确拼接为完整响应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09600" y="4781550"/>
            <a:ext cx="10972800" cy="1485900"/>
            <a:chOff x="609600" y="4781550"/>
            <a:chExt cx="10972800" cy="1485900"/>
          </a:xfrm>
        </p:grpSpPr>
        <p:sp>
          <p:nvSpPr>
            <p:cNvPr id="45" name="Rectangle 45"/>
            <p:cNvSpPr/>
            <p:nvPr/>
          </p:nvSpPr>
          <p:spPr>
            <a:xfrm>
              <a:off x="609600" y="4781550"/>
              <a:ext cx="10972800" cy="1485900"/>
            </a:xfrm>
            <a:prstGeom prst="roundRect">
              <a:avLst>
                <a:gd name="adj" fmla="val 7692"/>
              </a:avLst>
            </a:prstGeom>
            <a:solidFill>
              <a:srgbClr val="0F172A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849526" y="4985760"/>
              <a:ext cx="202988" cy="181553"/>
              <a:chOff x="849526" y="4985760"/>
              <a:chExt cx="202988" cy="18155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849526" y="4985760"/>
                <a:ext cx="101746" cy="163080"/>
              </a:xfrm>
              <a:custGeom>
                <a:avLst/>
                <a:gdLst/>
                <a:ahLst/>
                <a:cxnLst/>
                <a:rect l="l" t="t" r="r" b="b"/>
                <a:pathLst>
                  <a:path w="101746" h="163080">
                    <a:moveTo>
                      <a:pt x="0" y="142875"/>
                    </a:moveTo>
                    <a:lnTo>
                      <a:pt x="61335" y="81540"/>
                    </a:lnTo>
                    <a:lnTo>
                      <a:pt x="0" y="20206"/>
                    </a:lnTo>
                    <a:lnTo>
                      <a:pt x="20206" y="0"/>
                    </a:lnTo>
                    <a:lnTo>
                      <a:pt x="101746" y="81540"/>
                    </a:lnTo>
                    <a:lnTo>
                      <a:pt x="20206" y="163080"/>
                    </a:lnTo>
                    <a:lnTo>
                      <a:pt x="0" y="142875"/>
                    </a:lnTo>
                    <a:close/>
                  </a:path>
                </a:pathLst>
              </a:custGeom>
              <a:solidFill>
                <a:srgbClr val="34D399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938213" y="5138738"/>
                <a:ext cx="114301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14301" h="28575">
                    <a:moveTo>
                      <a:pt x="0" y="28575"/>
                    </a:moveTo>
                    <a:lnTo>
                      <a:pt x="114301" y="28575"/>
                    </a:lnTo>
                    <a:lnTo>
                      <a:pt x="114301" y="0"/>
                    </a:lnTo>
                    <a:lnTo>
                      <a:pt x="0" y="0"/>
                    </a:lnTo>
                    <a:lnTo>
                      <a:pt x="0" y="28575"/>
                    </a:lnTo>
                    <a:close/>
                  </a:path>
                </a:pathLst>
              </a:custGeom>
              <a:solidFill>
                <a:srgbClr val="34D399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149668" y="501919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构建与测试命令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37260" y="5337810"/>
              <a:ext cx="120472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$</a:t>
              </a:r>
              <a:r>
                <a:rPr lang="zh-CN" sz="1200" dirty="0">
                  <a:solidFill>
                    <a:srgbClr val="E2E8F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 dotnet build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37260" y="5642610"/>
              <a:ext cx="346557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$</a:t>
              </a:r>
              <a:r>
                <a:rPr lang="zh-CN" sz="1200" dirty="0">
                  <a:solidFill>
                    <a:srgbClr val="E2E8F0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 dotnet test </a:t>
              </a:r>
              <a:r>
                <a:rPr lang="zh-CN" sz="1200" dirty="0">
                  <a:solidFill>
                    <a:srgbClr val="34D39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// 17 个 xUnit 测试全部通过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40118" y="5971699"/>
              <a:ext cx="44035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// 覆盖确定性逻辑（预算/校验/工具顺序/持久化），不依赖外网 API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98170" y="6570345"/>
            <a:ext cx="10995660" cy="182880"/>
            <a:chOff x="598170" y="6570345"/>
            <a:chExt cx="10995660" cy="182880"/>
          </a:xfrm>
        </p:grpSpPr>
        <p:sp>
          <p:nvSpPr>
            <p:cNvPr id="54" name="TextBox 54"/>
            <p:cNvSpPr txBox="1"/>
            <p:nvPr/>
          </p:nvSpPr>
          <p:spPr>
            <a:xfrm>
              <a:off x="598170" y="6570345"/>
              <a:ext cx="17973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旅序 · 多 Agent 旅游规划系统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163490" y="657034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16 / 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5" grpId="0"/>
      <p:bldP spid="36" grpId="0"/>
      <p:bldP spid="44" grpId="0"/>
      <p:bldP spid="5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09600" y="476250"/>
            <a:ext cx="10679906" cy="652462"/>
            <a:chOff x="609600" y="476250"/>
            <a:chExt cx="10679906" cy="652462"/>
          </a:xfrm>
        </p:grpSpPr>
        <p:sp>
          <p:nvSpPr>
            <p:cNvPr id="3" name="Rectangle 3"/>
            <p:cNvSpPr/>
            <p:nvPr/>
          </p:nvSpPr>
          <p:spPr>
            <a:xfrm>
              <a:off x="609600" y="476250"/>
              <a:ext cx="57150" cy="4191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502920"/>
              <a:ext cx="41094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关键设计决策与工程反思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915352"/>
              <a:ext cx="25707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DECISIONS · 三项核心取舍及其理由</a:t>
              </a:r>
            </a:p>
          </p:txBody>
        </p:sp>
        <p:sp>
          <p:nvSpPr>
            <p:cNvPr id="6" name="Freeform 6"/>
            <p:cNvSpPr/>
            <p:nvPr/>
          </p:nvSpPr>
          <p:spPr>
            <a:xfrm>
              <a:off x="11018044" y="495300"/>
              <a:ext cx="271462" cy="361950"/>
            </a:xfrm>
            <a:custGeom>
              <a:avLst/>
              <a:gdLst/>
              <a:ahLst/>
              <a:cxnLst/>
              <a:rect l="l" t="t" r="r" b="b"/>
              <a:pathLst>
                <a:path w="271462" h="361950">
                  <a:moveTo>
                    <a:pt x="67866" y="260152"/>
                  </a:moveTo>
                  <a:lnTo>
                    <a:pt x="67866" y="328017"/>
                  </a:lnTo>
                  <a:lnTo>
                    <a:pt x="101798" y="361950"/>
                  </a:lnTo>
                  <a:lnTo>
                    <a:pt x="169664" y="361950"/>
                  </a:lnTo>
                  <a:lnTo>
                    <a:pt x="203597" y="328017"/>
                  </a:lnTo>
                  <a:lnTo>
                    <a:pt x="203597" y="260152"/>
                  </a:lnTo>
                  <a:lnTo>
                    <a:pt x="231639" y="232109"/>
                  </a:lnTo>
                  <a:cubicBezTo>
                    <a:pt x="257138" y="206611"/>
                    <a:pt x="271462" y="171958"/>
                    <a:pt x="271462" y="135898"/>
                  </a:cubicBezTo>
                  <a:cubicBezTo>
                    <a:pt x="271462" y="60935"/>
                    <a:pt x="210693" y="0"/>
                    <a:pt x="135731" y="0"/>
                  </a:cubicBezTo>
                  <a:cubicBezTo>
                    <a:pt x="60769" y="0"/>
                    <a:pt x="0" y="60935"/>
                    <a:pt x="0" y="135898"/>
                  </a:cubicBezTo>
                  <a:cubicBezTo>
                    <a:pt x="0" y="171958"/>
                    <a:pt x="14325" y="206611"/>
                    <a:pt x="39824" y="232109"/>
                  </a:cubicBezTo>
                  <a:lnTo>
                    <a:pt x="67866" y="260152"/>
                  </a:lnTo>
                  <a:close/>
                  <a:moveTo>
                    <a:pt x="113109" y="223368"/>
                  </a:moveTo>
                  <a:lnTo>
                    <a:pt x="113109" y="135731"/>
                  </a:lnTo>
                  <a:lnTo>
                    <a:pt x="158353" y="135731"/>
                  </a:lnTo>
                  <a:lnTo>
                    <a:pt x="158353" y="223368"/>
                  </a:lnTo>
                  <a:cubicBezTo>
                    <a:pt x="197380" y="213323"/>
                    <a:pt x="226219" y="177895"/>
                    <a:pt x="226219" y="135731"/>
                  </a:cubicBezTo>
                  <a:cubicBezTo>
                    <a:pt x="226219" y="85756"/>
                    <a:pt x="185705" y="45244"/>
                    <a:pt x="135731" y="45244"/>
                  </a:cubicBezTo>
                  <a:cubicBezTo>
                    <a:pt x="85756" y="45244"/>
                    <a:pt x="45244" y="85756"/>
                    <a:pt x="45244" y="135731"/>
                  </a:cubicBezTo>
                  <a:cubicBezTo>
                    <a:pt x="45244" y="177895"/>
                    <a:pt x="74081" y="213323"/>
                    <a:pt x="113109" y="223368"/>
                  </a:cubicBez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</p:grpSp>
      <p:sp>
        <p:nvSpPr>
          <p:cNvPr id="8" name="Line 8"/>
          <p:cNvSpPr/>
          <p:nvPr/>
        </p:nvSpPr>
        <p:spPr>
          <a:xfrm>
            <a:off x="609600" y="12573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</p:sp>
      <p:grpSp>
        <p:nvGrpSpPr>
          <p:cNvPr id="28" name="Group 28"/>
          <p:cNvGrpSpPr/>
          <p:nvPr/>
        </p:nvGrpSpPr>
        <p:grpSpPr>
          <a:xfrm>
            <a:off x="609600" y="1809750"/>
            <a:ext cx="3505200" cy="3733800"/>
            <a:chOff x="609600" y="1504950"/>
            <a:chExt cx="3505200" cy="3733800"/>
          </a:xfrm>
        </p:grpSpPr>
        <p:sp>
          <p:nvSpPr>
            <p:cNvPr id="9" name="Rectangle 9"/>
            <p:cNvSpPr/>
            <p:nvPr/>
          </p:nvSpPr>
          <p:spPr>
            <a:xfrm>
              <a:off x="609600" y="1504950"/>
              <a:ext cx="3505200" cy="3733800"/>
            </a:xfrm>
            <a:prstGeom prst="roundRect">
              <a:avLst>
                <a:gd name="adj" fmla="val 380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10" name="Rectangle 10"/>
            <p:cNvSpPr/>
            <p:nvPr/>
          </p:nvSpPr>
          <p:spPr>
            <a:xfrm>
              <a:off x="609600" y="1504950"/>
              <a:ext cx="3505200" cy="800100"/>
            </a:xfrm>
            <a:prstGeom prst="roundRect">
              <a:avLst>
                <a:gd name="adj" fmla="val 16667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2000250"/>
              <a:ext cx="3505200" cy="3048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38279" y="1695450"/>
              <a:ext cx="323690" cy="323848"/>
              <a:chOff x="838279" y="1695450"/>
              <a:chExt cx="323690" cy="323848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930567" y="1695450"/>
                <a:ext cx="199669" cy="146380"/>
              </a:xfrm>
              <a:custGeom>
                <a:avLst/>
                <a:gdLst/>
                <a:ahLst/>
                <a:cxnLst/>
                <a:rect l="l" t="t" r="r" b="b"/>
                <a:pathLst>
                  <a:path w="199669" h="146380">
                    <a:moveTo>
                      <a:pt x="22726" y="0"/>
                    </a:moveTo>
                    <a:lnTo>
                      <a:pt x="116391" y="0"/>
                    </a:lnTo>
                    <a:lnTo>
                      <a:pt x="154124" y="66356"/>
                    </a:lnTo>
                    <a:lnTo>
                      <a:pt x="189549" y="45904"/>
                    </a:lnTo>
                    <a:lnTo>
                      <a:pt x="199669" y="63432"/>
                    </a:lnTo>
                    <a:lnTo>
                      <a:pt x="177443" y="146380"/>
                    </a:lnTo>
                    <a:lnTo>
                      <a:pt x="94495" y="124154"/>
                    </a:lnTo>
                    <a:lnTo>
                      <a:pt x="84375" y="106625"/>
                    </a:lnTo>
                    <a:lnTo>
                      <a:pt x="119065" y="86597"/>
                    </a:lnTo>
                    <a:lnTo>
                      <a:pt x="92842" y="40481"/>
                    </a:lnTo>
                    <a:lnTo>
                      <a:pt x="46275" y="40481"/>
                    </a:lnTo>
                    <a:lnTo>
                      <a:pt x="35059" y="60205"/>
                    </a:lnTo>
                    <a:lnTo>
                      <a:pt x="0" y="39964"/>
                    </a:lnTo>
                    <a:lnTo>
                      <a:pt x="2272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59643" y="1858582"/>
                <a:ext cx="202326" cy="160716"/>
              </a:xfrm>
              <a:custGeom>
                <a:avLst/>
                <a:gdLst/>
                <a:ahLst/>
                <a:cxnLst/>
                <a:rect l="l" t="t" r="r" b="b"/>
                <a:pathLst>
                  <a:path w="202326" h="160716">
                    <a:moveTo>
                      <a:pt x="145022" y="20241"/>
                    </a:moveTo>
                    <a:lnTo>
                      <a:pt x="155932" y="39428"/>
                    </a:lnTo>
                    <a:lnTo>
                      <a:pt x="133700" y="79756"/>
                    </a:lnTo>
                    <a:lnTo>
                      <a:pt x="80962" y="79756"/>
                    </a:lnTo>
                    <a:lnTo>
                      <a:pt x="80962" y="39273"/>
                    </a:lnTo>
                    <a:lnTo>
                      <a:pt x="60722" y="39273"/>
                    </a:lnTo>
                    <a:lnTo>
                      <a:pt x="0" y="99994"/>
                    </a:lnTo>
                    <a:lnTo>
                      <a:pt x="60722" y="160716"/>
                    </a:lnTo>
                    <a:lnTo>
                      <a:pt x="80962" y="160716"/>
                    </a:lnTo>
                    <a:lnTo>
                      <a:pt x="80962" y="120237"/>
                    </a:lnTo>
                    <a:lnTo>
                      <a:pt x="157610" y="120237"/>
                    </a:lnTo>
                    <a:lnTo>
                      <a:pt x="202326" y="39121"/>
                    </a:lnTo>
                    <a:lnTo>
                      <a:pt x="180079" y="0"/>
                    </a:lnTo>
                    <a:lnTo>
                      <a:pt x="145022" y="20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38279" y="1771715"/>
                <a:ext cx="116667" cy="207104"/>
              </a:xfrm>
              <a:custGeom>
                <a:avLst/>
                <a:gdLst/>
                <a:ahLst/>
                <a:cxnLst/>
                <a:rect l="l" t="t" r="r" b="b"/>
                <a:pathLst>
                  <a:path w="116667" h="207104">
                    <a:moveTo>
                      <a:pt x="68627" y="166623"/>
                    </a:moveTo>
                    <a:lnTo>
                      <a:pt x="91003" y="166623"/>
                    </a:lnTo>
                    <a:lnTo>
                      <a:pt x="91003" y="207104"/>
                    </a:lnTo>
                    <a:lnTo>
                      <a:pt x="44718" y="207104"/>
                    </a:lnTo>
                    <a:lnTo>
                      <a:pt x="0" y="125988"/>
                    </a:lnTo>
                    <a:lnTo>
                      <a:pt x="37257" y="60472"/>
                    </a:lnTo>
                    <a:lnTo>
                      <a:pt x="1374" y="39755"/>
                    </a:lnTo>
                    <a:lnTo>
                      <a:pt x="11494" y="22226"/>
                    </a:lnTo>
                    <a:lnTo>
                      <a:pt x="94442" y="0"/>
                    </a:lnTo>
                    <a:lnTo>
                      <a:pt x="116667" y="82948"/>
                    </a:lnTo>
                    <a:lnTo>
                      <a:pt x="106547" y="100476"/>
                    </a:lnTo>
                    <a:lnTo>
                      <a:pt x="72315" y="80713"/>
                    </a:lnTo>
                    <a:lnTo>
                      <a:pt x="46394" y="126295"/>
                    </a:lnTo>
                    <a:lnTo>
                      <a:pt x="68627" y="16662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257300" y="1704975"/>
              <a:ext cx="177481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自写 ReAct Loop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63968" y="2009299"/>
              <a:ext cx="16409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BEAFE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而非套用现成 Agent 框架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876300" y="2705100"/>
              <a:ext cx="76200" cy="762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52512" y="2669381"/>
              <a:ext cx="1578610" cy="1733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逐行可解释，能讲清原理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876300" y="3200400"/>
              <a:ext cx="76200" cy="762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52512" y="3164681"/>
              <a:ext cx="2624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system / user / assistant / tool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52512" y="3383756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消息关系清晰可控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876300" y="3962400"/>
              <a:ext cx="76200" cy="762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52512" y="3926681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控制权在自己手中，便于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52512" y="4145756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调试与定制出口条件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38200" y="4648200"/>
              <a:ext cx="3048000" cy="381000"/>
            </a:xfrm>
            <a:prstGeom prst="roundRect">
              <a:avLst>
                <a:gd name="adj" fmla="val 20000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564844" y="4781074"/>
              <a:ext cx="15947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1D4ED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理解 Agent 本质 &gt; 调库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343400" y="1809750"/>
            <a:ext cx="3505200" cy="3733800"/>
            <a:chOff x="4343400" y="1504950"/>
            <a:chExt cx="3505200" cy="3733800"/>
          </a:xfrm>
        </p:grpSpPr>
        <p:sp>
          <p:nvSpPr>
            <p:cNvPr id="29" name="Rectangle 29"/>
            <p:cNvSpPr/>
            <p:nvPr/>
          </p:nvSpPr>
          <p:spPr>
            <a:xfrm>
              <a:off x="4343400" y="1504950"/>
              <a:ext cx="3505200" cy="3733800"/>
            </a:xfrm>
            <a:prstGeom prst="roundRect">
              <a:avLst>
                <a:gd name="adj" fmla="val 380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30" name="Rectangle 30"/>
            <p:cNvSpPr/>
            <p:nvPr/>
          </p:nvSpPr>
          <p:spPr>
            <a:xfrm>
              <a:off x="4343400" y="1504950"/>
              <a:ext cx="3505200" cy="800100"/>
            </a:xfrm>
            <a:prstGeom prst="roundRect">
              <a:avLst>
                <a:gd name="adj" fmla="val 16667"/>
              </a:avLst>
            </a:prstGeom>
            <a:solidFill>
              <a:srgbClr val="0EA5E9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343400" y="2000250"/>
              <a:ext cx="3505200" cy="304800"/>
            </a:xfrm>
            <a:prstGeom prst="rect">
              <a:avLst/>
            </a:prstGeom>
            <a:solidFill>
              <a:srgbClr val="0EA5E9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4572000" y="1696631"/>
              <a:ext cx="323850" cy="321489"/>
            </a:xfrm>
            <a:custGeom>
              <a:avLst/>
              <a:gdLst/>
              <a:ahLst/>
              <a:cxnLst/>
              <a:rect l="l" t="t" r="r" b="b"/>
              <a:pathLst>
                <a:path w="323850" h="321489">
                  <a:moveTo>
                    <a:pt x="191893" y="0"/>
                  </a:moveTo>
                  <a:lnTo>
                    <a:pt x="191893" y="80440"/>
                  </a:lnTo>
                  <a:lnTo>
                    <a:pt x="141382" y="87203"/>
                  </a:lnTo>
                  <a:lnTo>
                    <a:pt x="141382" y="134746"/>
                  </a:lnTo>
                  <a:lnTo>
                    <a:pt x="191893" y="127983"/>
                  </a:lnTo>
                  <a:lnTo>
                    <a:pt x="191893" y="176203"/>
                  </a:lnTo>
                  <a:lnTo>
                    <a:pt x="239013" y="169898"/>
                  </a:lnTo>
                  <a:lnTo>
                    <a:pt x="239013" y="121676"/>
                  </a:lnTo>
                  <a:lnTo>
                    <a:pt x="323850" y="110324"/>
                  </a:lnTo>
                  <a:lnTo>
                    <a:pt x="317601" y="63618"/>
                  </a:lnTo>
                  <a:lnTo>
                    <a:pt x="239013" y="74135"/>
                  </a:lnTo>
                  <a:lnTo>
                    <a:pt x="239013" y="0"/>
                  </a:lnTo>
                  <a:close/>
                  <a:moveTo>
                    <a:pt x="84835" y="14270"/>
                  </a:moveTo>
                  <a:lnTo>
                    <a:pt x="84835" y="94717"/>
                  </a:lnTo>
                  <a:lnTo>
                    <a:pt x="0" y="106072"/>
                  </a:lnTo>
                  <a:lnTo>
                    <a:pt x="6253" y="152778"/>
                  </a:lnTo>
                  <a:lnTo>
                    <a:pt x="85210" y="142207"/>
                  </a:lnTo>
                  <a:lnTo>
                    <a:pt x="131958" y="135950"/>
                  </a:lnTo>
                  <a:lnTo>
                    <a:pt x="131958" y="14270"/>
                  </a:lnTo>
                  <a:close/>
                  <a:moveTo>
                    <a:pt x="132331" y="145409"/>
                  </a:moveTo>
                  <a:lnTo>
                    <a:pt x="85210" y="151717"/>
                  </a:lnTo>
                  <a:lnTo>
                    <a:pt x="85210" y="199998"/>
                  </a:lnTo>
                  <a:lnTo>
                    <a:pt x="1778" y="211165"/>
                  </a:lnTo>
                  <a:lnTo>
                    <a:pt x="8030" y="257871"/>
                  </a:lnTo>
                  <a:lnTo>
                    <a:pt x="86616" y="247351"/>
                  </a:lnTo>
                  <a:lnTo>
                    <a:pt x="86616" y="321489"/>
                  </a:lnTo>
                  <a:lnTo>
                    <a:pt x="133737" y="321489"/>
                  </a:lnTo>
                  <a:lnTo>
                    <a:pt x="133737" y="241039"/>
                  </a:lnTo>
                  <a:lnTo>
                    <a:pt x="182468" y="234516"/>
                  </a:lnTo>
                  <a:lnTo>
                    <a:pt x="182468" y="186976"/>
                  </a:lnTo>
                  <a:lnTo>
                    <a:pt x="132331" y="193687"/>
                  </a:lnTo>
                  <a:close/>
                  <a:moveTo>
                    <a:pt x="317600" y="168895"/>
                  </a:moveTo>
                  <a:lnTo>
                    <a:pt x="239012" y="179406"/>
                  </a:lnTo>
                  <a:lnTo>
                    <a:pt x="191892" y="185712"/>
                  </a:lnTo>
                  <a:lnTo>
                    <a:pt x="191892" y="307397"/>
                  </a:lnTo>
                  <a:lnTo>
                    <a:pt x="239012" y="307397"/>
                  </a:lnTo>
                  <a:lnTo>
                    <a:pt x="239012" y="226950"/>
                  </a:lnTo>
                  <a:lnTo>
                    <a:pt x="323850" y="2155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991100" y="1704975"/>
              <a:ext cx="1510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C# 强类型整合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997768" y="200929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0F2FE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而非纯脚本拼接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4610100" y="2705100"/>
              <a:ext cx="76200" cy="76200"/>
            </a:xfrm>
            <a:prstGeom prst="ellipse">
              <a:avLst/>
            </a:prstGeom>
            <a:solidFill>
              <a:srgbClr val="0EA5E9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786312" y="2669381"/>
              <a:ext cx="20248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LLM 直接输出 JSON 不稳定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4610100" y="3200400"/>
              <a:ext cx="76200" cy="76200"/>
            </a:xfrm>
            <a:prstGeom prst="ellipse">
              <a:avLst/>
            </a:prstGeom>
            <a:solidFill>
              <a:srgbClr val="0EA5E9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786312" y="3164681"/>
              <a:ext cx="17702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强类型 TravelPlan 保证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786312" y="3383756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输出结构完整一致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4610100" y="3962400"/>
              <a:ext cx="76200" cy="76200"/>
            </a:xfrm>
            <a:prstGeom prst="ellipse">
              <a:avLst/>
            </a:prstGeom>
            <a:solidFill>
              <a:srgbClr val="0EA5E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786312" y="3926681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编译期即可发现契约错误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4572000" y="4648200"/>
              <a:ext cx="3048000" cy="381000"/>
            </a:xfrm>
            <a:prstGeom prst="roundRect">
              <a:avLst>
                <a:gd name="adj" fmla="val 20000"/>
              </a:avLst>
            </a:prstGeom>
            <a:solidFill>
              <a:srgbClr val="E0F2FE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186505" y="4781074"/>
              <a:ext cx="18189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369A1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类型系统兜住模型不确定性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8077200" y="1809750"/>
            <a:ext cx="3505200" cy="3733800"/>
            <a:chOff x="8077200" y="1504950"/>
            <a:chExt cx="3505200" cy="3733800"/>
          </a:xfrm>
        </p:grpSpPr>
        <p:sp>
          <p:nvSpPr>
            <p:cNvPr id="45" name="Rectangle 45"/>
            <p:cNvSpPr/>
            <p:nvPr/>
          </p:nvSpPr>
          <p:spPr>
            <a:xfrm>
              <a:off x="8077200" y="1504950"/>
              <a:ext cx="3505200" cy="3733800"/>
            </a:xfrm>
            <a:prstGeom prst="roundRect">
              <a:avLst>
                <a:gd name="adj" fmla="val 3804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46" name="Rectangle 46"/>
            <p:cNvSpPr/>
            <p:nvPr/>
          </p:nvSpPr>
          <p:spPr>
            <a:xfrm>
              <a:off x="8077200" y="1504950"/>
              <a:ext cx="3505200" cy="800100"/>
            </a:xfrm>
            <a:prstGeom prst="roundRect">
              <a:avLst>
                <a:gd name="adj" fmla="val 16667"/>
              </a:avLst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8077200" y="2000250"/>
              <a:ext cx="3505200" cy="304800"/>
            </a:xfrm>
            <a:prstGeom prst="rect">
              <a:avLst/>
            </a:prstGeom>
            <a:solidFill>
              <a:srgbClr val="059669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8346281" y="1695450"/>
              <a:ext cx="242888" cy="323850"/>
              <a:chOff x="8346281" y="1695450"/>
              <a:chExt cx="242888" cy="32385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8346281" y="1824990"/>
                <a:ext cx="242888" cy="93107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93107">
                    <a:moveTo>
                      <a:pt x="225422" y="10326"/>
                    </a:moveTo>
                    <a:cubicBezTo>
                      <a:pt x="231116" y="7479"/>
                      <a:pt x="237064" y="4044"/>
                      <a:pt x="242888" y="0"/>
                    </a:cubicBezTo>
                    <a:lnTo>
                      <a:pt x="242888" y="32385"/>
                    </a:lnTo>
                    <a:cubicBezTo>
                      <a:pt x="242888" y="65920"/>
                      <a:pt x="188515" y="93107"/>
                      <a:pt x="121444" y="93107"/>
                    </a:cubicBezTo>
                    <a:cubicBezTo>
                      <a:pt x="54372" y="93107"/>
                      <a:pt x="0" y="65920"/>
                      <a:pt x="0" y="32385"/>
                    </a:cubicBezTo>
                    <a:lnTo>
                      <a:pt x="0" y="0"/>
                    </a:lnTo>
                    <a:cubicBezTo>
                      <a:pt x="5824" y="4044"/>
                      <a:pt x="11772" y="7479"/>
                      <a:pt x="17466" y="10326"/>
                    </a:cubicBezTo>
                    <a:cubicBezTo>
                      <a:pt x="46168" y="24677"/>
                      <a:pt x="82986" y="32385"/>
                      <a:pt x="121444" y="32385"/>
                    </a:cubicBezTo>
                    <a:cubicBezTo>
                      <a:pt x="159901" y="32385"/>
                      <a:pt x="196719" y="24677"/>
                      <a:pt x="225422" y="1032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346281" y="1926193"/>
                <a:ext cx="242888" cy="93107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93107">
                    <a:moveTo>
                      <a:pt x="0" y="0"/>
                    </a:moveTo>
                    <a:lnTo>
                      <a:pt x="0" y="32385"/>
                    </a:lnTo>
                    <a:cubicBezTo>
                      <a:pt x="0" y="65922"/>
                      <a:pt x="54372" y="93107"/>
                      <a:pt x="121444" y="93107"/>
                    </a:cubicBezTo>
                    <a:cubicBezTo>
                      <a:pt x="188515" y="93107"/>
                      <a:pt x="242888" y="65922"/>
                      <a:pt x="242888" y="32385"/>
                    </a:cubicBezTo>
                    <a:lnTo>
                      <a:pt x="242888" y="0"/>
                    </a:lnTo>
                    <a:cubicBezTo>
                      <a:pt x="237064" y="4044"/>
                      <a:pt x="231116" y="7479"/>
                      <a:pt x="225422" y="10327"/>
                    </a:cubicBezTo>
                    <a:cubicBezTo>
                      <a:pt x="196719" y="24677"/>
                      <a:pt x="159901" y="32385"/>
                      <a:pt x="121444" y="32385"/>
                    </a:cubicBezTo>
                    <a:cubicBezTo>
                      <a:pt x="82986" y="32385"/>
                      <a:pt x="46168" y="24677"/>
                      <a:pt x="17466" y="10327"/>
                    </a:cubicBezTo>
                    <a:cubicBezTo>
                      <a:pt x="11772" y="7479"/>
                      <a:pt x="5824" y="404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346281" y="1695450"/>
                <a:ext cx="242888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21444">
                    <a:moveTo>
                      <a:pt x="121444" y="0"/>
                    </a:moveTo>
                    <a:cubicBezTo>
                      <a:pt x="188515" y="0"/>
                      <a:pt x="242888" y="27186"/>
                      <a:pt x="242888" y="60722"/>
                    </a:cubicBezTo>
                    <a:cubicBezTo>
                      <a:pt x="242888" y="94258"/>
                      <a:pt x="188515" y="121444"/>
                      <a:pt x="121444" y="121444"/>
                    </a:cubicBezTo>
                    <a:cubicBezTo>
                      <a:pt x="54372" y="121444"/>
                      <a:pt x="0" y="94258"/>
                      <a:pt x="0" y="60722"/>
                    </a:cubicBezTo>
                    <a:cubicBezTo>
                      <a:pt x="0" y="27186"/>
                      <a:pt x="54372" y="0"/>
                      <a:pt x="12144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8724900" y="1704975"/>
              <a:ext cx="18783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本地 JSON 知识库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731568" y="2009299"/>
              <a:ext cx="15484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D1FAE5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而非强依赖外部实时 API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8343900" y="2705100"/>
              <a:ext cx="76200" cy="76200"/>
            </a:xfrm>
            <a:prstGeom prst="ellipse">
              <a:avLst/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520112" y="2669381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演示稳定，断网也能运行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8343900" y="3200400"/>
              <a:ext cx="76200" cy="76200"/>
            </a:xfrm>
            <a:prstGeom prst="ellipse">
              <a:avLst/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520112" y="3164681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工具层接口可平滑替换为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520112" y="3383756"/>
              <a:ext cx="20084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真实 API，不改 Agent 逻辑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8343900" y="3962400"/>
              <a:ext cx="76200" cy="76200"/>
            </a:xfrm>
            <a:prstGeom prst="ellipse">
              <a:avLst/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8520112" y="3926681"/>
              <a:ext cx="189345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聚焦 Agent 编排本身而非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520112" y="4145756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数据源工程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8305800" y="4648200"/>
              <a:ext cx="3048000" cy="381000"/>
            </a:xfrm>
            <a:prstGeom prst="roundRect">
              <a:avLst>
                <a:gd name="adj" fmla="val 20000"/>
              </a:avLst>
            </a:prstGeom>
            <a:solidFill>
              <a:srgbClr val="ECFDF5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920305" y="4781074"/>
              <a:ext cx="18189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4785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可替换性优先于一次性接入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98170" y="6570345"/>
            <a:ext cx="10995660" cy="182880"/>
            <a:chOff x="598170" y="6570345"/>
            <a:chExt cx="10995660" cy="182880"/>
          </a:xfrm>
        </p:grpSpPr>
        <p:sp>
          <p:nvSpPr>
            <p:cNvPr id="71" name="TextBox 71"/>
            <p:cNvSpPr txBox="1"/>
            <p:nvPr/>
          </p:nvSpPr>
          <p:spPr>
            <a:xfrm>
              <a:off x="598170" y="6570345"/>
              <a:ext cx="17973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旅序 · 多 Agent 旅游规划系统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163490" y="657034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17 / 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44" grpId="0"/>
      <p:bldP spid="6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09600" y="476250"/>
            <a:ext cx="10702528" cy="652462"/>
            <a:chOff x="609600" y="476250"/>
            <a:chExt cx="10702528" cy="652462"/>
          </a:xfrm>
        </p:grpSpPr>
        <p:sp>
          <p:nvSpPr>
            <p:cNvPr id="3" name="Rectangle 3"/>
            <p:cNvSpPr/>
            <p:nvPr/>
          </p:nvSpPr>
          <p:spPr>
            <a:xfrm>
              <a:off x="609600" y="476250"/>
              <a:ext cx="57150" cy="4191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502920"/>
              <a:ext cx="337337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系统边界与未来工作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915352"/>
              <a:ext cx="33436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BOUNDARIES · 如实说明当前局限与可演进方向</a:t>
              </a:r>
            </a:p>
          </p:txBody>
        </p:sp>
        <p:sp>
          <p:nvSpPr>
            <p:cNvPr id="6" name="Freeform 6"/>
            <p:cNvSpPr/>
            <p:nvPr/>
          </p:nvSpPr>
          <p:spPr>
            <a:xfrm>
              <a:off x="10995422" y="495300"/>
              <a:ext cx="316706" cy="361950"/>
            </a:xfrm>
            <a:custGeom>
              <a:avLst/>
              <a:gdLst/>
              <a:ahLst/>
              <a:cxnLst/>
              <a:rect l="l" t="t" r="r" b="b"/>
              <a:pathLst>
                <a:path w="316706" h="361950">
                  <a:moveTo>
                    <a:pt x="75785" y="302973"/>
                  </a:moveTo>
                  <a:lnTo>
                    <a:pt x="158353" y="361950"/>
                  </a:lnTo>
                  <a:lnTo>
                    <a:pt x="240921" y="302973"/>
                  </a:lnTo>
                  <a:cubicBezTo>
                    <a:pt x="288481" y="269001"/>
                    <a:pt x="316706" y="214154"/>
                    <a:pt x="316706" y="155708"/>
                  </a:cubicBezTo>
                  <a:lnTo>
                    <a:pt x="316706" y="67866"/>
                  </a:lnTo>
                  <a:lnTo>
                    <a:pt x="158353" y="0"/>
                  </a:lnTo>
                  <a:lnTo>
                    <a:pt x="0" y="67866"/>
                  </a:lnTo>
                  <a:lnTo>
                    <a:pt x="0" y="155708"/>
                  </a:lnTo>
                  <a:cubicBezTo>
                    <a:pt x="0" y="214154"/>
                    <a:pt x="28226" y="269001"/>
                    <a:pt x="75785" y="302973"/>
                  </a:cubicBez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</p:grpSp>
      <p:sp>
        <p:nvSpPr>
          <p:cNvPr id="8" name="Line 8"/>
          <p:cNvSpPr/>
          <p:nvPr/>
        </p:nvSpPr>
        <p:spPr>
          <a:xfrm>
            <a:off x="609600" y="12573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</p:sp>
      <p:grpSp>
        <p:nvGrpSpPr>
          <p:cNvPr id="35" name="Group 35"/>
          <p:cNvGrpSpPr/>
          <p:nvPr/>
        </p:nvGrpSpPr>
        <p:grpSpPr>
          <a:xfrm>
            <a:off x="609600" y="1504950"/>
            <a:ext cx="5334000" cy="4648200"/>
            <a:chOff x="609600" y="1504950"/>
            <a:chExt cx="5334000" cy="4648200"/>
          </a:xfrm>
        </p:grpSpPr>
        <p:sp>
          <p:nvSpPr>
            <p:cNvPr id="9" name="Rectangle 9"/>
            <p:cNvSpPr/>
            <p:nvPr/>
          </p:nvSpPr>
          <p:spPr>
            <a:xfrm>
              <a:off x="609600" y="1504950"/>
              <a:ext cx="5334000" cy="4648200"/>
            </a:xfrm>
            <a:prstGeom prst="roundRect">
              <a:avLst>
                <a:gd name="adj" fmla="val 286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10" name="Rectangle 10"/>
            <p:cNvSpPr/>
            <p:nvPr/>
          </p:nvSpPr>
          <p:spPr>
            <a:xfrm>
              <a:off x="609600" y="1504950"/>
              <a:ext cx="5334000" cy="609600"/>
            </a:xfrm>
            <a:prstGeom prst="roundRect">
              <a:avLst>
                <a:gd name="adj" fmla="val 21875"/>
              </a:avLst>
            </a:prstGeom>
            <a:solidFill>
              <a:srgbClr val="FFFBEB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09600" y="1905000"/>
              <a:ext cx="5334000" cy="209550"/>
            </a:xfrm>
            <a:prstGeom prst="rect">
              <a:avLst/>
            </a:prstGeom>
            <a:solidFill>
              <a:srgbClr val="FFFBEB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876300" y="1657350"/>
              <a:ext cx="304800" cy="285750"/>
            </a:xfrm>
            <a:custGeom>
              <a:avLst/>
              <a:gdLst/>
              <a:ahLst/>
              <a:cxnLst/>
              <a:rect l="l" t="t" r="r" b="b"/>
              <a:pathLst>
                <a:path w="304800" h="285750">
                  <a:moveTo>
                    <a:pt x="304800" y="285750"/>
                  </a:moveTo>
                  <a:lnTo>
                    <a:pt x="0" y="285750"/>
                  </a:lnTo>
                  <a:lnTo>
                    <a:pt x="0" y="228600"/>
                  </a:lnTo>
                  <a:lnTo>
                    <a:pt x="133350" y="0"/>
                  </a:lnTo>
                  <a:lnTo>
                    <a:pt x="171450" y="0"/>
                  </a:lnTo>
                  <a:lnTo>
                    <a:pt x="304800" y="228600"/>
                  </a:lnTo>
                  <a:lnTo>
                    <a:pt x="304800" y="285750"/>
                  </a:lnTo>
                  <a:close/>
                  <a:moveTo>
                    <a:pt x="133350" y="76200"/>
                  </a:moveTo>
                  <a:lnTo>
                    <a:pt x="171450" y="76200"/>
                  </a:lnTo>
                  <a:lnTo>
                    <a:pt x="171450" y="171450"/>
                  </a:lnTo>
                  <a:lnTo>
                    <a:pt x="133350" y="171450"/>
                  </a:lnTo>
                  <a:lnTo>
                    <a:pt x="133350" y="76200"/>
                  </a:lnTo>
                  <a:close/>
                  <a:moveTo>
                    <a:pt x="133350" y="209550"/>
                  </a:moveTo>
                  <a:lnTo>
                    <a:pt x="171450" y="209550"/>
                  </a:lnTo>
                  <a:lnTo>
                    <a:pt x="171450" y="247650"/>
                  </a:lnTo>
                  <a:lnTo>
                    <a:pt x="133350" y="247650"/>
                  </a:lnTo>
                  <a:lnTo>
                    <a:pt x="133350" y="209550"/>
                  </a:ln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76350" y="17430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B4530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当前边界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76300" y="2381250"/>
              <a:ext cx="381000" cy="381000"/>
            </a:xfrm>
            <a:prstGeom prst="roundRect">
              <a:avLst>
                <a:gd name="adj" fmla="val 25000"/>
              </a:avLst>
            </a:prstGeom>
            <a:solidFill>
              <a:srgbClr val="FFFBEB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981075" y="2457450"/>
              <a:ext cx="171450" cy="228600"/>
              <a:chOff x="981075" y="2457450"/>
              <a:chExt cx="171450" cy="2286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981075" y="2548890"/>
                <a:ext cx="171450" cy="65722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65722">
                    <a:moveTo>
                      <a:pt x="159121" y="7289"/>
                    </a:moveTo>
                    <a:cubicBezTo>
                      <a:pt x="163140" y="5279"/>
                      <a:pt x="167339" y="2855"/>
                      <a:pt x="171450" y="0"/>
                    </a:cubicBezTo>
                    <a:lnTo>
                      <a:pt x="171450" y="22860"/>
                    </a:lnTo>
                    <a:cubicBezTo>
                      <a:pt x="171450" y="46532"/>
                      <a:pt x="133069" y="65722"/>
                      <a:pt x="85725" y="65722"/>
                    </a:cubicBezTo>
                    <a:cubicBezTo>
                      <a:pt x="38380" y="65722"/>
                      <a:pt x="0" y="46532"/>
                      <a:pt x="0" y="22860"/>
                    </a:cubicBezTo>
                    <a:lnTo>
                      <a:pt x="0" y="0"/>
                    </a:lnTo>
                    <a:cubicBezTo>
                      <a:pt x="4111" y="2855"/>
                      <a:pt x="8309" y="5279"/>
                      <a:pt x="12329" y="7289"/>
                    </a:cubicBezTo>
                    <a:cubicBezTo>
                      <a:pt x="32589" y="17419"/>
                      <a:pt x="58578" y="22860"/>
                      <a:pt x="85725" y="22860"/>
                    </a:cubicBezTo>
                    <a:cubicBezTo>
                      <a:pt x="112872" y="22860"/>
                      <a:pt x="138860" y="17419"/>
                      <a:pt x="159121" y="7289"/>
                    </a:cubicBezTo>
                    <a:close/>
                  </a:path>
                </a:pathLst>
              </a:custGeom>
              <a:solidFill>
                <a:srgbClr val="D97706"/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81075" y="2620328"/>
                <a:ext cx="171450" cy="65722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65722">
                    <a:moveTo>
                      <a:pt x="0" y="0"/>
                    </a:moveTo>
                    <a:lnTo>
                      <a:pt x="0" y="22860"/>
                    </a:lnTo>
                    <a:cubicBezTo>
                      <a:pt x="0" y="46533"/>
                      <a:pt x="38380" y="65722"/>
                      <a:pt x="85725" y="65722"/>
                    </a:cubicBezTo>
                    <a:cubicBezTo>
                      <a:pt x="133069" y="65722"/>
                      <a:pt x="171450" y="46533"/>
                      <a:pt x="171450" y="22860"/>
                    </a:cubicBezTo>
                    <a:lnTo>
                      <a:pt x="171450" y="0"/>
                    </a:lnTo>
                    <a:cubicBezTo>
                      <a:pt x="167339" y="2855"/>
                      <a:pt x="163140" y="5279"/>
                      <a:pt x="159121" y="7289"/>
                    </a:cubicBezTo>
                    <a:cubicBezTo>
                      <a:pt x="138860" y="17419"/>
                      <a:pt x="112872" y="22860"/>
                      <a:pt x="85725" y="22860"/>
                    </a:cubicBezTo>
                    <a:cubicBezTo>
                      <a:pt x="58578" y="22860"/>
                      <a:pt x="32589" y="17419"/>
                      <a:pt x="12329" y="7289"/>
                    </a:cubicBezTo>
                    <a:cubicBezTo>
                      <a:pt x="8309" y="5279"/>
                      <a:pt x="4111" y="2855"/>
                      <a:pt x="0" y="0"/>
                    </a:cubicBezTo>
                    <a:close/>
                  </a:path>
                </a:pathLst>
              </a:custGeom>
              <a:solidFill>
                <a:srgbClr val="D97706"/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981075" y="2457450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85725" y="0"/>
                    </a:moveTo>
                    <a:cubicBezTo>
                      <a:pt x="133069" y="0"/>
                      <a:pt x="171450" y="19190"/>
                      <a:pt x="171450" y="42862"/>
                    </a:cubicBezTo>
                    <a:cubicBezTo>
                      <a:pt x="171450" y="66535"/>
                      <a:pt x="133069" y="85725"/>
                      <a:pt x="85725" y="85725"/>
                    </a:cubicBezTo>
                    <a:cubicBezTo>
                      <a:pt x="38380" y="85725"/>
                      <a:pt x="0" y="66535"/>
                      <a:pt x="0" y="42862"/>
                    </a:cubicBezTo>
                    <a:cubicBezTo>
                      <a:pt x="0" y="19190"/>
                      <a:pt x="38380" y="0"/>
                      <a:pt x="85725" y="0"/>
                    </a:cubicBezTo>
                    <a:close/>
                  </a:path>
                </a:pathLst>
              </a:custGeom>
              <a:solidFill>
                <a:srgbClr val="D97706"/>
              </a:solidFill>
              <a:ln>
                <a:noFill/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393508" y="2415064"/>
              <a:ext cx="198762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本地知识库为静态数据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96365" y="2648902"/>
              <a:ext cx="32930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景点 / 酒店 / 交通非实时，与真实价格存在偏差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76300" y="3390900"/>
              <a:ext cx="381000" cy="381000"/>
            </a:xfrm>
            <a:prstGeom prst="roundRect">
              <a:avLst>
                <a:gd name="adj" fmla="val 25000"/>
              </a:avLst>
            </a:prstGeom>
            <a:solidFill>
              <a:srgbClr val="FFFBEB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966788" y="3467100"/>
              <a:ext cx="200025" cy="228600"/>
              <a:chOff x="966788" y="3467100"/>
              <a:chExt cx="200025" cy="2286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966788" y="3467100"/>
                <a:ext cx="2000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14300">
                    <a:moveTo>
                      <a:pt x="0" y="71438"/>
                    </a:moveTo>
                    <a:lnTo>
                      <a:pt x="0" y="42862"/>
                    </a:lnTo>
                    <a:lnTo>
                      <a:pt x="100012" y="0"/>
                    </a:lnTo>
                    <a:lnTo>
                      <a:pt x="200025" y="42862"/>
                    </a:lnTo>
                    <a:lnTo>
                      <a:pt x="200025" y="71438"/>
                    </a:lnTo>
                    <a:lnTo>
                      <a:pt x="100012" y="114300"/>
                    </a:lnTo>
                    <a:lnTo>
                      <a:pt x="0" y="71438"/>
                    </a:lnTo>
                    <a:close/>
                  </a:path>
                </a:pathLst>
              </a:custGeom>
              <a:solidFill>
                <a:srgbClr val="D97706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966788" y="3624262"/>
                <a:ext cx="20002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71438">
                    <a:moveTo>
                      <a:pt x="100012" y="71438"/>
                    </a:moveTo>
                    <a:lnTo>
                      <a:pt x="0" y="28575"/>
                    </a:lnTo>
                    <a:lnTo>
                      <a:pt x="0" y="0"/>
                    </a:lnTo>
                    <a:lnTo>
                      <a:pt x="100012" y="42862"/>
                    </a:lnTo>
                    <a:lnTo>
                      <a:pt x="200025" y="0"/>
                    </a:lnTo>
                    <a:lnTo>
                      <a:pt x="200025" y="28575"/>
                    </a:lnTo>
                    <a:lnTo>
                      <a:pt x="100012" y="71438"/>
                    </a:lnTo>
                    <a:close/>
                  </a:path>
                </a:pathLst>
              </a:custGeom>
              <a:solidFill>
                <a:srgbClr val="D97706"/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66788" y="3567112"/>
                <a:ext cx="20002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71438">
                    <a:moveTo>
                      <a:pt x="0" y="28575"/>
                    </a:moveTo>
                    <a:lnTo>
                      <a:pt x="100012" y="71438"/>
                    </a:lnTo>
                    <a:lnTo>
                      <a:pt x="200025" y="28575"/>
                    </a:lnTo>
                    <a:lnTo>
                      <a:pt x="200025" y="0"/>
                    </a:lnTo>
                    <a:lnTo>
                      <a:pt x="100012" y="42862"/>
                    </a:lnTo>
                    <a:lnTo>
                      <a:pt x="0" y="0"/>
                    </a:lnTo>
                    <a:lnTo>
                      <a:pt x="0" y="28575"/>
                    </a:lnTo>
                    <a:close/>
                  </a:path>
                </a:pathLst>
              </a:custGeom>
              <a:solidFill>
                <a:srgbClr val="D97706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393508" y="3424714"/>
              <a:ext cx="217337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未实现完整向量检索 RAG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96365" y="3658552"/>
              <a:ext cx="26336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仅本地关键词检索，语义召回能力有限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76300" y="4400550"/>
              <a:ext cx="381000" cy="381000"/>
            </a:xfrm>
            <a:prstGeom prst="roundRect">
              <a:avLst>
                <a:gd name="adj" fmla="val 25000"/>
              </a:avLst>
            </a:prstGeom>
            <a:solidFill>
              <a:srgbClr val="FFFBEB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966788" y="4476750"/>
              <a:ext cx="200025" cy="228600"/>
            </a:xfrm>
            <a:custGeom>
              <a:avLst/>
              <a:gdLst/>
              <a:ahLst/>
              <a:cxnLst/>
              <a:rect l="l" t="t" r="r" b="b"/>
              <a:pathLst>
                <a:path w="200025" h="228600">
                  <a:moveTo>
                    <a:pt x="47864" y="191351"/>
                  </a:moveTo>
                  <a:lnTo>
                    <a:pt x="100012" y="228600"/>
                  </a:lnTo>
                  <a:lnTo>
                    <a:pt x="152160" y="191351"/>
                  </a:lnTo>
                  <a:cubicBezTo>
                    <a:pt x="182198" y="169896"/>
                    <a:pt x="200025" y="135255"/>
                    <a:pt x="200025" y="98342"/>
                  </a:cubicBezTo>
                  <a:lnTo>
                    <a:pt x="200025" y="42862"/>
                  </a:lnTo>
                  <a:lnTo>
                    <a:pt x="100012" y="0"/>
                  </a:lnTo>
                  <a:lnTo>
                    <a:pt x="0" y="42862"/>
                  </a:lnTo>
                  <a:lnTo>
                    <a:pt x="0" y="98342"/>
                  </a:lnTo>
                  <a:cubicBezTo>
                    <a:pt x="0" y="135255"/>
                    <a:pt x="17827" y="169896"/>
                    <a:pt x="47864" y="191351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393508" y="4358164"/>
              <a:ext cx="140105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单机 JSON 存储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96365" y="4592002"/>
              <a:ext cx="27870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无认证与多用户隔离，面向单机演示场景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76300" y="5334000"/>
              <a:ext cx="4800600" cy="571500"/>
            </a:xfrm>
            <a:prstGeom prst="roundRect">
              <a:avLst>
                <a:gd name="adj" fmla="val 16667"/>
              </a:avLst>
            </a:prstGeom>
            <a:solidFill>
              <a:srgbClr val="FFFBE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91565" y="545877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4530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取舍说明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92518" y="5676424"/>
              <a:ext cx="32999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边界源于课程范围聚焦，均为可替换的工程化扩展点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248400" y="1504950"/>
            <a:ext cx="5334000" cy="4648200"/>
            <a:chOff x="6248400" y="1504950"/>
            <a:chExt cx="5334000" cy="4648200"/>
          </a:xfrm>
        </p:grpSpPr>
        <p:sp>
          <p:nvSpPr>
            <p:cNvPr id="36" name="Rectangle 36"/>
            <p:cNvSpPr/>
            <p:nvPr/>
          </p:nvSpPr>
          <p:spPr>
            <a:xfrm>
              <a:off x="6248400" y="1504950"/>
              <a:ext cx="5334000" cy="4648200"/>
            </a:xfrm>
            <a:prstGeom prst="roundRect">
              <a:avLst>
                <a:gd name="adj" fmla="val 2869"/>
              </a:avLst>
            </a:prstGeom>
            <a:solidFill>
              <a:srgbClr val="FFFFFF"/>
            </a:solidFill>
            <a:ln w="14288">
              <a:solidFill>
                <a:srgbClr val="E2E8F0"/>
              </a:solidFill>
            </a:ln>
            <a:effectLst>
              <a:outerShdw blurRad="114300" dist="38100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37" name="Rectangle 37"/>
            <p:cNvSpPr/>
            <p:nvPr/>
          </p:nvSpPr>
          <p:spPr>
            <a:xfrm>
              <a:off x="6248400" y="1504950"/>
              <a:ext cx="5334000" cy="609600"/>
            </a:xfrm>
            <a:prstGeom prst="roundRect">
              <a:avLst>
                <a:gd name="adj" fmla="val 21875"/>
              </a:avLst>
            </a:prstGeom>
            <a:solidFill>
              <a:srgbClr val="ECFDF5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248400" y="1905000"/>
              <a:ext cx="5334000" cy="209550"/>
            </a:xfrm>
            <a:prstGeom prst="rect">
              <a:avLst/>
            </a:prstGeom>
            <a:solidFill>
              <a:srgbClr val="ECFDF5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515100" y="1657350"/>
              <a:ext cx="304800" cy="304800"/>
              <a:chOff x="6515100" y="1657350"/>
              <a:chExt cx="304800" cy="3048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515100" y="1657350"/>
                <a:ext cx="3048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04800">
                    <a:moveTo>
                      <a:pt x="155624" y="38145"/>
                    </a:moveTo>
                    <a:cubicBezTo>
                      <a:pt x="154553" y="38115"/>
                      <a:pt x="153478" y="38100"/>
                      <a:pt x="152400" y="38100"/>
                    </a:cubicBezTo>
                    <a:cubicBezTo>
                      <a:pt x="89274" y="38100"/>
                      <a:pt x="38100" y="89274"/>
                      <a:pt x="38100" y="152400"/>
                    </a:cubicBezTo>
                    <a:cubicBezTo>
                      <a:pt x="38100" y="215526"/>
                      <a:pt x="89274" y="266700"/>
                      <a:pt x="152400" y="266700"/>
                    </a:cubicBezTo>
                    <a:cubicBezTo>
                      <a:pt x="215526" y="266700"/>
                      <a:pt x="266700" y="215526"/>
                      <a:pt x="266700" y="152400"/>
                    </a:cubicBezTo>
                    <a:cubicBezTo>
                      <a:pt x="266700" y="151322"/>
                      <a:pt x="266685" y="150247"/>
                      <a:pt x="266656" y="149176"/>
                    </a:cubicBezTo>
                    <a:lnTo>
                      <a:pt x="300308" y="115523"/>
                    </a:lnTo>
                    <a:cubicBezTo>
                      <a:pt x="303242" y="127332"/>
                      <a:pt x="304800" y="139684"/>
                      <a:pt x="304800" y="152400"/>
                    </a:cubicBezTo>
                    <a:cubicBezTo>
                      <a:pt x="304800" y="236569"/>
                      <a:pt x="236569" y="304800"/>
                      <a:pt x="152400" y="304800"/>
                    </a:cubicBezTo>
                    <a:cubicBezTo>
                      <a:pt x="68232" y="304800"/>
                      <a:pt x="0" y="236569"/>
                      <a:pt x="0" y="152400"/>
                    </a:cubicBezTo>
                    <a:cubicBezTo>
                      <a:pt x="0" y="68232"/>
                      <a:pt x="68232" y="0"/>
                      <a:pt x="152400" y="0"/>
                    </a:cubicBezTo>
                    <a:cubicBezTo>
                      <a:pt x="165116" y="0"/>
                      <a:pt x="177468" y="1557"/>
                      <a:pt x="189277" y="4492"/>
                    </a:cubicBezTo>
                    <a:lnTo>
                      <a:pt x="155624" y="38145"/>
                    </a:lnTo>
                    <a:close/>
                  </a:path>
                </a:pathLst>
              </a:custGeom>
              <a:solidFill>
                <a:srgbClr val="059669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591300" y="1735950"/>
                <a:ext cx="150000" cy="150000"/>
              </a:xfrm>
              <a:custGeom>
                <a:avLst/>
                <a:gdLst/>
                <a:ahLst/>
                <a:cxnLst/>
                <a:rect l="l" t="t" r="r" b="b"/>
                <a:pathLst>
                  <a:path w="150000" h="150000">
                    <a:moveTo>
                      <a:pt x="0" y="73799"/>
                    </a:moveTo>
                    <a:cubicBezTo>
                      <a:pt x="0" y="38293"/>
                      <a:pt x="24284" y="8459"/>
                      <a:pt x="57150" y="0"/>
                    </a:cubicBezTo>
                    <a:lnTo>
                      <a:pt x="57150" y="40796"/>
                    </a:lnTo>
                    <a:cubicBezTo>
                      <a:pt x="45762" y="47384"/>
                      <a:pt x="38100" y="59697"/>
                      <a:pt x="38100" y="73799"/>
                    </a:cubicBezTo>
                    <a:cubicBezTo>
                      <a:pt x="38100" y="94841"/>
                      <a:pt x="55158" y="111899"/>
                      <a:pt x="76200" y="111899"/>
                    </a:cubicBezTo>
                    <a:cubicBezTo>
                      <a:pt x="90302" y="111899"/>
                      <a:pt x="102615" y="104237"/>
                      <a:pt x="109203" y="92849"/>
                    </a:cubicBezTo>
                    <a:lnTo>
                      <a:pt x="150000" y="92849"/>
                    </a:lnTo>
                    <a:cubicBezTo>
                      <a:pt x="141540" y="125715"/>
                      <a:pt x="111706" y="150000"/>
                      <a:pt x="76200" y="150000"/>
                    </a:cubicBezTo>
                    <a:cubicBezTo>
                      <a:pt x="34116" y="150000"/>
                      <a:pt x="0" y="115883"/>
                      <a:pt x="0" y="73799"/>
                    </a:cubicBezTo>
                    <a:close/>
                  </a:path>
                </a:pathLst>
              </a:custGeom>
              <a:solidFill>
                <a:srgbClr val="059669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663555" y="1657350"/>
                <a:ext cx="156345" cy="156345"/>
              </a:xfrm>
              <a:custGeom>
                <a:avLst/>
                <a:gdLst/>
                <a:ahLst/>
                <a:cxnLst/>
                <a:rect l="l" t="t" r="r" b="b"/>
                <a:pathLst>
                  <a:path w="156345" h="156345">
                    <a:moveTo>
                      <a:pt x="118245" y="38100"/>
                    </a:moveTo>
                    <a:lnTo>
                      <a:pt x="99195" y="0"/>
                    </a:lnTo>
                    <a:lnTo>
                      <a:pt x="42045" y="57150"/>
                    </a:lnTo>
                    <a:lnTo>
                      <a:pt x="42045" y="87359"/>
                    </a:lnTo>
                    <a:lnTo>
                      <a:pt x="0" y="129405"/>
                    </a:lnTo>
                    <a:lnTo>
                      <a:pt x="26941" y="156345"/>
                    </a:lnTo>
                    <a:lnTo>
                      <a:pt x="68986" y="114300"/>
                    </a:lnTo>
                    <a:lnTo>
                      <a:pt x="99195" y="114300"/>
                    </a:lnTo>
                    <a:lnTo>
                      <a:pt x="156345" y="57150"/>
                    </a:lnTo>
                    <a:lnTo>
                      <a:pt x="118245" y="38100"/>
                    </a:lnTo>
                    <a:close/>
                  </a:path>
                </a:pathLst>
              </a:custGeom>
              <a:solidFill>
                <a:srgbClr val="059669"/>
              </a:solidFill>
              <a:ln>
                <a:noFill/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6915150" y="17430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4785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扩展方向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6515100" y="23812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266700"/>
                  </a:moveTo>
                  <a:cubicBezTo>
                    <a:pt x="206998" y="266700"/>
                    <a:pt x="266700" y="206998"/>
                    <a:pt x="266700" y="133350"/>
                  </a:cubicBezTo>
                  <a:cubicBezTo>
                    <a:pt x="266700" y="59703"/>
                    <a:pt x="206998" y="0"/>
                    <a:pt x="133350" y="0"/>
                  </a:cubicBezTo>
                  <a:cubicBezTo>
                    <a:pt x="59703" y="0"/>
                    <a:pt x="0" y="59703"/>
                    <a:pt x="0" y="133350"/>
                  </a:cubicBezTo>
                  <a:cubicBezTo>
                    <a:pt x="0" y="206998"/>
                    <a:pt x="59703" y="266700"/>
                    <a:pt x="133350" y="266700"/>
                  </a:cubicBezTo>
                  <a:close/>
                  <a:moveTo>
                    <a:pt x="211811" y="95130"/>
                  </a:moveTo>
                  <a:lnTo>
                    <a:pt x="188239" y="71557"/>
                  </a:lnTo>
                  <a:lnTo>
                    <a:pt x="108347" y="151449"/>
                  </a:lnTo>
                  <a:lnTo>
                    <a:pt x="78462" y="121563"/>
                  </a:lnTo>
                  <a:lnTo>
                    <a:pt x="54888" y="145137"/>
                  </a:lnTo>
                  <a:lnTo>
                    <a:pt x="108347" y="198595"/>
                  </a:lnTo>
                  <a:lnTo>
                    <a:pt x="211811" y="95130"/>
                  </a:lnTo>
                  <a:close/>
                </a:path>
              </a:pathLst>
            </a:custGeom>
            <a:solidFill>
              <a:srgbClr val="059669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79908" y="2357914"/>
              <a:ext cx="276972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接入实时景点 / 酒店 / 天气 API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82765" y="2591752"/>
              <a:ext cx="29403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替换工具层数据源，方案贴近真实可订状态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6515100" y="31242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266700"/>
                  </a:moveTo>
                  <a:cubicBezTo>
                    <a:pt x="206998" y="266700"/>
                    <a:pt x="266700" y="206998"/>
                    <a:pt x="266700" y="133350"/>
                  </a:cubicBezTo>
                  <a:cubicBezTo>
                    <a:pt x="266700" y="59703"/>
                    <a:pt x="206998" y="0"/>
                    <a:pt x="133350" y="0"/>
                  </a:cubicBezTo>
                  <a:cubicBezTo>
                    <a:pt x="59703" y="0"/>
                    <a:pt x="0" y="59703"/>
                    <a:pt x="0" y="133350"/>
                  </a:cubicBezTo>
                  <a:cubicBezTo>
                    <a:pt x="0" y="206998"/>
                    <a:pt x="59703" y="266700"/>
                    <a:pt x="133350" y="266700"/>
                  </a:cubicBezTo>
                  <a:close/>
                  <a:moveTo>
                    <a:pt x="211811" y="95130"/>
                  </a:moveTo>
                  <a:lnTo>
                    <a:pt x="188239" y="71557"/>
                  </a:lnTo>
                  <a:lnTo>
                    <a:pt x="108347" y="151449"/>
                  </a:lnTo>
                  <a:lnTo>
                    <a:pt x="78462" y="121563"/>
                  </a:lnTo>
                  <a:lnTo>
                    <a:pt x="54888" y="145137"/>
                  </a:lnTo>
                  <a:lnTo>
                    <a:pt x="108347" y="198595"/>
                  </a:lnTo>
                  <a:lnTo>
                    <a:pt x="211811" y="95130"/>
                  </a:lnTo>
                  <a:close/>
                </a:path>
              </a:pathLst>
            </a:custGeom>
            <a:solidFill>
              <a:srgbClr val="059669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79908" y="3100864"/>
              <a:ext cx="270129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JSON → SQLite / PostgreSQL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82765" y="3334702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支撑并发写入与多用户偏好管理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6515100" y="386715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266700"/>
                  </a:moveTo>
                  <a:cubicBezTo>
                    <a:pt x="206998" y="266700"/>
                    <a:pt x="266700" y="206998"/>
                    <a:pt x="266700" y="133350"/>
                  </a:cubicBezTo>
                  <a:cubicBezTo>
                    <a:pt x="266700" y="59703"/>
                    <a:pt x="206998" y="0"/>
                    <a:pt x="133350" y="0"/>
                  </a:cubicBezTo>
                  <a:cubicBezTo>
                    <a:pt x="59703" y="0"/>
                    <a:pt x="0" y="59703"/>
                    <a:pt x="0" y="133350"/>
                  </a:cubicBezTo>
                  <a:cubicBezTo>
                    <a:pt x="0" y="206998"/>
                    <a:pt x="59703" y="266700"/>
                    <a:pt x="133350" y="266700"/>
                  </a:cubicBezTo>
                  <a:close/>
                  <a:moveTo>
                    <a:pt x="211811" y="95130"/>
                  </a:moveTo>
                  <a:lnTo>
                    <a:pt x="188239" y="71557"/>
                  </a:lnTo>
                  <a:lnTo>
                    <a:pt x="108347" y="151449"/>
                  </a:lnTo>
                  <a:lnTo>
                    <a:pt x="78462" y="121563"/>
                  </a:lnTo>
                  <a:lnTo>
                    <a:pt x="54888" y="145137"/>
                  </a:lnTo>
                  <a:lnTo>
                    <a:pt x="108347" y="198595"/>
                  </a:lnTo>
                  <a:lnTo>
                    <a:pt x="211811" y="95130"/>
                  </a:lnTo>
                  <a:close/>
                </a:path>
              </a:pathLst>
            </a:custGeom>
            <a:solidFill>
              <a:srgbClr val="059669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879908" y="3843814"/>
              <a:ext cx="24764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向量 RAG + Reviewer Agent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82765" y="4077652"/>
              <a:ext cx="26336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语义召回增强，并对方案进行二次复核</a:t>
              </a:r>
            </a:p>
          </p:txBody>
        </p:sp>
        <p:sp>
          <p:nvSpPr>
            <p:cNvPr id="53" name="Freeform 53"/>
            <p:cNvSpPr/>
            <p:nvPr/>
          </p:nvSpPr>
          <p:spPr>
            <a:xfrm>
              <a:off x="6515100" y="46101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50" y="266700"/>
                  </a:moveTo>
                  <a:cubicBezTo>
                    <a:pt x="206998" y="266700"/>
                    <a:pt x="266700" y="206998"/>
                    <a:pt x="266700" y="133350"/>
                  </a:cubicBezTo>
                  <a:cubicBezTo>
                    <a:pt x="266700" y="59703"/>
                    <a:pt x="206998" y="0"/>
                    <a:pt x="133350" y="0"/>
                  </a:cubicBezTo>
                  <a:cubicBezTo>
                    <a:pt x="59703" y="0"/>
                    <a:pt x="0" y="59703"/>
                    <a:pt x="0" y="133350"/>
                  </a:cubicBezTo>
                  <a:cubicBezTo>
                    <a:pt x="0" y="206998"/>
                    <a:pt x="59703" y="266700"/>
                    <a:pt x="133350" y="266700"/>
                  </a:cubicBezTo>
                  <a:close/>
                  <a:moveTo>
                    <a:pt x="211811" y="95130"/>
                  </a:moveTo>
                  <a:lnTo>
                    <a:pt x="188239" y="71557"/>
                  </a:lnTo>
                  <a:lnTo>
                    <a:pt x="108347" y="151449"/>
                  </a:lnTo>
                  <a:lnTo>
                    <a:pt x="78462" y="121563"/>
                  </a:lnTo>
                  <a:lnTo>
                    <a:pt x="54888" y="145137"/>
                  </a:lnTo>
                  <a:lnTo>
                    <a:pt x="108347" y="198595"/>
                  </a:lnTo>
                  <a:lnTo>
                    <a:pt x="211811" y="95130"/>
                  </a:lnTo>
                  <a:close/>
                </a:path>
              </a:pathLst>
            </a:custGeom>
            <a:solidFill>
              <a:srgbClr val="059669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879908" y="4586764"/>
              <a:ext cx="182143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MCP 增加认证与限流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882765" y="4820602"/>
              <a:ext cx="21736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面向多客户端安全开放工具能力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515100" y="5334000"/>
              <a:ext cx="4800600" cy="571500"/>
            </a:xfrm>
            <a:prstGeom prst="roundRect">
              <a:avLst>
                <a:gd name="adj" fmla="val 16667"/>
              </a:avLst>
            </a:prstGeom>
            <a:solidFill>
              <a:srgbClr val="ECFDF5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730365" y="5458778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47857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演进路径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731318" y="5676424"/>
              <a:ext cx="37342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分层架构使数据源与存储可独立升级，Agent 逻辑保持稳定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98170" y="6570345"/>
            <a:ext cx="10995660" cy="182880"/>
            <a:chOff x="598170" y="6570345"/>
            <a:chExt cx="10995660" cy="182880"/>
          </a:xfrm>
        </p:grpSpPr>
        <p:sp>
          <p:nvSpPr>
            <p:cNvPr id="60" name="TextBox 60"/>
            <p:cNvSpPr txBox="1"/>
            <p:nvPr/>
          </p:nvSpPr>
          <p:spPr>
            <a:xfrm>
              <a:off x="598170" y="6570345"/>
              <a:ext cx="17973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旅序 · 多 Agent 旅游规划系统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163490" y="657034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18 / 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5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609600" y="476250"/>
            <a:ext cx="10702528" cy="652462"/>
            <a:chOff x="609600" y="476250"/>
            <a:chExt cx="10702528" cy="652462"/>
          </a:xfrm>
        </p:grpSpPr>
        <p:sp>
          <p:nvSpPr>
            <p:cNvPr id="3" name="Rectangle 3"/>
            <p:cNvSpPr/>
            <p:nvPr/>
          </p:nvSpPr>
          <p:spPr>
            <a:xfrm>
              <a:off x="609600" y="476250"/>
              <a:ext cx="57150" cy="4191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88670" y="502920"/>
              <a:ext cx="560005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E293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总结：Agent = LLM + 工具 + 循环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24865" y="915352"/>
              <a:ext cx="37945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SUMMARY · 一个能自主调用工具解决真实问题的系统</a:t>
              </a:r>
            </a:p>
          </p:txBody>
        </p:sp>
        <p:sp>
          <p:nvSpPr>
            <p:cNvPr id="6" name="Freeform 6"/>
            <p:cNvSpPr/>
            <p:nvPr/>
          </p:nvSpPr>
          <p:spPr>
            <a:xfrm>
              <a:off x="10995422" y="517922"/>
              <a:ext cx="316706" cy="339328"/>
            </a:xfrm>
            <a:custGeom>
              <a:avLst/>
              <a:gdLst/>
              <a:ahLst/>
              <a:cxnLst/>
              <a:rect l="l" t="t" r="r" b="b"/>
              <a:pathLst>
                <a:path w="316706" h="339328">
                  <a:moveTo>
                    <a:pt x="0" y="0"/>
                  </a:moveTo>
                  <a:lnTo>
                    <a:pt x="0" y="339328"/>
                  </a:lnTo>
                  <a:lnTo>
                    <a:pt x="45244" y="339328"/>
                  </a:lnTo>
                  <a:lnTo>
                    <a:pt x="45244" y="203597"/>
                  </a:lnTo>
                  <a:lnTo>
                    <a:pt x="135731" y="203597"/>
                  </a:lnTo>
                  <a:lnTo>
                    <a:pt x="180975" y="248841"/>
                  </a:lnTo>
                  <a:lnTo>
                    <a:pt x="316706" y="248841"/>
                  </a:lnTo>
                  <a:lnTo>
                    <a:pt x="316706" y="45244"/>
                  </a:lnTo>
                  <a:lnTo>
                    <a:pt x="180975" y="45244"/>
                  </a:lnTo>
                  <a:lnTo>
                    <a:pt x="13573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</p:grpSp>
      <p:sp>
        <p:nvSpPr>
          <p:cNvPr id="8" name="Line 8"/>
          <p:cNvSpPr/>
          <p:nvPr/>
        </p:nvSpPr>
        <p:spPr>
          <a:xfrm>
            <a:off x="609600" y="12573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</p:sp>
      <p:grpSp>
        <p:nvGrpSpPr>
          <p:cNvPr id="12" name="Group 12"/>
          <p:cNvGrpSpPr/>
          <p:nvPr/>
        </p:nvGrpSpPr>
        <p:grpSpPr>
          <a:xfrm>
            <a:off x="609600" y="1581150"/>
            <a:ext cx="10972800" cy="1257300"/>
            <a:chOff x="609600" y="1581150"/>
            <a:chExt cx="10972800" cy="1257300"/>
          </a:xfrm>
        </p:grpSpPr>
        <p:sp>
          <p:nvSpPr>
            <p:cNvPr id="9" name="Rectangle 9"/>
            <p:cNvSpPr/>
            <p:nvPr/>
          </p:nvSpPr>
          <p:spPr>
            <a:xfrm>
              <a:off x="609600" y="1581150"/>
              <a:ext cx="10972800" cy="1257300"/>
            </a:xfrm>
            <a:prstGeom prst="roundRect">
              <a:avLst>
                <a:gd name="adj" fmla="val 12121"/>
              </a:avLst>
            </a:prstGeom>
            <a:gradFill>
              <a:gsLst>
                <a:gs pos="0">
                  <a:srgbClr val="2563EB"/>
                </a:gs>
                <a:gs pos="100000">
                  <a:srgbClr val="0EA5E9"/>
                </a:gs>
              </a:gsLst>
              <a:lin ang="2700000" scaled="1"/>
            </a:gradFill>
            <a:ln>
              <a:noFill/>
            </a:ln>
            <a:effectLst>
              <a:outerShdw blurRad="114300" dist="38100" dir="5400000" algn="ctr" rotWithShape="0">
                <a:srgbClr val="0F172A">
                  <a:alpha val="600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5523120" y="2001202"/>
              <a:ext cx="11457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DBEAFE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CORE FORMULA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04833" y="2315528"/>
              <a:ext cx="978233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智能体 = 大模型（大脑）</a:t>
              </a:r>
              <a:r>
                <a:rPr lang="zh-CN" sz="2550" b="1" dirty="0">
                  <a:solidFill>
                    <a:srgbClr val="BFDBFE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+</a:t>
              </a:r>
              <a:r>
                <a:rPr lang="zh-CN" sz="25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工具（双手）</a:t>
              </a:r>
              <a:r>
                <a:rPr lang="zh-CN" sz="2550" b="1" dirty="0">
                  <a:solidFill>
                    <a:srgbClr val="BFDBFE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+</a:t>
              </a:r>
              <a:r>
                <a:rPr lang="zh-CN" sz="2550" b="1" dirty="0">
                  <a:solidFill>
                    <a:srgbClr val="FFFFFF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 循环（控制）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9600" y="3124200"/>
            <a:ext cx="10972800" cy="2762250"/>
            <a:chOff x="609600" y="3124200"/>
            <a:chExt cx="10972800" cy="2762250"/>
          </a:xfrm>
        </p:grpSpPr>
        <p:grpSp>
          <p:nvGrpSpPr>
            <p:cNvPr id="23" name="Group 23"/>
            <p:cNvGrpSpPr/>
            <p:nvPr/>
          </p:nvGrpSpPr>
          <p:grpSpPr>
            <a:xfrm>
              <a:off x="609600" y="3124200"/>
              <a:ext cx="3505200" cy="2762250"/>
              <a:chOff x="609600" y="3124200"/>
              <a:chExt cx="3505200" cy="27622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609600" y="3124200"/>
                <a:ext cx="3505200" cy="2762250"/>
              </a:xfrm>
              <a:prstGeom prst="roundRect">
                <a:avLst>
                  <a:gd name="adj" fmla="val 4828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  <a:effectLst>
                <a:outerShdw blurRad="114300" dist="38100" dir="5400000" algn="ctr" rotWithShape="0">
                  <a:srgbClr val="0F172A">
                    <a:alpha val="6000"/>
                  </a:srgbClr>
                </a:outerShdw>
              </a:effectLst>
            </p:spPr>
          </p:sp>
          <p:sp>
            <p:nvSpPr>
              <p:cNvPr id="14" name="Ellipse 14"/>
              <p:cNvSpPr/>
              <p:nvPr/>
            </p:nvSpPr>
            <p:spPr>
              <a:xfrm>
                <a:off x="1981200" y="3371850"/>
                <a:ext cx="762000" cy="7620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</p:sp>
          <p:grpSp>
            <p:nvGrpSpPr>
              <p:cNvPr id="17" name="Group 17"/>
              <p:cNvGrpSpPr/>
              <p:nvPr/>
            </p:nvGrpSpPr>
            <p:grpSpPr>
              <a:xfrm>
                <a:off x="2152650" y="3543300"/>
                <a:ext cx="419100" cy="419100"/>
                <a:chOff x="2152650" y="3543300"/>
                <a:chExt cx="419100" cy="419100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2205038" y="3543300"/>
                  <a:ext cx="366712" cy="1833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712" h="183356">
                      <a:moveTo>
                        <a:pt x="209550" y="183356"/>
                      </a:moveTo>
                      <a:lnTo>
                        <a:pt x="183356" y="157162"/>
                      </a:lnTo>
                      <a:lnTo>
                        <a:pt x="243416" y="97103"/>
                      </a:lnTo>
                      <a:lnTo>
                        <a:pt x="228072" y="81759"/>
                      </a:lnTo>
                      <a:cubicBezTo>
                        <a:pt x="209266" y="62953"/>
                        <a:pt x="183759" y="52388"/>
                        <a:pt x="157162" y="52388"/>
                      </a:cubicBezTo>
                      <a:cubicBezTo>
                        <a:pt x="130566" y="52388"/>
                        <a:pt x="105059" y="62953"/>
                        <a:pt x="86253" y="81759"/>
                      </a:cubicBezTo>
                      <a:lnTo>
                        <a:pt x="84006" y="84006"/>
                      </a:lnTo>
                      <a:cubicBezTo>
                        <a:pt x="63761" y="104251"/>
                        <a:pt x="52388" y="131710"/>
                        <a:pt x="52388" y="160340"/>
                      </a:cubicBezTo>
                      <a:lnTo>
                        <a:pt x="52388" y="183356"/>
                      </a:lnTo>
                      <a:lnTo>
                        <a:pt x="0" y="183356"/>
                      </a:lnTo>
                      <a:lnTo>
                        <a:pt x="0" y="160340"/>
                      </a:lnTo>
                      <a:cubicBezTo>
                        <a:pt x="0" y="117816"/>
                        <a:pt x="16893" y="77032"/>
                        <a:pt x="46963" y="46963"/>
                      </a:cubicBezTo>
                      <a:lnTo>
                        <a:pt x="49210" y="44716"/>
                      </a:lnTo>
                      <a:cubicBezTo>
                        <a:pt x="77840" y="16085"/>
                        <a:pt x="116672" y="0"/>
                        <a:pt x="157162" y="0"/>
                      </a:cubicBezTo>
                      <a:cubicBezTo>
                        <a:pt x="197653" y="0"/>
                        <a:pt x="236485" y="16085"/>
                        <a:pt x="265115" y="44716"/>
                      </a:cubicBezTo>
                      <a:lnTo>
                        <a:pt x="280459" y="60059"/>
                      </a:lnTo>
                      <a:lnTo>
                        <a:pt x="340519" y="0"/>
                      </a:lnTo>
                      <a:lnTo>
                        <a:pt x="366712" y="26194"/>
                      </a:lnTo>
                      <a:lnTo>
                        <a:pt x="366712" y="183356"/>
                      </a:lnTo>
                      <a:lnTo>
                        <a:pt x="209550" y="183356"/>
                      </a:lnTo>
                      <a:close/>
                    </a:path>
                  </a:pathLst>
                </a:custGeom>
                <a:solidFill>
                  <a:srgbClr val="2563EB"/>
                </a:solidFill>
                <a:ln>
                  <a:noFill/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2152650" y="3779044"/>
                  <a:ext cx="366712" cy="1833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6712" h="183356">
                      <a:moveTo>
                        <a:pt x="138641" y="101598"/>
                      </a:moveTo>
                      <a:cubicBezTo>
                        <a:pt x="157447" y="120402"/>
                        <a:pt x="182954" y="130969"/>
                        <a:pt x="209550" y="130969"/>
                      </a:cubicBezTo>
                      <a:cubicBezTo>
                        <a:pt x="236146" y="130969"/>
                        <a:pt x="261653" y="120405"/>
                        <a:pt x="280459" y="101598"/>
                      </a:cubicBezTo>
                      <a:lnTo>
                        <a:pt x="282707" y="99350"/>
                      </a:lnTo>
                      <a:cubicBezTo>
                        <a:pt x="302952" y="79105"/>
                        <a:pt x="314325" y="51646"/>
                        <a:pt x="314325" y="23016"/>
                      </a:cubicBezTo>
                      <a:lnTo>
                        <a:pt x="314325" y="0"/>
                      </a:lnTo>
                      <a:lnTo>
                        <a:pt x="366712" y="0"/>
                      </a:lnTo>
                      <a:lnTo>
                        <a:pt x="366712" y="23016"/>
                      </a:lnTo>
                      <a:cubicBezTo>
                        <a:pt x="366712" y="65542"/>
                        <a:pt x="349820" y="106323"/>
                        <a:pt x="319750" y="136393"/>
                      </a:cubicBezTo>
                      <a:lnTo>
                        <a:pt x="317502" y="138641"/>
                      </a:lnTo>
                      <a:cubicBezTo>
                        <a:pt x="288873" y="167271"/>
                        <a:pt x="250040" y="183356"/>
                        <a:pt x="209550" y="183356"/>
                      </a:cubicBezTo>
                      <a:cubicBezTo>
                        <a:pt x="169060" y="183356"/>
                        <a:pt x="130228" y="167271"/>
                        <a:pt x="101597" y="138641"/>
                      </a:cubicBezTo>
                      <a:lnTo>
                        <a:pt x="86253" y="123297"/>
                      </a:lnTo>
                      <a:lnTo>
                        <a:pt x="26194" y="183356"/>
                      </a:lnTo>
                      <a:lnTo>
                        <a:pt x="0" y="157162"/>
                      </a:lnTo>
                      <a:lnTo>
                        <a:pt x="0" y="0"/>
                      </a:lnTo>
                      <a:lnTo>
                        <a:pt x="157162" y="0"/>
                      </a:lnTo>
                      <a:lnTo>
                        <a:pt x="183356" y="26194"/>
                      </a:lnTo>
                      <a:lnTo>
                        <a:pt x="123297" y="86253"/>
                      </a:lnTo>
                      <a:lnTo>
                        <a:pt x="138641" y="101598"/>
                      </a:lnTo>
                      <a:close/>
                    </a:path>
                  </a:pathLst>
                </a:custGeom>
                <a:solidFill>
                  <a:srgbClr val="2563EB"/>
                </a:solidFill>
                <a:ln>
                  <a:noFill/>
                </a:ln>
              </p:spPr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1647313" y="4276725"/>
                <a:ext cx="142977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E293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ReAct 是核心</a:t>
                </a:r>
              </a:p>
            </p:txBody>
          </p:sp>
          <p:sp>
            <p:nvSpPr>
              <p:cNvPr id="19" name="Line 19"/>
              <p:cNvSpPr/>
              <p:nvPr/>
            </p:nvSpPr>
            <p:spPr>
              <a:xfrm>
                <a:off x="1219200" y="4648200"/>
                <a:ext cx="228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9525">
                    <a:moveTo>
                      <a:pt x="0" y="0"/>
                    </a:moveTo>
                    <a:lnTo>
                      <a:pt x="2286000" y="0"/>
                    </a:lnTo>
                  </a:path>
                </a:pathLst>
              </a:custGeom>
              <a:noFill/>
              <a:ln w="14288">
                <a:solidFill>
                  <a:srgbClr val="E2E8F0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574435" y="4877752"/>
                <a:ext cx="1575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4748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思考-行动-观察循环让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490091" y="5106352"/>
                <a:ext cx="174421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4748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模型从“会聊”变为“会做”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624274" y="5487352"/>
                <a:ext cx="147585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2563E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手写循环，原理透明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4343400" y="3124200"/>
              <a:ext cx="3505200" cy="2762250"/>
              <a:chOff x="4343400" y="3124200"/>
              <a:chExt cx="3505200" cy="27622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4343400" y="3124200"/>
                <a:ext cx="3505200" cy="2762250"/>
              </a:xfrm>
              <a:prstGeom prst="roundRect">
                <a:avLst>
                  <a:gd name="adj" fmla="val 4828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  <a:effectLst>
                <a:outerShdw blurRad="114300" dist="38100" dir="5400000" algn="ctr" rotWithShape="0">
                  <a:srgbClr val="0F172A">
                    <a:alpha val="6000"/>
                  </a:srgbClr>
                </a:outerShdw>
              </a:effectLst>
            </p:spPr>
          </p:sp>
          <p:sp>
            <p:nvSpPr>
              <p:cNvPr id="25" name="Ellipse 25"/>
              <p:cNvSpPr/>
              <p:nvPr/>
            </p:nvSpPr>
            <p:spPr>
              <a:xfrm>
                <a:off x="5715000" y="3371850"/>
                <a:ext cx="762000" cy="762000"/>
              </a:xfrm>
              <a:prstGeom prst="ellipse">
                <a:avLst/>
              </a:prstGeom>
              <a:solidFill>
                <a:srgbClr val="E0F2FE"/>
              </a:solidFill>
              <a:ln>
                <a:noFill/>
              </a:ln>
            </p:spPr>
          </p:sp>
          <p:grpSp>
            <p:nvGrpSpPr>
              <p:cNvPr id="30" name="Group 30"/>
              <p:cNvGrpSpPr/>
              <p:nvPr/>
            </p:nvGrpSpPr>
            <p:grpSpPr>
              <a:xfrm>
                <a:off x="5886450" y="3569494"/>
                <a:ext cx="419100" cy="366712"/>
                <a:chOff x="5886450" y="3569494"/>
                <a:chExt cx="419100" cy="366712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5965031" y="3569494"/>
                  <a:ext cx="130969" cy="130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969" h="130969">
                      <a:moveTo>
                        <a:pt x="130969" y="65484"/>
                      </a:moveTo>
                      <a:cubicBezTo>
                        <a:pt x="130969" y="101650"/>
                        <a:pt x="101650" y="130969"/>
                        <a:pt x="65484" y="130969"/>
                      </a:cubicBezTo>
                      <a:cubicBezTo>
                        <a:pt x="29318" y="130969"/>
                        <a:pt x="0" y="101650"/>
                        <a:pt x="0" y="65484"/>
                      </a:cubicBezTo>
                      <a:cubicBezTo>
                        <a:pt x="0" y="29318"/>
                        <a:pt x="29318" y="0"/>
                        <a:pt x="65484" y="0"/>
                      </a:cubicBezTo>
                      <a:cubicBezTo>
                        <a:pt x="101650" y="0"/>
                        <a:pt x="130969" y="29318"/>
                        <a:pt x="130969" y="65484"/>
                      </a:cubicBezTo>
                      <a:close/>
                    </a:path>
                  </a:pathLst>
                </a:custGeom>
                <a:solidFill>
                  <a:srgbClr val="0EA5E9"/>
                </a:solidFill>
                <a:ln>
                  <a:noFill/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5886450" y="3752850"/>
                  <a:ext cx="209550" cy="1833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183356">
                      <a:moveTo>
                        <a:pt x="78581" y="0"/>
                      </a:moveTo>
                      <a:cubicBezTo>
                        <a:pt x="35182" y="0"/>
                        <a:pt x="0" y="35182"/>
                        <a:pt x="0" y="78581"/>
                      </a:cubicBezTo>
                      <a:lnTo>
                        <a:pt x="0" y="183356"/>
                      </a:lnTo>
                      <a:lnTo>
                        <a:pt x="209550" y="183356"/>
                      </a:lnTo>
                      <a:lnTo>
                        <a:pt x="209550" y="0"/>
                      </a:lnTo>
                      <a:lnTo>
                        <a:pt x="78581" y="0"/>
                      </a:lnTo>
                      <a:close/>
                    </a:path>
                  </a:pathLst>
                </a:custGeom>
                <a:solidFill>
                  <a:srgbClr val="0EA5E9"/>
                </a:solidFill>
                <a:ln>
                  <a:noFill/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6148388" y="3752850"/>
                  <a:ext cx="157162" cy="1833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2" h="183356">
                      <a:moveTo>
                        <a:pt x="78581" y="0"/>
                      </a:moveTo>
                      <a:lnTo>
                        <a:pt x="0" y="0"/>
                      </a:lnTo>
                      <a:lnTo>
                        <a:pt x="0" y="183356"/>
                      </a:lnTo>
                      <a:lnTo>
                        <a:pt x="157162" y="183356"/>
                      </a:lnTo>
                      <a:lnTo>
                        <a:pt x="157162" y="78581"/>
                      </a:lnTo>
                      <a:cubicBezTo>
                        <a:pt x="157162" y="35182"/>
                        <a:pt x="121982" y="0"/>
                        <a:pt x="78581" y="0"/>
                      </a:cubicBezTo>
                      <a:close/>
                    </a:path>
                  </a:pathLst>
                </a:custGeom>
                <a:solidFill>
                  <a:srgbClr val="0EA5E9"/>
                </a:solidFill>
                <a:ln>
                  <a:noFill/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6148388" y="3595688"/>
                  <a:ext cx="104775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104775">
                      <a:moveTo>
                        <a:pt x="52388" y="104775"/>
                      </a:moveTo>
                      <a:cubicBezTo>
                        <a:pt x="81321" y="104775"/>
                        <a:pt x="104775" y="81320"/>
                        <a:pt x="104775" y="52388"/>
                      </a:cubicBezTo>
                      <a:cubicBezTo>
                        <a:pt x="104775" y="23455"/>
                        <a:pt x="81321" y="0"/>
                        <a:pt x="52388" y="0"/>
                      </a:cubicBezTo>
                      <a:cubicBezTo>
                        <a:pt x="23454" y="0"/>
                        <a:pt x="0" y="23455"/>
                        <a:pt x="0" y="52388"/>
                      </a:cubicBezTo>
                      <a:cubicBezTo>
                        <a:pt x="0" y="81320"/>
                        <a:pt x="23454" y="104775"/>
                        <a:pt x="52388" y="104775"/>
                      </a:cubicBezTo>
                      <a:close/>
                    </a:path>
                  </a:pathLst>
                </a:custGeom>
                <a:solidFill>
                  <a:srgbClr val="0EA5E9"/>
                </a:solidFill>
                <a:ln>
                  <a:noFill/>
                </a:ln>
              </p:spPr>
            </p:sp>
          </p:grpSp>
          <p:sp>
            <p:nvSpPr>
              <p:cNvPr id="31" name="TextBox 31"/>
              <p:cNvSpPr txBox="1"/>
              <p:nvPr/>
            </p:nvSpPr>
            <p:spPr>
              <a:xfrm>
                <a:off x="5346609" y="4276725"/>
                <a:ext cx="1498783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E293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多 Agent 协作</a:t>
                </a:r>
              </a:p>
            </p:txBody>
          </p:sp>
          <p:sp>
            <p:nvSpPr>
              <p:cNvPr id="32" name="Line 32"/>
              <p:cNvSpPr/>
              <p:nvPr/>
            </p:nvSpPr>
            <p:spPr>
              <a:xfrm>
                <a:off x="4953000" y="4648200"/>
                <a:ext cx="228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9525">
                    <a:moveTo>
                      <a:pt x="0" y="0"/>
                    </a:moveTo>
                    <a:lnTo>
                      <a:pt x="2286000" y="0"/>
                    </a:lnTo>
                  </a:path>
                </a:pathLst>
              </a:custGeom>
              <a:noFill/>
              <a:ln w="14288">
                <a:solidFill>
                  <a:srgbClr val="E2E8F0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5235392" y="4877752"/>
                <a:ext cx="17212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4748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主控拆解 + 5 专业 Agent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239226" y="5106352"/>
                <a:ext cx="171354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4748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分工，复杂问题可拆可控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358074" y="5487352"/>
                <a:ext cx="147585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EA5E9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9 工具 + 双模式兜底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8077200" y="3124200"/>
              <a:ext cx="3505200" cy="2762250"/>
              <a:chOff x="8077200" y="3124200"/>
              <a:chExt cx="3505200" cy="276225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8077200" y="3124200"/>
                <a:ext cx="3505200" cy="2762250"/>
              </a:xfrm>
              <a:prstGeom prst="roundRect">
                <a:avLst>
                  <a:gd name="adj" fmla="val 4828"/>
                </a:avLst>
              </a:prstGeom>
              <a:solidFill>
                <a:srgbClr val="FFFFFF"/>
              </a:solidFill>
              <a:ln w="14288">
                <a:solidFill>
                  <a:srgbClr val="E2E8F0"/>
                </a:solidFill>
              </a:ln>
              <a:effectLst>
                <a:outerShdw blurRad="114300" dist="38100" dir="5400000" algn="ctr" rotWithShape="0">
                  <a:srgbClr val="0F172A">
                    <a:alpha val="6000"/>
                  </a:srgbClr>
                </a:outerShdw>
              </a:effectLst>
            </p:spPr>
          </p:sp>
          <p:sp>
            <p:nvSpPr>
              <p:cNvPr id="38" name="Ellipse 38"/>
              <p:cNvSpPr/>
              <p:nvPr/>
            </p:nvSpPr>
            <p:spPr>
              <a:xfrm>
                <a:off x="9448800" y="3371850"/>
                <a:ext cx="762000" cy="762000"/>
              </a:xfrm>
              <a:prstGeom prst="ellipse">
                <a:avLst/>
              </a:prstGeom>
              <a:solidFill>
                <a:srgbClr val="ECFDF5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9620250" y="3544828"/>
                <a:ext cx="419100" cy="416044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6044">
                    <a:moveTo>
                      <a:pt x="248332" y="0"/>
                    </a:moveTo>
                    <a:lnTo>
                      <a:pt x="248332" y="104099"/>
                    </a:lnTo>
                    <a:lnTo>
                      <a:pt x="182965" y="112851"/>
                    </a:lnTo>
                    <a:lnTo>
                      <a:pt x="182965" y="174377"/>
                    </a:lnTo>
                    <a:lnTo>
                      <a:pt x="248332" y="165625"/>
                    </a:lnTo>
                    <a:lnTo>
                      <a:pt x="248332" y="228027"/>
                    </a:lnTo>
                    <a:lnTo>
                      <a:pt x="309312" y="219869"/>
                    </a:lnTo>
                    <a:lnTo>
                      <a:pt x="309312" y="157463"/>
                    </a:lnTo>
                    <a:lnTo>
                      <a:pt x="419100" y="142772"/>
                    </a:lnTo>
                    <a:lnTo>
                      <a:pt x="411013" y="82329"/>
                    </a:lnTo>
                    <a:lnTo>
                      <a:pt x="309312" y="95939"/>
                    </a:lnTo>
                    <a:lnTo>
                      <a:pt x="309312" y="0"/>
                    </a:lnTo>
                    <a:close/>
                    <a:moveTo>
                      <a:pt x="109787" y="18467"/>
                    </a:moveTo>
                    <a:lnTo>
                      <a:pt x="109787" y="122575"/>
                    </a:lnTo>
                    <a:lnTo>
                      <a:pt x="0" y="137269"/>
                    </a:lnTo>
                    <a:lnTo>
                      <a:pt x="8092" y="197712"/>
                    </a:lnTo>
                    <a:lnTo>
                      <a:pt x="110272" y="184032"/>
                    </a:lnTo>
                    <a:lnTo>
                      <a:pt x="170769" y="175935"/>
                    </a:lnTo>
                    <a:lnTo>
                      <a:pt x="170769" y="18467"/>
                    </a:lnTo>
                    <a:close/>
                    <a:moveTo>
                      <a:pt x="171251" y="188176"/>
                    </a:moveTo>
                    <a:lnTo>
                      <a:pt x="110272" y="196340"/>
                    </a:lnTo>
                    <a:lnTo>
                      <a:pt x="110272" y="258820"/>
                    </a:lnTo>
                    <a:lnTo>
                      <a:pt x="2302" y="273272"/>
                    </a:lnTo>
                    <a:lnTo>
                      <a:pt x="10392" y="333715"/>
                    </a:lnTo>
                    <a:lnTo>
                      <a:pt x="112092" y="320102"/>
                    </a:lnTo>
                    <a:lnTo>
                      <a:pt x="112092" y="416044"/>
                    </a:lnTo>
                    <a:lnTo>
                      <a:pt x="173071" y="416044"/>
                    </a:lnTo>
                    <a:lnTo>
                      <a:pt x="173071" y="311933"/>
                    </a:lnTo>
                    <a:lnTo>
                      <a:pt x="236135" y="303491"/>
                    </a:lnTo>
                    <a:lnTo>
                      <a:pt x="236135" y="241969"/>
                    </a:lnTo>
                    <a:lnTo>
                      <a:pt x="171251" y="250653"/>
                    </a:lnTo>
                    <a:close/>
                    <a:moveTo>
                      <a:pt x="411011" y="218569"/>
                    </a:moveTo>
                    <a:lnTo>
                      <a:pt x="309310" y="232173"/>
                    </a:lnTo>
                    <a:lnTo>
                      <a:pt x="248331" y="240333"/>
                    </a:lnTo>
                    <a:lnTo>
                      <a:pt x="248331" y="397808"/>
                    </a:lnTo>
                    <a:lnTo>
                      <a:pt x="309310" y="397808"/>
                    </a:lnTo>
                    <a:lnTo>
                      <a:pt x="309310" y="293700"/>
                    </a:lnTo>
                    <a:lnTo>
                      <a:pt x="419100" y="279011"/>
                    </a:lnTo>
                    <a:close/>
                  </a:path>
                </a:pathLst>
              </a:custGeom>
              <a:solidFill>
                <a:srgbClr val="059669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9063157" y="4276725"/>
                <a:ext cx="1533287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1E293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.NET 工程落地</a:t>
                </a:r>
              </a:p>
            </p:txBody>
          </p:sp>
          <p:sp>
            <p:nvSpPr>
              <p:cNvPr id="41" name="Line 41"/>
              <p:cNvSpPr/>
              <p:nvPr/>
            </p:nvSpPr>
            <p:spPr>
              <a:xfrm>
                <a:off x="8686800" y="4648200"/>
                <a:ext cx="228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9525">
                    <a:moveTo>
                      <a:pt x="0" y="0"/>
                    </a:moveTo>
                    <a:lnTo>
                      <a:pt x="2286000" y="0"/>
                    </a:lnTo>
                  </a:path>
                </a:pathLst>
              </a:custGeom>
              <a:noFill/>
              <a:ln w="14288">
                <a:solidFill>
                  <a:srgbClr val="E2E8F0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9038201" y="4877752"/>
                <a:ext cx="15831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4748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强类型 + 四层架构 + 17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9126379" y="5106352"/>
                <a:ext cx="14068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64748B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测试，可维护可演进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9079798" y="5487352"/>
                <a:ext cx="150000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59669"/>
                    </a:solidFill>
                    <a:latin typeface="Segoe UI" panose="020B0502040204020203"/>
                    <a:ea typeface="微软雅黑" panose="020B0503020204020204" charset="-122"/>
                    <a:cs typeface="Segoe UI" panose="020B0502040204020203"/>
                  </a:rPr>
                  <a:t>MCP 标准化对外暴露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609600" y="6076950"/>
            <a:ext cx="10972800" cy="342900"/>
            <a:chOff x="609600" y="6076950"/>
            <a:chExt cx="10972800" cy="342900"/>
          </a:xfrm>
        </p:grpSpPr>
        <p:sp>
          <p:nvSpPr>
            <p:cNvPr id="47" name="Rectangle 47"/>
            <p:cNvSpPr/>
            <p:nvPr/>
          </p:nvSpPr>
          <p:spPr>
            <a:xfrm>
              <a:off x="609600" y="6076950"/>
              <a:ext cx="10972800" cy="342900"/>
            </a:xfrm>
            <a:prstGeom prst="roundRect">
              <a:avLst>
                <a:gd name="adj" fmla="val 22222"/>
              </a:avLst>
            </a:prstGeom>
            <a:solidFill>
              <a:srgbClr val="EFF6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321368" y="6184106"/>
              <a:ext cx="55492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D4ED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旅序：把一句简单的旅行需求，变成一份结构化、可解释、可执行的方案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98170" y="6570345"/>
            <a:ext cx="10995660" cy="182880"/>
            <a:chOff x="598170" y="6570345"/>
            <a:chExt cx="10995660" cy="182880"/>
          </a:xfrm>
        </p:grpSpPr>
        <p:sp>
          <p:nvSpPr>
            <p:cNvPr id="50" name="TextBox 50"/>
            <p:cNvSpPr txBox="1"/>
            <p:nvPr/>
          </p:nvSpPr>
          <p:spPr>
            <a:xfrm>
              <a:off x="598170" y="6570345"/>
              <a:ext cx="17973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旅序 · 多 Agent 旅游规划系统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163490" y="6570345"/>
              <a:ext cx="4303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94A3B8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19 / 20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46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2563EB">
                    <a:alpha val="12000"/>
                  </a:srgbClr>
                </a:gs>
                <a:gs pos="100000">
                  <a:srgbClr val="2563EB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7239000" y="1047750"/>
              <a:ext cx="4762500" cy="4762500"/>
            </a:xfrm>
            <a:prstGeom prst="ellipse">
              <a:avLst/>
            </a:prstGeom>
            <a:noFill/>
            <a:ln w="14288">
              <a:solidFill>
                <a:srgbClr val="E2E8F0"/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7905750" y="1714500"/>
              <a:ext cx="3429000" cy="3429000"/>
            </a:xfrm>
            <a:prstGeom prst="ellipse">
              <a:avLst/>
            </a:prstGeom>
            <a:noFill/>
            <a:ln w="14288">
              <a:solidFill>
                <a:srgbClr val="E2E8F0"/>
              </a:solidFill>
              <a:custDash>
                <a:ds d="400000" sp="533333"/>
              </a:custDash>
            </a:ln>
          </p:spPr>
        </p:sp>
        <p:sp>
          <p:nvSpPr>
            <p:cNvPr id="6" name="Ellipse 6"/>
            <p:cNvSpPr/>
            <p:nvPr/>
          </p:nvSpPr>
          <p:spPr>
            <a:xfrm>
              <a:off x="8572500" y="2381250"/>
              <a:ext cx="2095500" cy="2095500"/>
            </a:xfrm>
            <a:prstGeom prst="ellipse">
              <a:avLst/>
            </a:prstGeom>
            <a:noFill/>
            <a:ln w="14288">
              <a:solidFill>
                <a:srgbClr val="E2E8F0"/>
              </a:solidFill>
              <a:custDash>
                <a:ds d="133333" sp="400000"/>
              </a:custDash>
            </a:ln>
          </p:spPr>
        </p:sp>
        <p:sp>
          <p:nvSpPr>
            <p:cNvPr id="7" name="Line 7"/>
            <p:cNvSpPr/>
            <p:nvPr/>
          </p:nvSpPr>
          <p:spPr>
            <a:xfrm>
              <a:off x="9620250" y="1428750"/>
              <a:ext cx="9525" cy="2000250"/>
            </a:xfrm>
            <a:custGeom>
              <a:avLst/>
              <a:gdLst/>
              <a:ahLst/>
              <a:cxnLst/>
              <a:rect l="l" t="t" r="r" b="b"/>
              <a:pathLst>
                <a:path w="9525" h="2000250">
                  <a:moveTo>
                    <a:pt x="0" y="20002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EA5E9">
                  <a:alpha val="50000"/>
                </a:srgbClr>
              </a:solidFill>
              <a:custDash>
                <a:ds d="300000" sp="400000"/>
              </a:custDash>
            </a:ln>
          </p:spPr>
        </p:sp>
        <p:sp>
          <p:nvSpPr>
            <p:cNvPr id="8" name="Line 8"/>
            <p:cNvSpPr/>
            <p:nvPr/>
          </p:nvSpPr>
          <p:spPr>
            <a:xfrm>
              <a:off x="9620250" y="3429000"/>
              <a:ext cx="1619250" cy="1047750"/>
            </a:xfrm>
            <a:custGeom>
              <a:avLst/>
              <a:gdLst/>
              <a:ahLst/>
              <a:cxnLst/>
              <a:rect l="l" t="t" r="r" b="b"/>
              <a:pathLst>
                <a:path w="1619250" h="1047750">
                  <a:moveTo>
                    <a:pt x="0" y="0"/>
                  </a:moveTo>
                  <a:lnTo>
                    <a:pt x="1619250" y="1047750"/>
                  </a:lnTo>
                </a:path>
              </a:pathLst>
            </a:custGeom>
            <a:noFill/>
            <a:ln w="19050">
              <a:solidFill>
                <a:srgbClr val="2563EB">
                  <a:alpha val="50000"/>
                </a:srgbClr>
              </a:solidFill>
              <a:custDash>
                <a:ds d="300000" sp="400000"/>
              </a:custDash>
            </a:ln>
          </p:spPr>
        </p:sp>
        <p:sp>
          <p:nvSpPr>
            <p:cNvPr id="9" name="Line 9"/>
            <p:cNvSpPr/>
            <p:nvPr/>
          </p:nvSpPr>
          <p:spPr>
            <a:xfrm>
              <a:off x="8001000" y="3429000"/>
              <a:ext cx="1619250" cy="1047750"/>
            </a:xfrm>
            <a:custGeom>
              <a:avLst/>
              <a:gdLst/>
              <a:ahLst/>
              <a:cxnLst/>
              <a:rect l="l" t="t" r="r" b="b"/>
              <a:pathLst>
                <a:path w="1619250" h="1047750">
                  <a:moveTo>
                    <a:pt x="1619250" y="0"/>
                  </a:moveTo>
                  <a:lnTo>
                    <a:pt x="0" y="1047750"/>
                  </a:lnTo>
                </a:path>
              </a:pathLst>
            </a:custGeom>
            <a:noFill/>
            <a:ln w="19050">
              <a:solidFill>
                <a:srgbClr val="059669">
                  <a:alpha val="50000"/>
                </a:srgbClr>
              </a:solidFill>
              <a:custDash>
                <a:ds d="300000" sp="400000"/>
              </a:custDash>
            </a:ln>
          </p:spPr>
        </p:sp>
        <p:sp>
          <p:nvSpPr>
            <p:cNvPr id="10" name="Ellipse 10"/>
            <p:cNvSpPr/>
            <p:nvPr/>
          </p:nvSpPr>
          <p:spPr>
            <a:xfrm>
              <a:off x="9201150" y="3009900"/>
              <a:ext cx="838200" cy="838200"/>
            </a:xfrm>
            <a:prstGeom prst="ellipse">
              <a:avLst/>
            </a:prstGeom>
            <a:gradFill>
              <a:gsLst>
                <a:gs pos="0">
                  <a:srgbClr val="2563EB"/>
                </a:gs>
                <a:gs pos="100000">
                  <a:srgbClr val="0EA5E9"/>
                </a:gs>
              </a:gsLst>
              <a:lin ang="2700000" scaled="1"/>
            </a:gra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9391650" y="3200400"/>
              <a:ext cx="457200" cy="457200"/>
              <a:chOff x="9391650" y="3200400"/>
              <a:chExt cx="457200" cy="4572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9591675" y="340042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28575" y="57150"/>
                    </a:move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4"/>
                      <a:pt x="44357" y="0"/>
                      <a:pt x="28575" y="0"/>
                    </a:cubicBezTo>
                    <a:cubicBezTo>
                      <a:pt x="12794" y="0"/>
                      <a:pt x="0" y="12794"/>
                      <a:pt x="0" y="28575"/>
                    </a:cubicBezTo>
                    <a:cubicBezTo>
                      <a:pt x="0" y="44357"/>
                      <a:pt x="12794" y="57150"/>
                      <a:pt x="28575" y="5715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391650" y="3200400"/>
                <a:ext cx="45720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457200">
                    <a:moveTo>
                      <a:pt x="457200" y="228600"/>
                    </a:moveTo>
                    <a:cubicBezTo>
                      <a:pt x="457200" y="354853"/>
                      <a:pt x="354853" y="457200"/>
                      <a:pt x="228600" y="457200"/>
                    </a:cubicBezTo>
                    <a:cubicBezTo>
                      <a:pt x="102348" y="457200"/>
                      <a:pt x="0" y="354853"/>
                      <a:pt x="0" y="228600"/>
                    </a:cubicBezTo>
                    <a:cubicBezTo>
                      <a:pt x="0" y="102348"/>
                      <a:pt x="102348" y="0"/>
                      <a:pt x="228600" y="0"/>
                    </a:cubicBezTo>
                    <a:cubicBezTo>
                      <a:pt x="354853" y="0"/>
                      <a:pt x="457200" y="102348"/>
                      <a:pt x="457200" y="228600"/>
                    </a:cubicBezTo>
                    <a:close/>
                    <a:moveTo>
                      <a:pt x="171450" y="171450"/>
                    </a:moveTo>
                    <a:lnTo>
                      <a:pt x="114300" y="314325"/>
                    </a:lnTo>
                    <a:lnTo>
                      <a:pt x="142875" y="342900"/>
                    </a:lnTo>
                    <a:lnTo>
                      <a:pt x="285750" y="285750"/>
                    </a:lnTo>
                    <a:lnTo>
                      <a:pt x="342900" y="142875"/>
                    </a:lnTo>
                    <a:lnTo>
                      <a:pt x="314325" y="114300"/>
                    </a:lnTo>
                    <a:lnTo>
                      <a:pt x="171450" y="1714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14" name="Ellipse 14"/>
            <p:cNvSpPr/>
            <p:nvPr/>
          </p:nvSpPr>
          <p:spPr>
            <a:xfrm>
              <a:off x="9525000" y="1333500"/>
              <a:ext cx="190500" cy="190500"/>
            </a:xfrm>
            <a:prstGeom prst="ellipse">
              <a:avLst/>
            </a:prstGeom>
            <a:solidFill>
              <a:srgbClr val="0EA5E9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11144250" y="4381500"/>
              <a:ext cx="190500" cy="1905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7905750" y="4381500"/>
              <a:ext cx="190500" cy="190500"/>
            </a:xfrm>
            <a:prstGeom prst="ellipse">
              <a:avLst/>
            </a:prstGeom>
            <a:solidFill>
              <a:srgbClr val="059669"/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1076960" y="628015"/>
            <a:ext cx="2722734" cy="285115"/>
            <a:chOff x="1143000" y="1428750"/>
            <a:chExt cx="2722734" cy="285115"/>
          </a:xfrm>
        </p:grpSpPr>
        <p:sp>
          <p:nvSpPr>
            <p:cNvPr id="18" name="Rectangle 18"/>
            <p:cNvSpPr/>
            <p:nvPr/>
          </p:nvSpPr>
          <p:spPr>
            <a:xfrm>
              <a:off x="1143000" y="1428750"/>
              <a:ext cx="38100" cy="2667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323340" y="1470025"/>
              <a:ext cx="25423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64748B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.NET 程序设计 · 课程期末项目</a:t>
              </a:r>
            </a:p>
          </p:txBody>
        </p:sp>
      </p:grpSp>
      <p:grpSp>
        <p:nvGrpSpPr>
          <p:cNvPr id="32" name="Group 19"/>
          <p:cNvGrpSpPr/>
          <p:nvPr/>
        </p:nvGrpSpPr>
        <p:grpSpPr>
          <a:xfrm>
            <a:off x="1060450" y="2048510"/>
            <a:ext cx="4407789" cy="2061845"/>
            <a:chOff x="1055370" y="2588895"/>
            <a:chExt cx="4407789" cy="2061845"/>
          </a:xfrm>
        </p:grpSpPr>
        <p:sp>
          <p:nvSpPr>
            <p:cNvPr id="33" name="TextBox 15"/>
            <p:cNvSpPr txBox="1"/>
            <p:nvPr/>
          </p:nvSpPr>
          <p:spPr>
            <a:xfrm>
              <a:off x="1055370" y="2588895"/>
              <a:ext cx="4407789" cy="1402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900" b="1" dirty="0">
                  <a:gradFill>
                    <a:gsLst>
                      <a:gs pos="50000">
                        <a:schemeClr val="accent1"/>
                      </a:gs>
                      <a:gs pos="0">
                        <a:schemeClr val="accent1">
                          <a:lumMod val="25000"/>
                          <a:lumOff val="75000"/>
                        </a:schemeClr>
                      </a:gs>
                      <a:gs pos="100000">
                        <a:schemeClr val="accent1">
                          <a:lumMod val="85000"/>
                        </a:schemeClr>
                      </a:gs>
                    </a:gsLst>
                    <a:lin ang="5400000" scaled="1"/>
                  </a:gra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谢谢聆听</a:t>
              </a:r>
            </a:p>
          </p:txBody>
        </p:sp>
        <p:sp>
          <p:nvSpPr>
            <p:cNvPr id="34" name="TextBox 16"/>
            <p:cNvSpPr txBox="1"/>
            <p:nvPr/>
          </p:nvSpPr>
          <p:spPr>
            <a:xfrm>
              <a:off x="1143000" y="3600450"/>
              <a:ext cx="3572637" cy="609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EA5E9"/>
                  </a:soli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敬请提问 · Q &amp; A</a:t>
              </a:r>
            </a:p>
          </p:txBody>
        </p:sp>
        <p:sp>
          <p:nvSpPr>
            <p:cNvPr id="35" name="Rectangle 17"/>
            <p:cNvSpPr/>
            <p:nvPr/>
          </p:nvSpPr>
          <p:spPr>
            <a:xfrm>
              <a:off x="1200150" y="4152900"/>
              <a:ext cx="1143000" cy="47625"/>
            </a:xfrm>
            <a:prstGeom prst="roundRect">
              <a:avLst>
                <a:gd name="adj" fmla="val 50000"/>
              </a:avLst>
            </a:prstGeom>
            <a:solidFill>
              <a:srgbClr val="34D399"/>
            </a:solidFill>
            <a:ln>
              <a:noFill/>
            </a:ln>
          </p:spPr>
        </p:sp>
        <p:sp>
          <p:nvSpPr>
            <p:cNvPr id="36" name="TextBox 18"/>
            <p:cNvSpPr txBox="1"/>
            <p:nvPr/>
          </p:nvSpPr>
          <p:spPr>
            <a:xfrm>
              <a:off x="1156970" y="4345940"/>
              <a:ext cx="314348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gradFill>
                    <a:gsLst>
                      <a:gs pos="50000">
                        <a:schemeClr val="tx1"/>
                      </a:gs>
                      <a:gs pos="0">
                        <a:schemeClr val="tx1">
                          <a:lumMod val="25000"/>
                          <a:lumOff val="75000"/>
                        </a:schemeClr>
                      </a:gs>
                      <a:gs pos="100000">
                        <a:schemeClr val="tx1">
                          <a:lumMod val="85000"/>
                        </a:schemeClr>
                      </a:gs>
                    </a:gsLst>
                    <a:lin ang="5400000" scaled="1"/>
                  </a:gra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旅序 · 多 Agent 旅游规划系统</a:t>
              </a:r>
            </a:p>
          </p:txBody>
        </p:sp>
      </p:grpSp>
      <p:grpSp>
        <p:nvGrpSpPr>
          <p:cNvPr id="37" name="Group 29"/>
          <p:cNvGrpSpPr/>
          <p:nvPr/>
        </p:nvGrpSpPr>
        <p:grpSpPr>
          <a:xfrm>
            <a:off x="1115060" y="5173980"/>
            <a:ext cx="6286500" cy="861060"/>
            <a:chOff x="1143000" y="5334000"/>
            <a:chExt cx="6286500" cy="861060"/>
          </a:xfrm>
        </p:grpSpPr>
        <p:sp>
          <p:nvSpPr>
            <p:cNvPr id="38" name="Line 20"/>
            <p:cNvSpPr/>
            <p:nvPr/>
          </p:nvSpPr>
          <p:spPr>
            <a:xfrm>
              <a:off x="1143000" y="5334000"/>
              <a:ext cx="6286500" cy="9525"/>
            </a:xfrm>
            <a:custGeom>
              <a:avLst/>
              <a:gdLst/>
              <a:ahLst/>
              <a:cxnLst/>
              <a:rect l="l" t="t" r="r" b="b"/>
              <a:pathLst>
                <a:path w="6286500" h="9525">
                  <a:moveTo>
                    <a:pt x="0" y="0"/>
                  </a:moveTo>
                  <a:lnTo>
                    <a:pt x="6286500" y="0"/>
                  </a:lnTo>
                </a:path>
              </a:pathLst>
            </a:custGeom>
            <a:noFill/>
            <a:ln w="14288">
              <a:solidFill>
                <a:srgbClr val="334155"/>
              </a:solidFill>
            </a:ln>
          </p:spPr>
        </p:sp>
        <p:grpSp>
          <p:nvGrpSpPr>
            <p:cNvPr id="39" name="Group 25"/>
            <p:cNvGrpSpPr/>
            <p:nvPr/>
          </p:nvGrpSpPr>
          <p:grpSpPr>
            <a:xfrm>
              <a:off x="1143000" y="5613797"/>
              <a:ext cx="209550" cy="183356"/>
              <a:chOff x="1143000" y="5613797"/>
              <a:chExt cx="209550" cy="183356"/>
            </a:xfrm>
          </p:grpSpPr>
          <p:sp>
            <p:nvSpPr>
              <p:cNvPr id="40" name="Freeform 21"/>
              <p:cNvSpPr/>
              <p:nvPr/>
            </p:nvSpPr>
            <p:spPr>
              <a:xfrm>
                <a:off x="1182291" y="5613797"/>
                <a:ext cx="65484" cy="65484"/>
              </a:xfrm>
              <a:custGeom>
                <a:avLst/>
                <a:gdLst/>
                <a:ahLst/>
                <a:cxnLst/>
                <a:rect l="l" t="t" r="r" b="b"/>
                <a:pathLst>
                  <a:path w="65484" h="65484">
                    <a:moveTo>
                      <a:pt x="65484" y="32742"/>
                    </a:moveTo>
                    <a:cubicBezTo>
                      <a:pt x="65484" y="50825"/>
                      <a:pt x="50825" y="65484"/>
                      <a:pt x="32742" y="65484"/>
                    </a:cubicBezTo>
                    <a:cubicBezTo>
                      <a:pt x="14659" y="65484"/>
                      <a:pt x="0" y="50825"/>
                      <a:pt x="0" y="32742"/>
                    </a:cubicBezTo>
                    <a:cubicBezTo>
                      <a:pt x="0" y="14659"/>
                      <a:pt x="14659" y="0"/>
                      <a:pt x="32742" y="0"/>
                    </a:cubicBezTo>
                    <a:cubicBezTo>
                      <a:pt x="50825" y="0"/>
                      <a:pt x="65484" y="14659"/>
                      <a:pt x="65484" y="32742"/>
                    </a:cubicBezTo>
                    <a:close/>
                  </a:path>
                </a:pathLst>
              </a:custGeom>
              <a:solidFill>
                <a:srgbClr val="0EA5E9"/>
              </a:solidFill>
              <a:ln>
                <a:noFill/>
              </a:ln>
            </p:spPr>
          </p:sp>
          <p:sp>
            <p:nvSpPr>
              <p:cNvPr id="41" name="Freeform 22"/>
              <p:cNvSpPr/>
              <p:nvPr/>
            </p:nvSpPr>
            <p:spPr>
              <a:xfrm>
                <a:off x="1143000" y="5705475"/>
                <a:ext cx="104775" cy="91678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91678">
                    <a:moveTo>
                      <a:pt x="39291" y="0"/>
                    </a:moveTo>
                    <a:cubicBezTo>
                      <a:pt x="17591" y="0"/>
                      <a:pt x="0" y="17591"/>
                      <a:pt x="0" y="39291"/>
                    </a:cubicBezTo>
                    <a:lnTo>
                      <a:pt x="0" y="91678"/>
                    </a:lnTo>
                    <a:lnTo>
                      <a:pt x="104775" y="91678"/>
                    </a:lnTo>
                    <a:lnTo>
                      <a:pt x="104775" y="0"/>
                    </a:lnTo>
                    <a:lnTo>
                      <a:pt x="39291" y="0"/>
                    </a:lnTo>
                    <a:close/>
                  </a:path>
                </a:pathLst>
              </a:custGeom>
              <a:solidFill>
                <a:srgbClr val="0EA5E9"/>
              </a:solidFill>
              <a:ln>
                <a:noFill/>
              </a:ln>
            </p:spPr>
          </p:sp>
          <p:sp>
            <p:nvSpPr>
              <p:cNvPr id="42" name="Freeform 23"/>
              <p:cNvSpPr/>
              <p:nvPr/>
            </p:nvSpPr>
            <p:spPr>
              <a:xfrm>
                <a:off x="1273969" y="5705475"/>
                <a:ext cx="78581" cy="91678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91678">
                    <a:moveTo>
                      <a:pt x="39291" y="0"/>
                    </a:moveTo>
                    <a:lnTo>
                      <a:pt x="0" y="0"/>
                    </a:lnTo>
                    <a:lnTo>
                      <a:pt x="0" y="91678"/>
                    </a:lnTo>
                    <a:lnTo>
                      <a:pt x="78581" y="91678"/>
                    </a:lnTo>
                    <a:lnTo>
                      <a:pt x="78581" y="39291"/>
                    </a:lnTo>
                    <a:cubicBezTo>
                      <a:pt x="78581" y="17591"/>
                      <a:pt x="60991" y="0"/>
                      <a:pt x="39291" y="0"/>
                    </a:cubicBezTo>
                    <a:close/>
                  </a:path>
                </a:pathLst>
              </a:custGeom>
              <a:solidFill>
                <a:srgbClr val="0EA5E9"/>
              </a:solidFill>
              <a:ln>
                <a:noFill/>
              </a:ln>
            </p:spPr>
          </p:sp>
          <p:sp>
            <p:nvSpPr>
              <p:cNvPr id="43" name="Freeform 24"/>
              <p:cNvSpPr/>
              <p:nvPr/>
            </p:nvSpPr>
            <p:spPr>
              <a:xfrm>
                <a:off x="1273969" y="5626894"/>
                <a:ext cx="52388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52388" h="52388">
                    <a:moveTo>
                      <a:pt x="26194" y="52388"/>
                    </a:moveTo>
                    <a:cubicBezTo>
                      <a:pt x="40661" y="52388"/>
                      <a:pt x="52388" y="40660"/>
                      <a:pt x="52388" y="26194"/>
                    </a:cubicBezTo>
                    <a:cubicBezTo>
                      <a:pt x="52388" y="11727"/>
                      <a:pt x="40661" y="0"/>
                      <a:pt x="26194" y="0"/>
                    </a:cubicBezTo>
                    <a:cubicBezTo>
                      <a:pt x="11727" y="0"/>
                      <a:pt x="0" y="11727"/>
                      <a:pt x="0" y="26194"/>
                    </a:cubicBezTo>
                    <a:cubicBezTo>
                      <a:pt x="0" y="40660"/>
                      <a:pt x="11727" y="52388"/>
                      <a:pt x="26194" y="52388"/>
                    </a:cubicBezTo>
                    <a:close/>
                  </a:path>
                </a:pathLst>
              </a:custGeom>
              <a:solidFill>
                <a:srgbClr val="0EA5E9"/>
              </a:solidFill>
              <a:ln>
                <a:noFill/>
              </a:ln>
            </p:spPr>
          </p:sp>
        </p:grpSp>
        <p:sp>
          <p:nvSpPr>
            <p:cNvPr id="44" name="TextBox 26"/>
            <p:cNvSpPr txBox="1"/>
            <p:nvPr/>
          </p:nvSpPr>
          <p:spPr>
            <a:xfrm>
              <a:off x="1432560" y="5616575"/>
              <a:ext cx="23877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gradFill>
                    <a:gsLst>
                      <a:gs pos="50000">
                        <a:schemeClr val="tx1"/>
                      </a:gs>
                      <a:gs pos="0">
                        <a:schemeClr val="tx1">
                          <a:lumMod val="25000"/>
                          <a:lumOff val="75000"/>
                        </a:schemeClr>
                      </a:gs>
                      <a:gs pos="100000">
                        <a:schemeClr val="tx1">
                          <a:lumMod val="85000"/>
                        </a:schemeClr>
                      </a:gs>
                    </a:gsLst>
                    <a:lin ang="5400000" scaled="1"/>
                  </a:gra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任泓臻 · 虞澍 · 黄彦炜 · 黄迪</a:t>
              </a:r>
            </a:p>
          </p:txBody>
        </p:sp>
        <p:sp>
          <p:nvSpPr>
            <p:cNvPr id="45" name="Freeform 27"/>
            <p:cNvSpPr/>
            <p:nvPr/>
          </p:nvSpPr>
          <p:spPr>
            <a:xfrm>
              <a:off x="1156097" y="5956697"/>
              <a:ext cx="183356" cy="183356"/>
            </a:xfrm>
            <a:custGeom>
              <a:avLst/>
              <a:gdLst/>
              <a:ahLst/>
              <a:cxnLst/>
              <a:rect l="l" t="t" r="r" b="b"/>
              <a:pathLst>
                <a:path w="183356" h="183356">
                  <a:moveTo>
                    <a:pt x="183356" y="0"/>
                  </a:moveTo>
                  <a:lnTo>
                    <a:pt x="0" y="0"/>
                  </a:lnTo>
                  <a:lnTo>
                    <a:pt x="0" y="183356"/>
                  </a:lnTo>
                  <a:lnTo>
                    <a:pt x="183356" y="183356"/>
                  </a:lnTo>
                  <a:lnTo>
                    <a:pt x="183356" y="0"/>
                  </a:lnTo>
                  <a:close/>
                  <a:moveTo>
                    <a:pt x="65484" y="52388"/>
                  </a:moveTo>
                  <a:lnTo>
                    <a:pt x="84006" y="70909"/>
                  </a:lnTo>
                  <a:lnTo>
                    <a:pt x="63237" y="91678"/>
                  </a:lnTo>
                  <a:lnTo>
                    <a:pt x="84006" y="112447"/>
                  </a:lnTo>
                  <a:lnTo>
                    <a:pt x="65484" y="130969"/>
                  </a:lnTo>
                  <a:lnTo>
                    <a:pt x="26194" y="91678"/>
                  </a:lnTo>
                  <a:lnTo>
                    <a:pt x="65484" y="52388"/>
                  </a:lnTo>
                  <a:close/>
                  <a:moveTo>
                    <a:pt x="117872" y="52388"/>
                  </a:moveTo>
                  <a:lnTo>
                    <a:pt x="99350" y="70909"/>
                  </a:lnTo>
                  <a:lnTo>
                    <a:pt x="120119" y="91678"/>
                  </a:lnTo>
                  <a:lnTo>
                    <a:pt x="99350" y="112447"/>
                  </a:lnTo>
                  <a:lnTo>
                    <a:pt x="117872" y="130969"/>
                  </a:lnTo>
                  <a:lnTo>
                    <a:pt x="157162" y="91678"/>
                  </a:lnTo>
                  <a:lnTo>
                    <a:pt x="117872" y="52388"/>
                  </a:lnTo>
                  <a:close/>
                </a:path>
              </a:pathLst>
            </a:custGeom>
            <a:solidFill>
              <a:srgbClr val="34D399"/>
            </a:solidFill>
            <a:ln>
              <a:noFill/>
            </a:ln>
          </p:spPr>
        </p:sp>
        <p:sp>
          <p:nvSpPr>
            <p:cNvPr id="46" name="TextBox 28"/>
            <p:cNvSpPr txBox="1"/>
            <p:nvPr/>
          </p:nvSpPr>
          <p:spPr>
            <a:xfrm>
              <a:off x="1432560" y="5951220"/>
              <a:ext cx="463105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gradFill>
                    <a:gsLst>
                      <a:gs pos="50000">
                        <a:schemeClr val="tx1"/>
                      </a:gs>
                      <a:gs pos="0">
                        <a:schemeClr val="tx1">
                          <a:lumMod val="25000"/>
                          <a:lumOff val="75000"/>
                        </a:schemeClr>
                      </a:gs>
                      <a:gs pos="100000">
                        <a:schemeClr val="tx1">
                          <a:lumMod val="85000"/>
                        </a:schemeClr>
                      </a:gs>
                    </a:gsLst>
                    <a:lin ang="5400000" scaled="1"/>
                  </a:gradFill>
                  <a:latin typeface="Segoe UI" panose="020B0502040204020203"/>
                  <a:ea typeface="微软雅黑" panose="020B0503020204020204" charset="-122"/>
                  <a:cs typeface="Segoe UI" panose="020B0502040204020203"/>
                </a:rPr>
                <a:t>基于 .NET 10 · DeepSeek 在线 / 离线双模式 · MCP Server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2" grpId="0"/>
      <p:bldP spid="3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4211</Words>
  <Application>Microsoft Macintosh PowerPoint</Application>
  <PresentationFormat>宽屏</PresentationFormat>
  <Paragraphs>494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泓臻 任</cp:lastModifiedBy>
  <cp:revision>21</cp:revision>
  <dcterms:created xsi:type="dcterms:W3CDTF">2013-01-27T09:14:00Z</dcterms:created>
  <dcterms:modified xsi:type="dcterms:W3CDTF">2026-06-20T06:15:43Z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FD49AF5094044B76B8F02AB3B7F6653F_12</vt:lpwstr>
  </property>
  <property fmtid="{D5CDD505-2E9C-101B-9397-08002B2CF9AE}" pid="3" name="KSOProductBuildVer">
    <vt:lpwstr>2052-12.1.0.21915</vt:lpwstr>
  </property>
</Properties>
</file>